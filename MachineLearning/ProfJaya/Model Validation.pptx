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9"/>
  </p:notesMasterIdLst>
  <p:sldIdLst>
    <p:sldId id="258" r:id="rId2"/>
    <p:sldId id="259" r:id="rId3"/>
    <p:sldId id="314" r:id="rId4"/>
    <p:sldId id="315" r:id="rId5"/>
    <p:sldId id="292" r:id="rId6"/>
    <p:sldId id="293" r:id="rId7"/>
    <p:sldId id="322" r:id="rId8"/>
    <p:sldId id="263" r:id="rId9"/>
    <p:sldId id="294" r:id="rId10"/>
    <p:sldId id="261" r:id="rId11"/>
    <p:sldId id="262" r:id="rId12"/>
    <p:sldId id="264" r:id="rId13"/>
    <p:sldId id="266" r:id="rId14"/>
    <p:sldId id="267" r:id="rId15"/>
    <p:sldId id="268" r:id="rId16"/>
    <p:sldId id="269" r:id="rId17"/>
    <p:sldId id="270" r:id="rId18"/>
    <p:sldId id="271" r:id="rId19"/>
    <p:sldId id="272" r:id="rId20"/>
    <p:sldId id="273" r:id="rId21"/>
    <p:sldId id="274" r:id="rId22"/>
    <p:sldId id="323" r:id="rId23"/>
    <p:sldId id="317" r:id="rId24"/>
    <p:sldId id="318" r:id="rId25"/>
    <p:sldId id="313" r:id="rId26"/>
    <p:sldId id="320" r:id="rId27"/>
    <p:sldId id="321" r:id="rId28"/>
  </p:sldIdLst>
  <p:sldSz cx="9144000" cy="5143500" type="screen16x9"/>
  <p:notesSz cx="6858000" cy="9144000"/>
  <p:embeddedFontLst>
    <p:embeddedFont>
      <p:font typeface="Calibri" panose="020F0502020204030204" pitchFamily="34" charset="0"/>
      <p:regular r:id="rId30"/>
      <p:bold r:id="rId31"/>
      <p:italic r:id="rId32"/>
      <p:boldItalic r:id="rId33"/>
    </p:embeddedFont>
    <p:embeddedFont>
      <p:font typeface="Consolas" panose="020B0609020204030204" pitchFamily="49" charset="0"/>
      <p:regular r:id="rId34"/>
      <p:bold r:id="rId35"/>
      <p:italic r:id="rId36"/>
      <p:boldItalic r:id="rId37"/>
    </p:embeddedFont>
    <p:embeddedFont>
      <p:font typeface="Montserrat" panose="00000500000000000000" pitchFamily="2" charset="0"/>
      <p:regular r:id="rId38"/>
      <p:bold r:id="rId39"/>
      <p:italic r:id="rId40"/>
      <p:boldItalic r:id="rId41"/>
    </p:embeddedFont>
    <p:embeddedFont>
      <p:font typeface="Montserrat Medium" panose="00000600000000000000" pitchFamily="2" charset="0"/>
      <p:regular r:id="rId42"/>
      <p:bold r:id="rId43"/>
      <p:italic r:id="rId44"/>
      <p:boldItalic r:id="rId45"/>
    </p:embeddedFont>
    <p:embeddedFont>
      <p:font typeface="Nunito" pitchFamily="2" charset="0"/>
      <p:regular r:id="rId46"/>
      <p:bold r:id="rId47"/>
      <p:italic r:id="rId48"/>
      <p:boldItalic r:id="rId49"/>
    </p:embeddedFont>
    <p:embeddedFont>
      <p:font typeface="Tahoma" panose="020B0604030504040204" pitchFamily="34" charset="0"/>
      <p:regular r:id="rId50"/>
      <p:bold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44FB2B-47BC-4725-A015-C765246035DD}">
  <a:tblStyle styleId="{3944FB2B-47BC-4725-A015-C765246035D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font" Target="fonts/font2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361ce668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361ce668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9987ee679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9987ee679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480dfe5ec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480dfe5ec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480dfe5ec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a480dfe5ec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480dfe5ec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a480dfe5ec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987ee6796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9987ee6796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480dfe5ec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a480dfe5ec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a480dfe5ec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a480dfe5ec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480dfe5ec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a480dfe5ec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480dfe5ec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a480dfe5ec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a480dfe5ec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a480dfe5ec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a480dfe5ec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a480dfe5ec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a480dfe5ec_0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a480dfe5ec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a480dfe5ec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a480dfe5ec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480dfe5ec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480dfe5ec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79:notes"/>
          <p:cNvSpPr>
            <a:spLocks noGrp="1" noRot="1" noChangeAspect="1"/>
          </p:cNvSpPr>
          <p:nvPr>
            <p:ph type="sldImg" idx="2"/>
          </p:nvPr>
        </p:nvSpPr>
        <p:spPr>
          <a:xfrm>
            <a:off x="2855913" y="385763"/>
            <a:ext cx="3432175"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84725" y="189911"/>
            <a:ext cx="8374500" cy="360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200" b="1" i="0">
                <a:solidFill>
                  <a:srgbClr val="0D38A9"/>
                </a:solidFill>
                <a:latin typeface="Verdana"/>
                <a:ea typeface="Verdana"/>
                <a:cs typeface="Verdana"/>
                <a:sym typeface="Verdan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ftr" idx="11"/>
          </p:nvPr>
        </p:nvSpPr>
        <p:spPr>
          <a:xfrm>
            <a:off x="2424266" y="4986147"/>
            <a:ext cx="4311000" cy="146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700" b="1" i="0">
                <a:solidFill>
                  <a:srgbClr val="43434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55"/>
        <p:cNvGrpSpPr/>
        <p:nvPr/>
      </p:nvGrpSpPr>
      <p:grpSpPr>
        <a:xfrm>
          <a:off x="0" y="0"/>
          <a:ext cx="0" cy="0"/>
          <a:chOff x="0" y="0"/>
          <a:chExt cx="0" cy="0"/>
        </a:xfrm>
      </p:grpSpPr>
      <p:sp>
        <p:nvSpPr>
          <p:cNvPr id="56" name="Google Shape;56;p14"/>
          <p:cNvSpPr txBox="1">
            <a:spLocks noGrp="1"/>
          </p:cNvSpPr>
          <p:nvPr>
            <p:ph type="ftr" idx="11"/>
          </p:nvPr>
        </p:nvSpPr>
        <p:spPr>
          <a:xfrm>
            <a:off x="2424263" y="4993933"/>
            <a:ext cx="4301400" cy="125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700" b="1" i="0">
                <a:solidFill>
                  <a:srgbClr val="42424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4"/>
          <p:cNvSpPr txBox="1">
            <a:spLocks noGrp="1"/>
          </p:cNvSpPr>
          <p:nvPr>
            <p:ph type="sldNum" idx="12"/>
          </p:nvPr>
        </p:nvSpPr>
        <p:spPr>
          <a:xfrm>
            <a:off x="8915975" y="4985484"/>
            <a:ext cx="199500" cy="1230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1pPr>
            <a:lvl2pPr marL="38100" marR="0" lvl="1"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2pPr>
            <a:lvl3pPr marL="38100" marR="0" lvl="2"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3pPr>
            <a:lvl4pPr marL="38100" marR="0" lvl="3"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4pPr>
            <a:lvl5pPr marL="38100" marR="0" lvl="4"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5pPr>
            <a:lvl6pPr marL="38100" marR="0" lvl="5"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6pPr>
            <a:lvl7pPr marL="38100" marR="0" lvl="6"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7pPr>
            <a:lvl8pPr marL="38100" marR="0" lvl="7"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8pPr>
            <a:lvl9pPr marL="38100" marR="0" lvl="8" indent="0" algn="l">
              <a:lnSpc>
                <a:spcPct val="100000"/>
              </a:lnSpc>
              <a:spcBef>
                <a:spcPts val="0"/>
              </a:spcBef>
              <a:spcAft>
                <a:spcPts val="0"/>
              </a:spcAft>
              <a:buClr>
                <a:srgbClr val="000000"/>
              </a:buClr>
              <a:buSzPts val="800"/>
              <a:buFont typeface="Arial"/>
              <a:buNone/>
              <a:defRPr sz="800" b="1" i="0" u="none" strike="noStrike" cap="none">
                <a:solidFill>
                  <a:srgbClr val="424242"/>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1" name="Google Shape;61;p15"/>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62" name="Google Shape;62;p15"/>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3" name="Google Shape;63;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65"/>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425907" y="1438226"/>
            <a:ext cx="8292300" cy="1488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800" b="1"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7"/>
          <p:cNvSpPr txBox="1">
            <a:spLocks noGrp="1"/>
          </p:cNvSpPr>
          <p:nvPr>
            <p:ph type="subTitle" idx="1"/>
          </p:nvPr>
        </p:nvSpPr>
        <p:spPr>
          <a:xfrm>
            <a:off x="897127" y="3862026"/>
            <a:ext cx="7349700" cy="786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7"/>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6583680" y="4783455"/>
            <a:ext cx="21030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p:cSld name="OBJECT_1">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2164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3200"/>
              <a:buNone/>
              <a:defRPr i="0">
                <a:solidFill>
                  <a:schemeClr val="dk1"/>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74" name="Google Shape;74;p18"/>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30200" algn="l">
              <a:lnSpc>
                <a:spcPct val="115000"/>
              </a:lnSpc>
              <a:spcBef>
                <a:spcPts val="0"/>
              </a:spcBef>
              <a:spcAft>
                <a:spcPts val="0"/>
              </a:spcAft>
              <a:buSzPts val="1600"/>
              <a:buChar char="●"/>
              <a:defRPr sz="1598" b="0" i="0">
                <a:solidFill>
                  <a:schemeClr val="dk1"/>
                </a:solidFill>
                <a:latin typeface="Tahoma"/>
                <a:ea typeface="Tahoma"/>
                <a:cs typeface="Tahoma"/>
                <a:sym typeface="Tahoma"/>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5" name="Google Shape;75;p18"/>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18"/>
          <p:cNvCxnSpPr/>
          <p:nvPr/>
        </p:nvCxnSpPr>
        <p:spPr>
          <a:xfrm rot="10800000" flipH="1">
            <a:off x="359850" y="914275"/>
            <a:ext cx="8357400" cy="9600"/>
          </a:xfrm>
          <a:prstGeom prst="straightConnector1">
            <a:avLst/>
          </a:prstGeom>
          <a:noFill/>
          <a:ln w="28575" cap="flat" cmpd="sng">
            <a:solidFill>
              <a:srgbClr val="095A82"/>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2164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3200"/>
              <a:buNone/>
              <a:defRPr i="0">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9" name="Google Shape;79;p19"/>
          <p:cNvSpPr txBox="1">
            <a:spLocks noGrp="1"/>
          </p:cNvSpPr>
          <p:nvPr>
            <p:ph type="body" idx="1"/>
          </p:nvPr>
        </p:nvSpPr>
        <p:spPr>
          <a:xfrm>
            <a:off x="628904" y="1390329"/>
            <a:ext cx="3835500" cy="282900"/>
          </a:xfrm>
          <a:prstGeom prst="rect">
            <a:avLst/>
          </a:prstGeom>
          <a:noFill/>
          <a:ln>
            <a:noFill/>
          </a:ln>
        </p:spPr>
        <p:txBody>
          <a:bodyPr spcFirstLastPara="1" wrap="square" lIns="0" tIns="0" rIns="0" bIns="0" anchor="t" anchorCtr="0">
            <a:spAutoFit/>
          </a:bodyPr>
          <a:lstStyle>
            <a:lvl1pPr marL="457200" lvl="0" indent="-330200" algn="l">
              <a:lnSpc>
                <a:spcPct val="115000"/>
              </a:lnSpc>
              <a:spcBef>
                <a:spcPts val="0"/>
              </a:spcBef>
              <a:spcAft>
                <a:spcPts val="0"/>
              </a:spcAft>
              <a:buSzPts val="1600"/>
              <a:buChar char="●"/>
              <a:defRPr sz="1598" b="0" i="0">
                <a:solidFill>
                  <a:schemeClr val="dk1"/>
                </a:solidFill>
                <a:latin typeface="Tahoma"/>
                <a:ea typeface="Tahoma"/>
                <a:cs typeface="Tahoma"/>
                <a:sym typeface="Tahoma"/>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80" name="Google Shape;80;p19"/>
          <p:cNvSpPr txBox="1">
            <a:spLocks noGrp="1"/>
          </p:cNvSpPr>
          <p:nvPr>
            <p:ph type="body" idx="2"/>
          </p:nvPr>
        </p:nvSpPr>
        <p:spPr>
          <a:xfrm>
            <a:off x="4709160" y="1183005"/>
            <a:ext cx="3977700" cy="283200"/>
          </a:xfrm>
          <a:prstGeom prst="rect">
            <a:avLst/>
          </a:prstGeom>
          <a:noFill/>
          <a:ln>
            <a:noFill/>
          </a:ln>
        </p:spPr>
        <p:txBody>
          <a:bodyPr spcFirstLastPara="1" wrap="square" lIns="0" tIns="0" rIns="0" bIns="0" anchor="t" anchorCtr="0">
            <a:sp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81" name="Google Shape;81;p19"/>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9"/>
          <p:cNvCxnSpPr/>
          <p:nvPr/>
        </p:nvCxnSpPr>
        <p:spPr>
          <a:xfrm rot="10800000" flipH="1">
            <a:off x="359850" y="914275"/>
            <a:ext cx="8357400" cy="9600"/>
          </a:xfrm>
          <a:prstGeom prst="straightConnector1">
            <a:avLst/>
          </a:prstGeom>
          <a:noFill/>
          <a:ln w="28575" cap="flat" cmpd="sng">
            <a:solidFill>
              <a:srgbClr val="095A82"/>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 Content">
  <p:cSld name="TITLE_AND_BODY_1_1">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422025" y="4450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5" name="Google Shape;85;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20"/>
          <p:cNvSpPr txBox="1">
            <a:spLocks noGrp="1"/>
          </p:cNvSpPr>
          <p:nvPr>
            <p:ph type="subTitle" idx="1"/>
          </p:nvPr>
        </p:nvSpPr>
        <p:spPr>
          <a:xfrm>
            <a:off x="422025" y="9749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2">
  <p:cSld name="OBJECT_2">
    <p:spTree>
      <p:nvGrpSpPr>
        <p:cNvPr id="1" name="Shape 87"/>
        <p:cNvGrpSpPr/>
        <p:nvPr/>
      </p:nvGrpSpPr>
      <p:grpSpPr>
        <a:xfrm>
          <a:off x="0" y="0"/>
          <a:ext cx="0" cy="0"/>
          <a:chOff x="0" y="0"/>
          <a:chExt cx="0" cy="0"/>
        </a:xfrm>
      </p:grpSpPr>
      <p:sp>
        <p:nvSpPr>
          <p:cNvPr id="88" name="Google Shape;88;p21"/>
          <p:cNvSpPr txBox="1">
            <a:spLocks noGrp="1"/>
          </p:cNvSpPr>
          <p:nvPr>
            <p:ph type="title"/>
          </p:nvPr>
        </p:nvSpPr>
        <p:spPr>
          <a:xfrm>
            <a:off x="311700" y="2164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3200"/>
              <a:buNone/>
              <a:defRPr i="0">
                <a:solidFill>
                  <a:schemeClr val="dk1"/>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89" name="Google Shape;89;p21"/>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30200" algn="l">
              <a:lnSpc>
                <a:spcPct val="115000"/>
              </a:lnSpc>
              <a:spcBef>
                <a:spcPts val="0"/>
              </a:spcBef>
              <a:spcAft>
                <a:spcPts val="0"/>
              </a:spcAft>
              <a:buSzPts val="1600"/>
              <a:buChar char="●"/>
              <a:defRPr sz="1598" b="0" i="0">
                <a:solidFill>
                  <a:schemeClr val="dk1"/>
                </a:solidFill>
                <a:latin typeface="Tahoma"/>
                <a:ea typeface="Tahoma"/>
                <a:cs typeface="Tahoma"/>
                <a:sym typeface="Tahoma"/>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90" name="Google Shape;90;p21"/>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91" name="Google Shape;91;p21"/>
          <p:cNvCxnSpPr/>
          <p:nvPr/>
        </p:nvCxnSpPr>
        <p:spPr>
          <a:xfrm rot="10800000" flipH="1">
            <a:off x="359850" y="914275"/>
            <a:ext cx="8357400" cy="9600"/>
          </a:xfrm>
          <a:prstGeom prst="straightConnector1">
            <a:avLst/>
          </a:prstGeom>
          <a:noFill/>
          <a:ln w="28575" cap="flat" cmpd="sng">
            <a:solidFill>
              <a:srgbClr val="095A82"/>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 Content 1">
  <p:cSld name="TITLE_AND_BODY_1_2">
    <p:spTree>
      <p:nvGrpSpPr>
        <p:cNvPr id="1" name="Shape 92"/>
        <p:cNvGrpSpPr/>
        <p:nvPr/>
      </p:nvGrpSpPr>
      <p:grpSpPr>
        <a:xfrm>
          <a:off x="0" y="0"/>
          <a:ext cx="0" cy="0"/>
          <a:chOff x="0" y="0"/>
          <a:chExt cx="0" cy="0"/>
        </a:xfrm>
      </p:grpSpPr>
      <p:sp>
        <p:nvSpPr>
          <p:cNvPr id="93" name="Google Shape;93;p22"/>
          <p:cNvSpPr txBox="1">
            <a:spLocks noGrp="1"/>
          </p:cNvSpPr>
          <p:nvPr>
            <p:ph type="title"/>
          </p:nvPr>
        </p:nvSpPr>
        <p:spPr>
          <a:xfrm>
            <a:off x="422025" y="4450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4" name="Google Shape;94;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5" name="Google Shape;95;p22"/>
          <p:cNvSpPr txBox="1">
            <a:spLocks noGrp="1"/>
          </p:cNvSpPr>
          <p:nvPr>
            <p:ph type="subTitle" idx="1"/>
          </p:nvPr>
        </p:nvSpPr>
        <p:spPr>
          <a:xfrm>
            <a:off x="422025" y="9749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96" name="Google Shape;96;p22"/>
          <p:cNvSpPr txBox="1">
            <a:spLocks noGrp="1"/>
          </p:cNvSpPr>
          <p:nvPr>
            <p:ph type="body" idx="2"/>
          </p:nvPr>
        </p:nvSpPr>
        <p:spPr>
          <a:xfrm>
            <a:off x="422025" y="1571700"/>
            <a:ext cx="7332900" cy="29400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Y Slide">
  <p:cSld name="TITLE_ONLY_2">
    <p:spTree>
      <p:nvGrpSpPr>
        <p:cNvPr id="1" name="Shape 97"/>
        <p:cNvGrpSpPr/>
        <p:nvPr/>
      </p:nvGrpSpPr>
      <p:grpSpPr>
        <a:xfrm>
          <a:off x="0" y="0"/>
          <a:ext cx="0" cy="0"/>
          <a:chOff x="0" y="0"/>
          <a:chExt cx="0" cy="0"/>
        </a:xfrm>
      </p:grpSpPr>
      <p:sp>
        <p:nvSpPr>
          <p:cNvPr id="98" name="Google Shape;98;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99" name="Google Shape;99;p23"/>
          <p:cNvPicPr preferRelativeResize="0"/>
          <p:nvPr/>
        </p:nvPicPr>
        <p:blipFill rotWithShape="1">
          <a:blip r:embed="rId2">
            <a:alphaModFix/>
          </a:blip>
          <a:srcRect l="18270" t="18234" r="27370" b="23340"/>
          <a:stretch/>
        </p:blipFill>
        <p:spPr>
          <a:xfrm>
            <a:off x="422025" y="300050"/>
            <a:ext cx="1067350" cy="674876"/>
          </a:xfrm>
          <a:prstGeom prst="rect">
            <a:avLst/>
          </a:prstGeom>
          <a:noFill/>
          <a:ln>
            <a:noFill/>
          </a:ln>
        </p:spPr>
      </p:pic>
      <p:sp>
        <p:nvSpPr>
          <p:cNvPr id="100" name="Google Shape;100;p23"/>
          <p:cNvSpPr txBox="1">
            <a:spLocks noGrp="1"/>
          </p:cNvSpPr>
          <p:nvPr>
            <p:ph type="subTitle" idx="1"/>
          </p:nvPr>
        </p:nvSpPr>
        <p:spPr>
          <a:xfrm>
            <a:off x="422025" y="9749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101" name="Google Shape;101;p23"/>
          <p:cNvSpPr txBox="1">
            <a:spLocks noGrp="1"/>
          </p:cNvSpPr>
          <p:nvPr>
            <p:ph type="body" idx="2"/>
          </p:nvPr>
        </p:nvSpPr>
        <p:spPr>
          <a:xfrm>
            <a:off x="422025" y="1571700"/>
            <a:ext cx="7332900" cy="29400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lide - Content 2 columns">
  <p:cSld name="TITLE_AND_TWO_COLUMNS_1">
    <p:spTree>
      <p:nvGrpSpPr>
        <p:cNvPr id="1" name="Shape 102"/>
        <p:cNvGrpSpPr/>
        <p:nvPr/>
      </p:nvGrpSpPr>
      <p:grpSpPr>
        <a:xfrm>
          <a:off x="0" y="0"/>
          <a:ext cx="0" cy="0"/>
          <a:chOff x="0" y="0"/>
          <a:chExt cx="0" cy="0"/>
        </a:xfrm>
      </p:grpSpPr>
      <p:sp>
        <p:nvSpPr>
          <p:cNvPr id="103" name="Google Shape;103;p24"/>
          <p:cNvSpPr txBox="1">
            <a:spLocks noGrp="1"/>
          </p:cNvSpPr>
          <p:nvPr>
            <p:ph type="body" idx="1"/>
          </p:nvPr>
        </p:nvSpPr>
        <p:spPr>
          <a:xfrm>
            <a:off x="4934975" y="1571700"/>
            <a:ext cx="3999900" cy="3416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04" name="Google Shape;10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4"/>
          <p:cNvSpPr txBox="1">
            <a:spLocks noGrp="1"/>
          </p:cNvSpPr>
          <p:nvPr>
            <p:ph type="title"/>
          </p:nvPr>
        </p:nvSpPr>
        <p:spPr>
          <a:xfrm>
            <a:off x="422025" y="4450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6" name="Google Shape;106;p24"/>
          <p:cNvSpPr txBox="1">
            <a:spLocks noGrp="1"/>
          </p:cNvSpPr>
          <p:nvPr>
            <p:ph type="subTitle" idx="2"/>
          </p:nvPr>
        </p:nvSpPr>
        <p:spPr>
          <a:xfrm>
            <a:off x="422025" y="9749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107" name="Google Shape;107;p24"/>
          <p:cNvSpPr txBox="1">
            <a:spLocks noGrp="1"/>
          </p:cNvSpPr>
          <p:nvPr>
            <p:ph type="body" idx="3"/>
          </p:nvPr>
        </p:nvSpPr>
        <p:spPr>
          <a:xfrm>
            <a:off x="422025" y="1571700"/>
            <a:ext cx="3999900" cy="29400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 Content 2">
  <p:cSld name="TITLE_AND_BODY_1_3">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a:off x="422025" y="4450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5"/>
          <p:cNvSpPr txBox="1">
            <a:spLocks noGrp="1"/>
          </p:cNvSpPr>
          <p:nvPr>
            <p:ph type="subTitle" idx="1"/>
          </p:nvPr>
        </p:nvSpPr>
        <p:spPr>
          <a:xfrm>
            <a:off x="422025" y="9749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112" name="Google Shape;112;p25"/>
          <p:cNvSpPr txBox="1">
            <a:spLocks noGrp="1"/>
          </p:cNvSpPr>
          <p:nvPr>
            <p:ph type="body" idx="2"/>
          </p:nvPr>
        </p:nvSpPr>
        <p:spPr>
          <a:xfrm>
            <a:off x="422025" y="1571700"/>
            <a:ext cx="7332900" cy="29400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lease Note Slide">
  <p:cSld name="TITLE_ONLY_1">
    <p:spTree>
      <p:nvGrpSpPr>
        <p:cNvPr id="1" name="Shape 113"/>
        <p:cNvGrpSpPr/>
        <p:nvPr/>
      </p:nvGrpSpPr>
      <p:grpSpPr>
        <a:xfrm>
          <a:off x="0" y="0"/>
          <a:ext cx="0" cy="0"/>
          <a:chOff x="0" y="0"/>
          <a:chExt cx="0" cy="0"/>
        </a:xfrm>
      </p:grpSpPr>
      <p:sp>
        <p:nvSpPr>
          <p:cNvPr id="114" name="Google Shape;11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26"/>
          <p:cNvPicPr preferRelativeResize="0"/>
          <p:nvPr/>
        </p:nvPicPr>
        <p:blipFill rotWithShape="1">
          <a:blip r:embed="rId2">
            <a:alphaModFix/>
          </a:blip>
          <a:srcRect l="11595" t="4095" r="10686" b="4688"/>
          <a:stretch/>
        </p:blipFill>
        <p:spPr>
          <a:xfrm>
            <a:off x="422025" y="162950"/>
            <a:ext cx="944050" cy="811975"/>
          </a:xfrm>
          <a:prstGeom prst="rect">
            <a:avLst/>
          </a:prstGeom>
          <a:noFill/>
          <a:ln>
            <a:noFill/>
          </a:ln>
        </p:spPr>
      </p:pic>
      <p:sp>
        <p:nvSpPr>
          <p:cNvPr id="116" name="Google Shape;116;p26"/>
          <p:cNvSpPr txBox="1">
            <a:spLocks noGrp="1"/>
          </p:cNvSpPr>
          <p:nvPr>
            <p:ph type="subTitle" idx="1"/>
          </p:nvPr>
        </p:nvSpPr>
        <p:spPr>
          <a:xfrm>
            <a:off x="422025" y="974925"/>
            <a:ext cx="5341200" cy="472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117" name="Google Shape;117;p26"/>
          <p:cNvSpPr txBox="1">
            <a:spLocks noGrp="1"/>
          </p:cNvSpPr>
          <p:nvPr>
            <p:ph type="body" idx="2"/>
          </p:nvPr>
        </p:nvSpPr>
        <p:spPr>
          <a:xfrm>
            <a:off x="422025" y="1571700"/>
            <a:ext cx="7332900" cy="29400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3">
  <p:cSld name="OBJECT_3">
    <p:spTree>
      <p:nvGrpSpPr>
        <p:cNvPr id="1" name="Shape 118"/>
        <p:cNvGrpSpPr/>
        <p:nvPr/>
      </p:nvGrpSpPr>
      <p:grpSpPr>
        <a:xfrm>
          <a:off x="0" y="0"/>
          <a:ext cx="0" cy="0"/>
          <a:chOff x="0" y="0"/>
          <a:chExt cx="0" cy="0"/>
        </a:xfrm>
      </p:grpSpPr>
      <p:sp>
        <p:nvSpPr>
          <p:cNvPr id="119" name="Google Shape;119;p2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0" name="Google Shape;120;p27"/>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121" name="Google Shape;121;p2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0"/>
          <p:cNvSpPr/>
          <p:nvPr/>
        </p:nvSpPr>
        <p:spPr>
          <a:xfrm>
            <a:off x="474450" y="188249"/>
            <a:ext cx="8195100" cy="1419300"/>
          </a:xfrm>
          <a:prstGeom prst="roundRect">
            <a:avLst>
              <a:gd name="adj" fmla="val 0"/>
            </a:avLst>
          </a:prstGeom>
          <a:solidFill>
            <a:srgbClr val="0F3F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3300" b="1" dirty="0">
                <a:solidFill>
                  <a:srgbClr val="FFFFFF"/>
                </a:solidFill>
                <a:latin typeface="Montserrat"/>
                <a:ea typeface="Montserrat"/>
                <a:cs typeface="Montserrat"/>
                <a:sym typeface="Montserrat"/>
              </a:rPr>
              <a:t>Model Validation</a:t>
            </a:r>
            <a:endParaRPr sz="3300" b="1" dirty="0">
              <a:solidFill>
                <a:srgbClr val="FFFFFF"/>
              </a:solidFill>
              <a:latin typeface="Montserrat"/>
              <a:ea typeface="Montserrat"/>
              <a:cs typeface="Montserrat"/>
              <a:sym typeface="Montserrat"/>
            </a:endParaRPr>
          </a:p>
        </p:txBody>
      </p:sp>
      <p:sp>
        <p:nvSpPr>
          <p:cNvPr id="140" name="Google Shape;14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pic>
        <p:nvPicPr>
          <p:cNvPr id="3" name="Picture 2">
            <a:extLst>
              <a:ext uri="{FF2B5EF4-FFF2-40B4-BE49-F238E27FC236}">
                <a16:creationId xmlns:a16="http://schemas.microsoft.com/office/drawing/2014/main" id="{18CE2D8B-CE1F-4590-8311-28761B9DEF19}"/>
              </a:ext>
            </a:extLst>
          </p:cNvPr>
          <p:cNvPicPr>
            <a:picLocks noChangeAspect="1"/>
          </p:cNvPicPr>
          <p:nvPr/>
        </p:nvPicPr>
        <p:blipFill>
          <a:blip r:embed="rId3"/>
          <a:stretch>
            <a:fillRect/>
          </a:stretch>
        </p:blipFill>
        <p:spPr>
          <a:xfrm>
            <a:off x="1532054" y="1813495"/>
            <a:ext cx="5579477" cy="26437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1"/>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dirty="0">
                <a:solidFill>
                  <a:srgbClr val="0F3FA8"/>
                </a:solidFill>
                <a:latin typeface="Montserrat"/>
                <a:ea typeface="Montserrat"/>
                <a:cs typeface="Montserrat"/>
                <a:sym typeface="Montserrat"/>
              </a:rPr>
              <a:t>Model Validation</a:t>
            </a:r>
            <a:endParaRPr sz="2100" b="1" dirty="0">
              <a:solidFill>
                <a:srgbClr val="0F3FA8"/>
              </a:solidFill>
              <a:latin typeface="Montserrat"/>
              <a:ea typeface="Montserrat"/>
              <a:cs typeface="Montserrat"/>
              <a:sym typeface="Montserrat"/>
            </a:endParaRPr>
          </a:p>
        </p:txBody>
      </p:sp>
      <p:sp>
        <p:nvSpPr>
          <p:cNvPr id="146" name="Google Shape;14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
        <p:nvSpPr>
          <p:cNvPr id="147" name="Google Shape;147;p31"/>
          <p:cNvSpPr txBox="1"/>
          <p:nvPr/>
        </p:nvSpPr>
        <p:spPr>
          <a:xfrm>
            <a:off x="402281" y="1099709"/>
            <a:ext cx="8232600" cy="461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Montserrat"/>
              <a:buChar char="●"/>
            </a:pPr>
            <a:endParaRPr lang="en" dirty="0">
              <a:solidFill>
                <a:schemeClr val="dk1"/>
              </a:solidFill>
              <a:latin typeface="Times New Roman" panose="02020603050405020304" pitchFamily="18" charset="0"/>
              <a:ea typeface="Montserrat"/>
              <a:cs typeface="Times New Roman" panose="02020603050405020304" pitchFamily="18" charset="0"/>
              <a:sym typeface="Montserrat"/>
            </a:endParaRPr>
          </a:p>
          <a:p>
            <a:pPr marL="457200" lvl="0" indent="-317500" algn="l" rtl="0">
              <a:spcBef>
                <a:spcPts val="0"/>
              </a:spcBef>
              <a:spcAft>
                <a:spcPts val="0"/>
              </a:spcAft>
              <a:buClr>
                <a:schemeClr val="dk1"/>
              </a:buClr>
              <a:buSzPts val="1400"/>
              <a:buFont typeface="Montserrat"/>
              <a:buChar char="●"/>
            </a:pPr>
            <a:r>
              <a:rPr lang="en-US" sz="1400" b="1" dirty="0">
                <a:latin typeface="Times New Roman" panose="02020603050405020304" pitchFamily="18" charset="0"/>
                <a:cs typeface="Times New Roman" panose="02020603050405020304" pitchFamily="18" charset="0"/>
              </a:rPr>
              <a:t>Model validation</a:t>
            </a:r>
            <a:r>
              <a:rPr lang="en-US" sz="1400" dirty="0">
                <a:latin typeface="Times New Roman" panose="02020603050405020304" pitchFamily="18" charset="0"/>
                <a:cs typeface="Times New Roman" panose="02020603050405020304" pitchFamily="18" charset="0"/>
              </a:rPr>
              <a:t> is the process of </a:t>
            </a:r>
            <a:r>
              <a:rPr lang="en-US" sz="1400" b="1" dirty="0">
                <a:latin typeface="Times New Roman" panose="02020603050405020304" pitchFamily="18" charset="0"/>
                <a:cs typeface="Times New Roman" panose="02020603050405020304" pitchFamily="18" charset="0"/>
              </a:rPr>
              <a:t>evaluating how well a machine learning model generalizes to unseen data</a:t>
            </a:r>
            <a:r>
              <a:rPr lang="en-US" sz="1400" dirty="0">
                <a:latin typeface="Times New Roman" panose="02020603050405020304" pitchFamily="18" charset="0"/>
                <a:cs typeface="Times New Roman" panose="02020603050405020304" pitchFamily="18" charset="0"/>
              </a:rPr>
              <a:t>, rather than how well it performs on the data it was trained on</a:t>
            </a:r>
          </a:p>
          <a:p>
            <a:pPr marL="457200" lvl="0" indent="-317500" algn="l" rtl="0">
              <a:spcBef>
                <a:spcPts val="0"/>
              </a:spcBef>
              <a:spcAft>
                <a:spcPts val="0"/>
              </a:spcAft>
              <a:buClr>
                <a:schemeClr val="dk1"/>
              </a:buClr>
              <a:buSzPts val="1400"/>
              <a:buFont typeface="Montserrat"/>
              <a:buChar char="●"/>
            </a:pPr>
            <a:endParaRPr lang="en-US" sz="1400" dirty="0">
              <a:latin typeface="Times New Roman" panose="02020603050405020304" pitchFamily="18" charset="0"/>
              <a:cs typeface="Times New Roman" panose="02020603050405020304" pitchFamily="18" charset="0"/>
            </a:endParaRPr>
          </a:p>
          <a:p>
            <a:pPr marL="139700" lvl="0" indent="0" algn="l" rtl="0">
              <a:spcBef>
                <a:spcPts val="0"/>
              </a:spcBef>
              <a:spcAft>
                <a:spcPts val="0"/>
              </a:spcAft>
              <a:buClr>
                <a:schemeClr val="dk1"/>
              </a:buClr>
              <a:buSzPts val="1400"/>
              <a:buNone/>
            </a:pPr>
            <a:r>
              <a:rPr lang="en-US" sz="1400" dirty="0">
                <a:highlight>
                  <a:srgbClr val="FFFF00"/>
                </a:highlight>
                <a:latin typeface="Times New Roman" panose="02020603050405020304" pitchFamily="18" charset="0"/>
                <a:cs typeface="Times New Roman" panose="02020603050405020304" pitchFamily="18" charset="0"/>
              </a:rPr>
              <a:t>Will this model work well on new, real-world data?”</a:t>
            </a:r>
          </a:p>
          <a:p>
            <a:pPr marL="457200" lvl="0" indent="-317500" algn="l" rtl="0">
              <a:spcBef>
                <a:spcPts val="0"/>
              </a:spcBef>
              <a:spcAft>
                <a:spcPts val="0"/>
              </a:spcAft>
              <a:buClr>
                <a:schemeClr val="dk1"/>
              </a:buClr>
              <a:buSzPts val="1400"/>
              <a:buFont typeface="Montserrat"/>
              <a:buChar char="●"/>
            </a:pPr>
            <a:endParaRPr lang="en" dirty="0">
              <a:solidFill>
                <a:schemeClr val="dk1"/>
              </a:solidFill>
              <a:latin typeface="Times New Roman" panose="02020603050405020304" pitchFamily="18" charset="0"/>
              <a:ea typeface="Montserrat"/>
              <a:cs typeface="Times New Roman" panose="02020603050405020304" pitchFamily="18" charset="0"/>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Times New Roman" panose="02020603050405020304" pitchFamily="18" charset="0"/>
                <a:ea typeface="Montserrat"/>
                <a:cs typeface="Times New Roman" panose="02020603050405020304" pitchFamily="18" charset="0"/>
                <a:sym typeface="Montserrat"/>
              </a:rPr>
              <a:t>The model validation methods use test data to validate the model built using train data</a:t>
            </a:r>
            <a:br>
              <a:rPr lang="en" dirty="0">
                <a:solidFill>
                  <a:schemeClr val="dk1"/>
                </a:solidFill>
                <a:latin typeface="Times New Roman" panose="02020603050405020304" pitchFamily="18" charset="0"/>
                <a:ea typeface="Montserrat"/>
                <a:cs typeface="Times New Roman" panose="02020603050405020304" pitchFamily="18" charset="0"/>
                <a:sym typeface="Montserrat"/>
              </a:rPr>
            </a:br>
            <a:endParaRPr dirty="0">
              <a:solidFill>
                <a:schemeClr val="dk1"/>
              </a:solidFill>
              <a:latin typeface="Times New Roman" panose="02020603050405020304" pitchFamily="18" charset="0"/>
              <a:ea typeface="Montserrat"/>
              <a:cs typeface="Times New Roman" panose="02020603050405020304" pitchFamily="18" charset="0"/>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Times New Roman" panose="02020603050405020304" pitchFamily="18" charset="0"/>
                <a:ea typeface="Montserrat"/>
                <a:cs typeface="Times New Roman" panose="02020603050405020304" pitchFamily="18" charset="0"/>
                <a:sym typeface="Montserrat"/>
              </a:rPr>
              <a:t>Model validation techniques:</a:t>
            </a:r>
            <a:br>
              <a:rPr lang="en" dirty="0">
                <a:solidFill>
                  <a:schemeClr val="dk1"/>
                </a:solidFill>
                <a:latin typeface="Times New Roman" panose="02020603050405020304" pitchFamily="18" charset="0"/>
                <a:ea typeface="Montserrat"/>
                <a:cs typeface="Times New Roman" panose="02020603050405020304" pitchFamily="18" charset="0"/>
                <a:sym typeface="Montserrat"/>
              </a:rPr>
            </a:br>
            <a:endParaRPr dirty="0">
              <a:solidFill>
                <a:schemeClr val="dk1"/>
              </a:solidFill>
              <a:latin typeface="Times New Roman" panose="02020603050405020304" pitchFamily="18" charset="0"/>
              <a:ea typeface="Montserrat"/>
              <a:cs typeface="Times New Roman" panose="02020603050405020304" pitchFamily="18" charset="0"/>
              <a:sym typeface="Montserrat"/>
            </a:endParaRPr>
          </a:p>
          <a:p>
            <a:pPr marL="914400" lvl="1" indent="-317500" algn="l" rtl="0">
              <a:spcBef>
                <a:spcPts val="0"/>
              </a:spcBef>
              <a:spcAft>
                <a:spcPts val="0"/>
              </a:spcAft>
              <a:buClr>
                <a:schemeClr val="dk1"/>
              </a:buClr>
              <a:buSzPts val="1400"/>
              <a:buFont typeface="Montserrat"/>
              <a:buChar char="○"/>
            </a:pPr>
            <a:r>
              <a:rPr lang="en" dirty="0">
                <a:solidFill>
                  <a:schemeClr val="dk1"/>
                </a:solidFill>
                <a:latin typeface="Times New Roman" panose="02020603050405020304" pitchFamily="18" charset="0"/>
                <a:ea typeface="Montserrat"/>
                <a:cs typeface="Times New Roman" panose="02020603050405020304" pitchFamily="18" charset="0"/>
                <a:sym typeface="Montserrat"/>
              </a:rPr>
              <a:t>k - fold cross validation</a:t>
            </a:r>
            <a:br>
              <a:rPr lang="en" dirty="0">
                <a:solidFill>
                  <a:schemeClr val="dk1"/>
                </a:solidFill>
                <a:latin typeface="Times New Roman" panose="02020603050405020304" pitchFamily="18" charset="0"/>
                <a:ea typeface="Montserrat"/>
                <a:cs typeface="Times New Roman" panose="02020603050405020304" pitchFamily="18" charset="0"/>
                <a:sym typeface="Montserrat"/>
              </a:rPr>
            </a:br>
            <a:endParaRPr dirty="0">
              <a:solidFill>
                <a:schemeClr val="dk1"/>
              </a:solidFill>
              <a:latin typeface="Times New Roman" panose="02020603050405020304" pitchFamily="18" charset="0"/>
              <a:ea typeface="Montserrat"/>
              <a:cs typeface="Times New Roman" panose="02020603050405020304" pitchFamily="18" charset="0"/>
              <a:sym typeface="Montserrat"/>
            </a:endParaRPr>
          </a:p>
          <a:p>
            <a:pPr marL="914400" lvl="1" indent="-317500" algn="l" rtl="0">
              <a:spcBef>
                <a:spcPts val="0"/>
              </a:spcBef>
              <a:spcAft>
                <a:spcPts val="0"/>
              </a:spcAft>
              <a:buClr>
                <a:schemeClr val="dk1"/>
              </a:buClr>
              <a:buSzPts val="1400"/>
              <a:buFont typeface="Montserrat"/>
              <a:buChar char="○"/>
            </a:pPr>
            <a:r>
              <a:rPr lang="en" dirty="0">
                <a:solidFill>
                  <a:schemeClr val="dk1"/>
                </a:solidFill>
                <a:latin typeface="Times New Roman" panose="02020603050405020304" pitchFamily="18" charset="0"/>
                <a:ea typeface="Montserrat"/>
                <a:cs typeface="Times New Roman" panose="02020603050405020304" pitchFamily="18" charset="0"/>
                <a:sym typeface="Montserrat"/>
              </a:rPr>
              <a:t>Leave one out cross validation (LOOCV)</a:t>
            </a:r>
            <a:endParaRPr dirty="0">
              <a:solidFill>
                <a:schemeClr val="dk1"/>
              </a:solidFill>
              <a:latin typeface="Times New Roman" panose="02020603050405020304" pitchFamily="18" charset="0"/>
              <a:ea typeface="Montserrat"/>
              <a:cs typeface="Times New Roman" panose="02020603050405020304" pitchFamily="18" charset="0"/>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F2C7-9F2D-447B-B167-DB76A19D3754}"/>
              </a:ext>
            </a:extLst>
          </p:cNvPr>
          <p:cNvSpPr>
            <a:spLocks noGrp="1"/>
          </p:cNvSpPr>
          <p:nvPr>
            <p:ph type="title"/>
          </p:nvPr>
        </p:nvSpPr>
        <p:spPr/>
        <p:txBody>
          <a:bodyPr/>
          <a:lstStyle/>
          <a:p>
            <a:r>
              <a:rPr lang="en-US" sz="2800" b="1" dirty="0"/>
              <a:t>Model validation</a:t>
            </a:r>
            <a:endParaRPr lang="en-US" dirty="0"/>
          </a:p>
        </p:txBody>
      </p:sp>
      <p:sp>
        <p:nvSpPr>
          <p:cNvPr id="3" name="Text Placeholder 2">
            <a:extLst>
              <a:ext uri="{FF2B5EF4-FFF2-40B4-BE49-F238E27FC236}">
                <a16:creationId xmlns:a16="http://schemas.microsoft.com/office/drawing/2014/main" id="{F2874373-325C-4D18-876A-D2221107D7CC}"/>
              </a:ext>
            </a:extLst>
          </p:cNvPr>
          <p:cNvSpPr>
            <a:spLocks noGrp="1"/>
          </p:cNvSpPr>
          <p:nvPr>
            <p:ph type="body" idx="1"/>
          </p:nvPr>
        </p:nvSpPr>
        <p:spPr>
          <a:xfrm>
            <a:off x="139422" y="966945"/>
            <a:ext cx="8520600" cy="3416400"/>
          </a:xfrm>
        </p:spPr>
        <p:txBody>
          <a:bodyPr/>
          <a:lstStyle/>
          <a:p>
            <a:endParaRPr lang="en-US" sz="1400" b="1" dirty="0">
              <a:solidFill>
                <a:srgbClr val="800000"/>
              </a:solidFill>
              <a:effectLst/>
              <a:latin typeface="Times New Roman" panose="02020603050405020304" pitchFamily="18" charset="0"/>
              <a:cs typeface="Times New Roman" panose="02020603050405020304" pitchFamily="18" charset="0"/>
            </a:endParaRPr>
          </a:p>
          <a:p>
            <a:pPr marL="127000" indent="0">
              <a:buNone/>
            </a:pPr>
            <a:r>
              <a:rPr lang="en-US" sz="1400" b="1" dirty="0">
                <a:solidFill>
                  <a:srgbClr val="800000"/>
                </a:solidFill>
                <a:effectLst/>
                <a:latin typeface="Times New Roman" panose="02020603050405020304" pitchFamily="18" charset="0"/>
                <a:cs typeface="Times New Roman" panose="02020603050405020304" pitchFamily="18" charset="0"/>
              </a:rPr>
              <a:t>Cross-Validation</a:t>
            </a:r>
          </a:p>
          <a:p>
            <a:pPr marL="127000" indent="0">
              <a:buNone/>
            </a:pPr>
            <a:endParaRPr lang="en-US" sz="1400" b="0" dirty="0">
              <a:solidFill>
                <a:srgbClr val="000000"/>
              </a:solidFill>
              <a:effectLst/>
              <a:latin typeface="Times New Roman" panose="02020603050405020304" pitchFamily="18" charset="0"/>
              <a:cs typeface="Times New Roman" panose="02020603050405020304" pitchFamily="18" charset="0"/>
            </a:endParaRPr>
          </a:p>
          <a:p>
            <a:r>
              <a:rPr lang="en-US" sz="1400" b="0" dirty="0">
                <a:solidFill>
                  <a:srgbClr val="000000"/>
                </a:solidFill>
                <a:effectLst/>
                <a:latin typeface="Times New Roman" panose="02020603050405020304" pitchFamily="18" charset="0"/>
                <a:cs typeface="Times New Roman" panose="02020603050405020304" pitchFamily="18" charset="0"/>
              </a:rPr>
              <a:t>Whenever we build any machine learning model, we feed it with initial data to train the model. And then we feed some unknown data (test data) to understand how well the model performs and generalized over unseen data. </a:t>
            </a:r>
          </a:p>
          <a:p>
            <a:endParaRPr lang="en-US" sz="1400" dirty="0">
              <a:solidFill>
                <a:srgbClr val="000000"/>
              </a:solidFill>
              <a:latin typeface="Times New Roman" panose="02020603050405020304" pitchFamily="18" charset="0"/>
              <a:cs typeface="Times New Roman" panose="02020603050405020304" pitchFamily="18" charset="0"/>
            </a:endParaRPr>
          </a:p>
          <a:p>
            <a:r>
              <a:rPr lang="en-US" sz="1400" b="0" dirty="0">
                <a:solidFill>
                  <a:srgbClr val="000000"/>
                </a:solidFill>
                <a:effectLst/>
                <a:latin typeface="Times New Roman" panose="02020603050405020304" pitchFamily="18" charset="0"/>
                <a:cs typeface="Times New Roman" panose="02020603050405020304" pitchFamily="18" charset="0"/>
              </a:rPr>
              <a:t>If the model performs well on the unseen data, it’s consistent and is able to predict with good accuracy on a wide range of input data; then this model is stable.</a:t>
            </a:r>
          </a:p>
          <a:p>
            <a:endParaRPr lang="en-US" sz="1400" b="0" dirty="0">
              <a:solidFill>
                <a:srgbClr val="000000"/>
              </a:solidFill>
              <a:effectLst/>
              <a:latin typeface="Times New Roman" panose="02020603050405020304" pitchFamily="18" charset="0"/>
              <a:cs typeface="Times New Roman" panose="02020603050405020304" pitchFamily="18" charset="0"/>
            </a:endParaRPr>
          </a:p>
          <a:p>
            <a:r>
              <a:rPr lang="en-US" sz="1400" b="0" dirty="0">
                <a:solidFill>
                  <a:srgbClr val="000000"/>
                </a:solidFill>
                <a:effectLst/>
                <a:latin typeface="Times New Roman" panose="02020603050405020304" pitchFamily="18" charset="0"/>
                <a:cs typeface="Times New Roman" panose="02020603050405020304" pitchFamily="18" charset="0"/>
              </a:rPr>
              <a:t>But this is not the case always! </a:t>
            </a:r>
          </a:p>
          <a:p>
            <a:endParaRPr lang="en-US" sz="1400" dirty="0">
              <a:solidFill>
                <a:srgbClr val="000000"/>
              </a:solidFill>
              <a:latin typeface="Times New Roman" panose="02020603050405020304" pitchFamily="18" charset="0"/>
              <a:cs typeface="Times New Roman" panose="02020603050405020304" pitchFamily="18" charset="0"/>
            </a:endParaRPr>
          </a:p>
          <a:p>
            <a:r>
              <a:rPr lang="en-US" sz="1400" b="0" dirty="0">
                <a:solidFill>
                  <a:srgbClr val="000000"/>
                </a:solidFill>
                <a:effectLst/>
                <a:latin typeface="Times New Roman" panose="02020603050405020304" pitchFamily="18" charset="0"/>
                <a:cs typeface="Times New Roman" panose="02020603050405020304" pitchFamily="18" charset="0"/>
              </a:rPr>
              <a:t>Machine learning models are not always stable and we have to evaluate the stability of the machine learning model. That is where Cross Validation comes into the picture.</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697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25AA-CB4C-47ED-9C30-35FC48D4366F}"/>
              </a:ext>
            </a:extLst>
          </p:cNvPr>
          <p:cNvSpPr>
            <a:spLocks noGrp="1"/>
          </p:cNvSpPr>
          <p:nvPr>
            <p:ph type="title"/>
          </p:nvPr>
        </p:nvSpPr>
        <p:spPr/>
        <p:txBody>
          <a:bodyPr/>
          <a:lstStyle/>
          <a:p>
            <a:r>
              <a:rPr lang="en-US" sz="2800" b="1" dirty="0">
                <a:solidFill>
                  <a:srgbClr val="0F3FA8"/>
                </a:solidFill>
                <a:latin typeface="Montserrat"/>
                <a:ea typeface="Montserrat"/>
                <a:cs typeface="Montserrat"/>
                <a:sym typeface="Montserrat"/>
              </a:rPr>
              <a:t>Model Validation</a:t>
            </a:r>
            <a:br>
              <a:rPr lang="en-US" sz="2800" b="1" dirty="0">
                <a:solidFill>
                  <a:srgbClr val="0F3FA8"/>
                </a:solidFill>
                <a:latin typeface="Montserrat"/>
                <a:ea typeface="Montserrat"/>
                <a:cs typeface="Montserrat"/>
                <a:sym typeface="Montserrat"/>
              </a:rPr>
            </a:br>
            <a:endParaRPr lang="en-US" dirty="0"/>
          </a:p>
        </p:txBody>
      </p:sp>
      <p:sp>
        <p:nvSpPr>
          <p:cNvPr id="3" name="Text Placeholder 2">
            <a:extLst>
              <a:ext uri="{FF2B5EF4-FFF2-40B4-BE49-F238E27FC236}">
                <a16:creationId xmlns:a16="http://schemas.microsoft.com/office/drawing/2014/main" id="{7F1008BB-F79F-4978-849A-0CC8B9653963}"/>
              </a:ext>
            </a:extLst>
          </p:cNvPr>
          <p:cNvSpPr>
            <a:spLocks noGrp="1"/>
          </p:cNvSpPr>
          <p:nvPr>
            <p:ph type="body" idx="1"/>
          </p:nvPr>
        </p:nvSpPr>
        <p:spPr>
          <a:xfrm>
            <a:off x="311700" y="1174976"/>
            <a:ext cx="8520600" cy="3416400"/>
          </a:xfrm>
        </p:spPr>
        <p:txBody>
          <a:bodyPr/>
          <a:lstStyle/>
          <a:p>
            <a:r>
              <a:rPr lang="en-US" sz="1400" b="0" dirty="0">
                <a:solidFill>
                  <a:srgbClr val="000000"/>
                </a:solidFill>
                <a:effectLst/>
                <a:latin typeface="Times New Roman" panose="02020603050405020304" pitchFamily="18" charset="0"/>
                <a:cs typeface="Times New Roman" panose="02020603050405020304" pitchFamily="18" charset="0"/>
              </a:rPr>
              <a:t>suppose we build a machine learning model to solve a problem, and we have trained the model on a given dataset. When we check the accuracy of the model on the training data, it is </a:t>
            </a:r>
            <a:r>
              <a:rPr lang="en-US" sz="1400" b="0" dirty="0">
                <a:solidFill>
                  <a:srgbClr val="000000"/>
                </a:solidFill>
                <a:effectLst/>
                <a:highlight>
                  <a:srgbClr val="FFFF00"/>
                </a:highlight>
                <a:latin typeface="Times New Roman" panose="02020603050405020304" pitchFamily="18" charset="0"/>
                <a:cs typeface="Times New Roman" panose="02020603050405020304" pitchFamily="18" charset="0"/>
              </a:rPr>
              <a:t>close to 95%. </a:t>
            </a:r>
            <a:r>
              <a:rPr lang="en-US" sz="1400" b="0" dirty="0">
                <a:solidFill>
                  <a:srgbClr val="000000"/>
                </a:solidFill>
                <a:effectLst/>
                <a:latin typeface="Times New Roman" panose="02020603050405020304" pitchFamily="18" charset="0"/>
                <a:cs typeface="Times New Roman" panose="02020603050405020304" pitchFamily="18" charset="0"/>
              </a:rPr>
              <a:t>Does this mean that our model has trained very well, and it is the best model because of the high accuracy?</a:t>
            </a:r>
          </a:p>
          <a:p>
            <a:br>
              <a:rPr lang="en-US" sz="1400" b="0" dirty="0">
                <a:solidFill>
                  <a:srgbClr val="000000"/>
                </a:solidFill>
                <a:effectLst/>
                <a:latin typeface="Times New Roman" panose="02020603050405020304" pitchFamily="18" charset="0"/>
                <a:cs typeface="Times New Roman" panose="02020603050405020304" pitchFamily="18" charset="0"/>
              </a:rPr>
            </a:br>
            <a:r>
              <a:rPr lang="en-US" sz="1400" b="0" dirty="0">
                <a:solidFill>
                  <a:srgbClr val="000000"/>
                </a:solidFill>
                <a:effectLst/>
                <a:latin typeface="Times New Roman" panose="02020603050405020304" pitchFamily="18" charset="0"/>
                <a:cs typeface="Times New Roman" panose="02020603050405020304" pitchFamily="18" charset="0"/>
              </a:rPr>
              <a:t>No, it’s not! Because our model is trained on the given data, it knows the data well, captured even the minute variations(noise), and has generalized very well over the given data. If we expose the model to completely new, unseen data, it might not predict with the same accuracy and it might fail to generalize over the new data. This problem is called </a:t>
            </a:r>
            <a:r>
              <a:rPr lang="en-US" sz="1400" b="0" dirty="0">
                <a:solidFill>
                  <a:srgbClr val="000000"/>
                </a:solidFill>
                <a:effectLst/>
                <a:highlight>
                  <a:srgbClr val="FFFF00"/>
                </a:highlight>
                <a:latin typeface="Times New Roman" panose="02020603050405020304" pitchFamily="18" charset="0"/>
                <a:cs typeface="Times New Roman" panose="02020603050405020304" pitchFamily="18" charset="0"/>
              </a:rPr>
              <a:t>over-fitting.</a:t>
            </a:r>
          </a:p>
          <a:p>
            <a:br>
              <a:rPr lang="en-US" sz="1400" b="0" dirty="0">
                <a:solidFill>
                  <a:srgbClr val="000000"/>
                </a:solidFill>
                <a:effectLst/>
                <a:latin typeface="Times New Roman" panose="02020603050405020304" pitchFamily="18" charset="0"/>
                <a:cs typeface="Times New Roman" panose="02020603050405020304" pitchFamily="18" charset="0"/>
              </a:rPr>
            </a:br>
            <a:r>
              <a:rPr lang="en-US" sz="1400" b="0" dirty="0">
                <a:solidFill>
                  <a:srgbClr val="000000"/>
                </a:solidFill>
                <a:effectLst/>
                <a:latin typeface="Times New Roman" panose="02020603050405020304" pitchFamily="18" charset="0"/>
                <a:cs typeface="Times New Roman" panose="02020603050405020304" pitchFamily="18" charset="0"/>
              </a:rPr>
              <a:t>Sometimes the model doesn’t train well on the training set as it’s not able to find patterns. In this case, it wouldn’t perform well on the test set as well. This problem is called </a:t>
            </a:r>
            <a:r>
              <a:rPr lang="en-US" sz="1400" b="0" dirty="0">
                <a:solidFill>
                  <a:srgbClr val="000000"/>
                </a:solidFill>
                <a:effectLst/>
                <a:highlight>
                  <a:srgbClr val="FFFF00"/>
                </a:highlight>
                <a:latin typeface="Times New Roman" panose="02020603050405020304" pitchFamily="18" charset="0"/>
                <a:cs typeface="Times New Roman" panose="02020603050405020304" pitchFamily="18" charset="0"/>
              </a:rPr>
              <a:t>Under-fitting.</a:t>
            </a:r>
            <a:br>
              <a:rPr lang="en-US" sz="1400" b="0" dirty="0">
                <a:solidFill>
                  <a:srgbClr val="000000"/>
                </a:solidFill>
                <a:effectLst/>
                <a:latin typeface="Times New Roman" panose="02020603050405020304" pitchFamily="18" charset="0"/>
                <a:cs typeface="Times New Roman" panose="02020603050405020304" pitchFamily="18" charset="0"/>
              </a:rPr>
            </a:br>
            <a:br>
              <a:rPr lang="en-US" sz="1400" b="0" dirty="0">
                <a:solidFill>
                  <a:srgbClr val="000000"/>
                </a:solidFill>
                <a:effectLst/>
                <a:latin typeface="Times New Roman" panose="02020603050405020304" pitchFamily="18" charset="0"/>
                <a:cs typeface="Times New Roman" panose="02020603050405020304" pitchFamily="18" charset="0"/>
              </a:rPr>
            </a:br>
            <a:r>
              <a:rPr lang="en-US" sz="1400" b="0" dirty="0">
                <a:solidFill>
                  <a:srgbClr val="000000"/>
                </a:solidFill>
                <a:effectLst/>
                <a:latin typeface="Times New Roman" panose="02020603050405020304" pitchFamily="18" charset="0"/>
                <a:cs typeface="Times New Roman" panose="02020603050405020304" pitchFamily="18" charset="0"/>
              </a:rPr>
              <a:t>To overcome </a:t>
            </a:r>
            <a:r>
              <a:rPr lang="en-US" sz="1400" b="0" dirty="0">
                <a:solidFill>
                  <a:srgbClr val="000000"/>
                </a:solidFill>
                <a:effectLst/>
                <a:highlight>
                  <a:srgbClr val="FFFF00"/>
                </a:highlight>
                <a:latin typeface="Times New Roman" panose="02020603050405020304" pitchFamily="18" charset="0"/>
                <a:cs typeface="Times New Roman" panose="02020603050405020304" pitchFamily="18" charset="0"/>
              </a:rPr>
              <a:t>over-fitting problems, we use a technique called Cross-Validation</a:t>
            </a:r>
            <a:r>
              <a:rPr lang="en-US" sz="1400" b="0" dirty="0">
                <a:solidFill>
                  <a:srgbClr val="000000"/>
                </a:solidFill>
                <a:effectLst/>
                <a:latin typeface="Times New Roman" panose="02020603050405020304" pitchFamily="18" charset="0"/>
                <a:cs typeface="Times New Roman" panose="02020603050405020304" pitchFamily="18" charset="0"/>
              </a:rPr>
              <a:t>.</a:t>
            </a:r>
          </a:p>
          <a:p>
            <a:endParaRPr lang="en-US" sz="1400" b="0" dirty="0">
              <a:solidFill>
                <a:srgbClr val="000000"/>
              </a:solidFill>
              <a:effectLst/>
              <a:latin typeface="Consolas" panose="020B0609020204030204" pitchFamily="49" charset="0"/>
            </a:endParaRPr>
          </a:p>
          <a:p>
            <a:endParaRPr lang="en-US" sz="1200" b="0" dirty="0">
              <a:solidFill>
                <a:srgbClr val="000000"/>
              </a:solidFill>
              <a:effectLst/>
              <a:latin typeface="Consolas" panose="020B0609020204030204" pitchFamily="49" charset="0"/>
            </a:endParaRPr>
          </a:p>
          <a:p>
            <a:endParaRPr lang="en-US" sz="1200" dirty="0"/>
          </a:p>
        </p:txBody>
      </p:sp>
    </p:spTree>
    <p:extLst>
      <p:ext uri="{BB962C8B-B14F-4D97-AF65-F5344CB8AC3E}">
        <p14:creationId xmlns:p14="http://schemas.microsoft.com/office/powerpoint/2010/main" val="551535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BADB-7E23-4B9E-AFF5-86F812DFA64A}"/>
              </a:ext>
            </a:extLst>
          </p:cNvPr>
          <p:cNvSpPr>
            <a:spLocks noGrp="1"/>
          </p:cNvSpPr>
          <p:nvPr>
            <p:ph type="title"/>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Cross-validation</a:t>
            </a:r>
            <a:endParaRPr lang="en-US" dirty="0"/>
          </a:p>
        </p:txBody>
      </p:sp>
      <p:sp>
        <p:nvSpPr>
          <p:cNvPr id="3" name="Text Placeholder 2">
            <a:extLst>
              <a:ext uri="{FF2B5EF4-FFF2-40B4-BE49-F238E27FC236}">
                <a16:creationId xmlns:a16="http://schemas.microsoft.com/office/drawing/2014/main" id="{B4B75018-4D24-4880-B8C8-0780446FA3B8}"/>
              </a:ext>
            </a:extLst>
          </p:cNvPr>
          <p:cNvSpPr>
            <a:spLocks noGrp="1"/>
          </p:cNvSpPr>
          <p:nvPr>
            <p:ph type="body" idx="1"/>
          </p:nvPr>
        </p:nvSpPr>
        <p:spPr/>
        <p:txBody>
          <a:bodyPr/>
          <a:lstStyle/>
          <a:p>
            <a:pPr fontAlgn="base"/>
            <a:r>
              <a:rPr lang="en-US" sz="1600" b="0" dirty="0">
                <a:solidFill>
                  <a:srgbClr val="000000"/>
                </a:solidFill>
                <a:effectLst/>
                <a:latin typeface="Times New Roman" panose="02020603050405020304" pitchFamily="18" charset="0"/>
                <a:cs typeface="Times New Roman" panose="02020603050405020304" pitchFamily="18" charset="0"/>
              </a:rPr>
              <a:t>Cross-validation is a resampling procedure used to evaluate machine learning models on a limited data sample.</a:t>
            </a:r>
          </a:p>
          <a:p>
            <a:pPr algn="l" rtl="0" fontAlgn="base"/>
            <a:endParaRPr lang="en-US" b="0" i="0" dirty="0">
              <a:solidFill>
                <a:srgbClr val="273239"/>
              </a:solidFill>
              <a:effectLst/>
              <a:latin typeface="Times New Roman" panose="02020603050405020304" pitchFamily="18" charset="0"/>
              <a:cs typeface="Times New Roman" panose="02020603050405020304" pitchFamily="18" charset="0"/>
            </a:endParaRPr>
          </a:p>
          <a:p>
            <a:pPr marL="127000" indent="0" algn="l" rtl="0" fontAlgn="base">
              <a:buNone/>
            </a:pPr>
            <a:r>
              <a:rPr lang="en-US" b="0" i="0" dirty="0">
                <a:solidFill>
                  <a:srgbClr val="273239"/>
                </a:solidFill>
                <a:effectLst/>
                <a:latin typeface="Times New Roman" panose="02020603050405020304" pitchFamily="18" charset="0"/>
                <a:cs typeface="Times New Roman" panose="02020603050405020304" pitchFamily="18" charset="0"/>
              </a:rPr>
              <a:t>It works by:</a:t>
            </a: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Splitting the dataset into several parts.</a:t>
            </a: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Training the model on some parts and testing it on the remaining part.</a:t>
            </a: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Repeating this resampling process multiple times by choosing different parts of the dataset.</a:t>
            </a: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Averaging the results from each validation step to get the final performance.</a:t>
            </a:r>
          </a:p>
          <a:p>
            <a:endParaRPr lang="en-US" dirty="0"/>
          </a:p>
        </p:txBody>
      </p:sp>
    </p:spTree>
    <p:extLst>
      <p:ext uri="{BB962C8B-B14F-4D97-AF65-F5344CB8AC3E}">
        <p14:creationId xmlns:p14="http://schemas.microsoft.com/office/powerpoint/2010/main" val="488653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1FD5-1D00-41A6-B3A8-90847EAC88FA}"/>
              </a:ext>
            </a:extLst>
          </p:cNvPr>
          <p:cNvSpPr>
            <a:spLocks noGrp="1"/>
          </p:cNvSpPr>
          <p:nvPr>
            <p:ph type="title"/>
          </p:nvPr>
        </p:nvSpPr>
        <p:spPr/>
        <p:txBody>
          <a:bodyPr/>
          <a:lstStyle/>
          <a:p>
            <a:r>
              <a:rPr lang="en-US" b="1" i="0" dirty="0">
                <a:solidFill>
                  <a:srgbClr val="273239"/>
                </a:solidFill>
                <a:effectLst/>
                <a:latin typeface="Nunito" pitchFamily="2" charset="0"/>
              </a:rPr>
              <a:t>Types of Cross-Validation</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47BA386A-555E-4A3E-A99F-4C3645444EB8}"/>
              </a:ext>
            </a:extLst>
          </p:cNvPr>
          <p:cNvSpPr>
            <a:spLocks noGrp="1"/>
          </p:cNvSpPr>
          <p:nvPr>
            <p:ph type="body" idx="1"/>
          </p:nvPr>
        </p:nvSpPr>
        <p:spPr>
          <a:xfrm>
            <a:off x="165926" y="1019953"/>
            <a:ext cx="8520600" cy="3416400"/>
          </a:xfrm>
        </p:spPr>
        <p:txBody>
          <a:bodyPr/>
          <a:lstStyle/>
          <a:p>
            <a:pPr algn="l" rtl="0" fontAlgn="base"/>
            <a:r>
              <a:rPr lang="en-US" b="0" i="0" dirty="0">
                <a:solidFill>
                  <a:srgbClr val="273239"/>
                </a:solidFill>
                <a:effectLst/>
                <a:latin typeface="Nunito" pitchFamily="2" charset="0"/>
              </a:rPr>
              <a:t>There are several types of cross-validation techniques which are as follows:</a:t>
            </a:r>
          </a:p>
          <a:p>
            <a:pPr marL="127000" indent="0" algn="l" fontAlgn="base">
              <a:buNone/>
            </a:pPr>
            <a:r>
              <a:rPr lang="en-US" b="1" i="0" dirty="0">
                <a:solidFill>
                  <a:srgbClr val="273239"/>
                </a:solidFill>
                <a:effectLst/>
                <a:latin typeface="Nunito" pitchFamily="2" charset="0"/>
              </a:rPr>
              <a:t>1. Holdout Validation</a:t>
            </a:r>
          </a:p>
          <a:p>
            <a:pPr algn="l" rtl="0" fontAlgn="base"/>
            <a:r>
              <a:rPr lang="en-US" b="0" i="0" dirty="0">
                <a:solidFill>
                  <a:srgbClr val="273239"/>
                </a:solidFill>
                <a:effectLst/>
                <a:latin typeface="Nunito" pitchFamily="2" charset="0"/>
              </a:rPr>
              <a:t>In</a:t>
            </a:r>
            <a:r>
              <a:rPr lang="en-US" b="0" i="0" u="sng" dirty="0">
                <a:solidFill>
                  <a:srgbClr val="357960"/>
                </a:solidFill>
                <a:effectLst/>
                <a:latin typeface="Nunito" pitchFamily="2" charset="0"/>
              </a:rPr>
              <a:t> Holdout Validation</a:t>
            </a:r>
            <a:r>
              <a:rPr lang="en-US" b="0" i="0" dirty="0">
                <a:solidFill>
                  <a:srgbClr val="273239"/>
                </a:solidFill>
                <a:effectLst/>
                <a:latin typeface="Nunito" pitchFamily="2" charset="0"/>
              </a:rPr>
              <a:t> method typically 50% data is used for training and 50% for testing. Making it simple and quick to apply. The major drawback of this method is that only 50% data is used for training, the model may miss important patterns in the other half which leads to high bias.</a:t>
            </a:r>
          </a:p>
          <a:p>
            <a:endParaRPr lang="en-US" dirty="0"/>
          </a:p>
        </p:txBody>
      </p:sp>
    </p:spTree>
    <p:extLst>
      <p:ext uri="{BB962C8B-B14F-4D97-AF65-F5344CB8AC3E}">
        <p14:creationId xmlns:p14="http://schemas.microsoft.com/office/powerpoint/2010/main" val="1057340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7ECB-F43D-409D-972D-A1BA8C214A4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F5A1FE6-3B70-4CA0-966A-CBF2147574FD}"/>
              </a:ext>
            </a:extLst>
          </p:cNvPr>
          <p:cNvSpPr>
            <a:spLocks noGrp="1"/>
          </p:cNvSpPr>
          <p:nvPr>
            <p:ph type="body" idx="1"/>
          </p:nvPr>
        </p:nvSpPr>
        <p:spPr>
          <a:xfrm>
            <a:off x="120651" y="3082254"/>
            <a:ext cx="8895796" cy="1692325"/>
          </a:xfrm>
        </p:spPr>
        <p:txBody>
          <a:bodyPr/>
          <a:lstStyle/>
          <a:p>
            <a:pPr marL="127000" indent="0" algn="l" fontAlgn="base">
              <a:buNone/>
            </a:pPr>
            <a:r>
              <a:rPr lang="en-US" b="1" i="0" dirty="0">
                <a:solidFill>
                  <a:srgbClr val="273239"/>
                </a:solidFill>
                <a:effectLst/>
                <a:latin typeface="Nunito" pitchFamily="2" charset="0"/>
              </a:rPr>
              <a:t>2. LOOCV (Leave One Out Cross Validation)</a:t>
            </a:r>
          </a:p>
          <a:p>
            <a:pPr algn="l" rtl="0" fontAlgn="base"/>
            <a:r>
              <a:rPr lang="en-US" b="0" i="0" dirty="0">
                <a:solidFill>
                  <a:srgbClr val="273239"/>
                </a:solidFill>
                <a:effectLst/>
                <a:latin typeface="Nunito" pitchFamily="2" charset="0"/>
              </a:rPr>
              <a:t>In this method the model is trained on the entire dataset except for one data point which is used for testing. This process is repeated for each data point in the dataset.</a:t>
            </a:r>
          </a:p>
          <a:p>
            <a:pPr algn="l" fontAlgn="base">
              <a:buFont typeface="Arial" panose="020B0604020202020204" pitchFamily="34" charset="0"/>
              <a:buChar char="•"/>
            </a:pPr>
            <a:r>
              <a:rPr lang="en-US" b="0" i="0" dirty="0">
                <a:solidFill>
                  <a:srgbClr val="273239"/>
                </a:solidFill>
                <a:effectLst/>
                <a:latin typeface="Nunito" pitchFamily="2" charset="0"/>
              </a:rPr>
              <a:t>All data points are used for training, resulting in low bias.</a:t>
            </a:r>
          </a:p>
          <a:p>
            <a:pPr algn="l" fontAlgn="base">
              <a:buFont typeface="Arial" panose="020B0604020202020204" pitchFamily="34" charset="0"/>
              <a:buChar char="•"/>
            </a:pPr>
            <a:r>
              <a:rPr lang="en-US" b="0" i="0" dirty="0">
                <a:solidFill>
                  <a:srgbClr val="273239"/>
                </a:solidFill>
                <a:effectLst/>
                <a:latin typeface="Nunito" pitchFamily="2" charset="0"/>
              </a:rPr>
              <a:t>Testing on a single data point can cause high variance, especially if the point is an outlier.</a:t>
            </a:r>
          </a:p>
          <a:p>
            <a:pPr algn="l" fontAlgn="base">
              <a:buFont typeface="Arial" panose="020B0604020202020204" pitchFamily="34" charset="0"/>
              <a:buChar char="•"/>
            </a:pPr>
            <a:r>
              <a:rPr lang="en-US" b="0" i="0" dirty="0">
                <a:solidFill>
                  <a:srgbClr val="273239"/>
                </a:solidFill>
                <a:effectLst/>
                <a:latin typeface="Nunito" pitchFamily="2" charset="0"/>
              </a:rPr>
              <a:t>It can be very time-consuming for large datasets as it requires one iteration per data point.</a:t>
            </a:r>
            <a:endParaRPr lang="en-US" dirty="0"/>
          </a:p>
        </p:txBody>
      </p:sp>
      <p:pic>
        <p:nvPicPr>
          <p:cNvPr id="5" name="Picture 4">
            <a:extLst>
              <a:ext uri="{FF2B5EF4-FFF2-40B4-BE49-F238E27FC236}">
                <a16:creationId xmlns:a16="http://schemas.microsoft.com/office/drawing/2014/main" id="{5106C9CB-F3FC-405D-89E3-331674D8FCE9}"/>
              </a:ext>
            </a:extLst>
          </p:cNvPr>
          <p:cNvPicPr>
            <a:picLocks noChangeAspect="1"/>
          </p:cNvPicPr>
          <p:nvPr/>
        </p:nvPicPr>
        <p:blipFill>
          <a:blip r:embed="rId2"/>
          <a:stretch>
            <a:fillRect/>
          </a:stretch>
        </p:blipFill>
        <p:spPr>
          <a:xfrm>
            <a:off x="3099352" y="86921"/>
            <a:ext cx="5923997" cy="2865829"/>
          </a:xfrm>
          <a:prstGeom prst="rect">
            <a:avLst/>
          </a:prstGeom>
        </p:spPr>
      </p:pic>
    </p:spTree>
    <p:extLst>
      <p:ext uri="{BB962C8B-B14F-4D97-AF65-F5344CB8AC3E}">
        <p14:creationId xmlns:p14="http://schemas.microsoft.com/office/powerpoint/2010/main" val="1826911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Leave-One-Out Cross-Validation</a:t>
            </a:r>
            <a:endParaRPr sz="2100" b="1">
              <a:solidFill>
                <a:srgbClr val="0F3FA8"/>
              </a:solidFill>
              <a:latin typeface="Montserrat"/>
              <a:ea typeface="Montserrat"/>
              <a:cs typeface="Montserrat"/>
              <a:sym typeface="Montserrat"/>
            </a:endParaRPr>
          </a:p>
        </p:txBody>
      </p:sp>
      <p:sp>
        <p:nvSpPr>
          <p:cNvPr id="177" name="Google Shape;17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178" name="Google Shape;178;p35"/>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It is a special case of k - fold cross validation method. Instead of subsetting the data, at every run one observation is considered as the test set</a:t>
            </a:r>
            <a:br>
              <a:rPr lang="en" dirty="0">
                <a:solidFill>
                  <a:schemeClr val="dk1"/>
                </a:solidFill>
                <a:latin typeface="Montserrat"/>
                <a:ea typeface="Montserrat"/>
                <a:cs typeface="Montserrat"/>
                <a:sym typeface="Montserrat"/>
              </a:rPr>
            </a:b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In each iteration, n-1 observations are used for training, and the remaining observation is used for testing.</a:t>
            </a:r>
            <a:br>
              <a:rPr lang="en" dirty="0">
                <a:solidFill>
                  <a:schemeClr val="dk1"/>
                </a:solidFill>
                <a:latin typeface="Montserrat"/>
                <a:ea typeface="Montserrat"/>
                <a:cs typeface="Montserrat"/>
                <a:sym typeface="Montserrat"/>
              </a:rPr>
            </a:b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For n observations, there are n runs</a:t>
            </a:r>
            <a:br>
              <a:rPr lang="en" dirty="0">
                <a:solidFill>
                  <a:schemeClr val="dk1"/>
                </a:solidFill>
                <a:latin typeface="Montserrat"/>
                <a:ea typeface="Montserrat"/>
                <a:cs typeface="Montserrat"/>
                <a:sym typeface="Montserrat"/>
              </a:rPr>
            </a:b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The total error is the sum of errors for n runs</a:t>
            </a:r>
            <a:br>
              <a:rPr lang="en" dirty="0">
                <a:solidFill>
                  <a:schemeClr val="dk1"/>
                </a:solidFill>
                <a:latin typeface="Montserrat"/>
                <a:ea typeface="Montserrat"/>
                <a:cs typeface="Montserrat"/>
                <a:sym typeface="Montserrat"/>
              </a:rPr>
            </a:b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In LOOCV, the estimates from each fold are highly correlated and their average can have a high level of variance</a:t>
            </a:r>
            <a:br>
              <a:rPr lang="en" dirty="0">
                <a:solidFill>
                  <a:schemeClr val="dk1"/>
                </a:solidFill>
                <a:latin typeface="Montserrat"/>
                <a:ea typeface="Montserrat"/>
                <a:cs typeface="Montserrat"/>
                <a:sym typeface="Montserrat"/>
              </a:rPr>
            </a:b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LOOCV is particularly </a:t>
            </a:r>
            <a:r>
              <a:rPr lang="en" dirty="0">
                <a:solidFill>
                  <a:schemeClr val="dk1"/>
                </a:solidFill>
                <a:highlight>
                  <a:srgbClr val="FFFF00"/>
                </a:highlight>
                <a:latin typeface="Montserrat"/>
                <a:ea typeface="Montserrat"/>
                <a:cs typeface="Montserrat"/>
                <a:sym typeface="Montserrat"/>
              </a:rPr>
              <a:t>useful for small datasets, </a:t>
            </a:r>
            <a:r>
              <a:rPr lang="en" dirty="0">
                <a:solidFill>
                  <a:schemeClr val="dk1"/>
                </a:solidFill>
                <a:latin typeface="Montserrat"/>
                <a:ea typeface="Montserrat"/>
                <a:cs typeface="Montserrat"/>
                <a:sym typeface="Montserrat"/>
              </a:rPr>
              <a:t>where every data point is valuable for testing. However, due to its computational intensity and the potential for high variance in estimates, it may not always be the best choice for larger datasets.</a:t>
            </a:r>
            <a:endParaRPr dirty="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4D69-D0D9-4EDF-921C-3640CB8F1DD9}"/>
              </a:ext>
            </a:extLst>
          </p:cNvPr>
          <p:cNvSpPr>
            <a:spLocks noGrp="1"/>
          </p:cNvSpPr>
          <p:nvPr>
            <p:ph type="title"/>
          </p:nvPr>
        </p:nvSpPr>
        <p:spPr/>
        <p:txBody>
          <a:bodyPr/>
          <a:lstStyle/>
          <a:p>
            <a:r>
              <a:rPr lang="en-US" b="1" i="0" dirty="0">
                <a:solidFill>
                  <a:srgbClr val="273239"/>
                </a:solidFill>
                <a:effectLst/>
                <a:latin typeface="Nunito" pitchFamily="2" charset="0"/>
              </a:rPr>
              <a:t>Types of Cross-Validation</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DDD36732-895A-4E3F-9268-07BC450C9FA1}"/>
              </a:ext>
            </a:extLst>
          </p:cNvPr>
          <p:cNvSpPr>
            <a:spLocks noGrp="1"/>
          </p:cNvSpPr>
          <p:nvPr>
            <p:ph type="body" idx="1"/>
          </p:nvPr>
        </p:nvSpPr>
        <p:spPr>
          <a:xfrm>
            <a:off x="260900" y="1057225"/>
            <a:ext cx="8520600" cy="3416400"/>
          </a:xfrm>
        </p:spPr>
        <p:txBody>
          <a:bodyPr/>
          <a:lstStyle/>
          <a:p>
            <a:pPr marL="127000" indent="0" algn="l" fontAlgn="base">
              <a:buNone/>
            </a:pPr>
            <a:r>
              <a:rPr lang="en-US" sz="1400" b="1" i="0" dirty="0">
                <a:solidFill>
                  <a:srgbClr val="273239"/>
                </a:solidFill>
                <a:effectLst/>
                <a:latin typeface="Nunito" pitchFamily="2" charset="0"/>
              </a:rPr>
              <a:t>3. Stratified Cross-Validation</a:t>
            </a:r>
          </a:p>
          <a:p>
            <a:pPr algn="l" rtl="0" fontAlgn="base"/>
            <a:r>
              <a:rPr lang="en-US" sz="1400" b="0" i="0" dirty="0">
                <a:solidFill>
                  <a:srgbClr val="273239"/>
                </a:solidFill>
                <a:effectLst/>
                <a:latin typeface="Nunito" pitchFamily="2" charset="0"/>
              </a:rPr>
              <a:t>It is a technique that ensures each fold of the cross-validation process has the same class distribution as the full dataset. </a:t>
            </a:r>
          </a:p>
          <a:p>
            <a:pPr algn="l" rtl="0" fontAlgn="base"/>
            <a:r>
              <a:rPr lang="en-US" sz="1400" b="0" i="0" dirty="0">
                <a:solidFill>
                  <a:srgbClr val="273239"/>
                </a:solidFill>
                <a:effectLst/>
                <a:latin typeface="Nunito" pitchFamily="2" charset="0"/>
              </a:rPr>
              <a:t>This is useful for </a:t>
            </a:r>
            <a:r>
              <a:rPr lang="en-US" sz="1400" b="0" i="0" dirty="0">
                <a:solidFill>
                  <a:srgbClr val="273239"/>
                </a:solidFill>
                <a:effectLst/>
                <a:highlight>
                  <a:srgbClr val="FFFF00"/>
                </a:highlight>
                <a:latin typeface="Nunito" pitchFamily="2" charset="0"/>
              </a:rPr>
              <a:t>imbalanced datasets where some classes are underrepresented.</a:t>
            </a:r>
          </a:p>
          <a:p>
            <a:pPr algn="l" fontAlgn="base">
              <a:buFont typeface="Arial" panose="020B0604020202020204" pitchFamily="34" charset="0"/>
              <a:buChar char="•"/>
            </a:pPr>
            <a:r>
              <a:rPr lang="en-US" sz="1400" b="0" i="0" dirty="0">
                <a:solidFill>
                  <a:srgbClr val="273239"/>
                </a:solidFill>
                <a:effectLst/>
                <a:latin typeface="Nunito" pitchFamily="2" charset="0"/>
              </a:rPr>
              <a:t>The dataset is divided into k folds, keeping class proportions consistent in each fold.</a:t>
            </a:r>
          </a:p>
          <a:p>
            <a:pPr algn="l" fontAlgn="base">
              <a:buFont typeface="Arial" panose="020B0604020202020204" pitchFamily="34" charset="0"/>
              <a:buChar char="•"/>
            </a:pPr>
            <a:r>
              <a:rPr lang="en-US" sz="1400" b="0" i="0" dirty="0">
                <a:solidFill>
                  <a:srgbClr val="273239"/>
                </a:solidFill>
                <a:effectLst/>
                <a:latin typeface="Nunito" pitchFamily="2" charset="0"/>
              </a:rPr>
              <a:t>In each iteration, one fold is used for testing and the remaining folds for training.</a:t>
            </a:r>
          </a:p>
          <a:p>
            <a:pPr algn="l" fontAlgn="base">
              <a:buFont typeface="Arial" panose="020B0604020202020204" pitchFamily="34" charset="0"/>
              <a:buChar char="•"/>
            </a:pPr>
            <a:r>
              <a:rPr lang="en-US" sz="1400" b="0" i="0" dirty="0">
                <a:solidFill>
                  <a:srgbClr val="273239"/>
                </a:solidFill>
                <a:effectLst/>
                <a:latin typeface="Nunito" pitchFamily="2" charset="0"/>
              </a:rPr>
              <a:t>This process is repeated k times so that each fold is used once as the test set.</a:t>
            </a:r>
          </a:p>
          <a:p>
            <a:pPr algn="l" fontAlgn="base">
              <a:buFont typeface="Arial" panose="020B0604020202020204" pitchFamily="34" charset="0"/>
              <a:buChar char="•"/>
            </a:pPr>
            <a:r>
              <a:rPr lang="en-US" sz="1400" b="0" i="0" dirty="0">
                <a:solidFill>
                  <a:srgbClr val="273239"/>
                </a:solidFill>
                <a:effectLst/>
                <a:latin typeface="Nunito" pitchFamily="2" charset="0"/>
              </a:rPr>
              <a:t>It helps classification models generalize better by maintaining balanced class representation.</a:t>
            </a:r>
          </a:p>
          <a:p>
            <a:endParaRPr lang="en-US" dirty="0"/>
          </a:p>
        </p:txBody>
      </p:sp>
      <p:pic>
        <p:nvPicPr>
          <p:cNvPr id="6" name="Picture 5">
            <a:extLst>
              <a:ext uri="{FF2B5EF4-FFF2-40B4-BE49-F238E27FC236}">
                <a16:creationId xmlns:a16="http://schemas.microsoft.com/office/drawing/2014/main" id="{C0706DC5-BDF2-4161-B893-C7C08C882B5C}"/>
              </a:ext>
            </a:extLst>
          </p:cNvPr>
          <p:cNvPicPr>
            <a:picLocks noChangeAspect="1"/>
          </p:cNvPicPr>
          <p:nvPr/>
        </p:nvPicPr>
        <p:blipFill>
          <a:blip r:embed="rId2"/>
          <a:stretch>
            <a:fillRect/>
          </a:stretch>
        </p:blipFill>
        <p:spPr>
          <a:xfrm>
            <a:off x="4794250" y="3006680"/>
            <a:ext cx="3929268" cy="2021295"/>
          </a:xfrm>
          <a:prstGeom prst="rect">
            <a:avLst/>
          </a:prstGeom>
        </p:spPr>
      </p:pic>
    </p:spTree>
    <p:extLst>
      <p:ext uri="{BB962C8B-B14F-4D97-AF65-F5344CB8AC3E}">
        <p14:creationId xmlns:p14="http://schemas.microsoft.com/office/powerpoint/2010/main" val="1354646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3"/>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K - Fold Cross Validation</a:t>
            </a:r>
            <a:endParaRPr sz="2100" b="1">
              <a:solidFill>
                <a:srgbClr val="0F3FA8"/>
              </a:solidFill>
              <a:latin typeface="Montserrat"/>
              <a:ea typeface="Montserrat"/>
              <a:cs typeface="Montserrat"/>
              <a:sym typeface="Montserrat"/>
            </a:endParaRPr>
          </a:p>
        </p:txBody>
      </p:sp>
      <p:sp>
        <p:nvSpPr>
          <p:cNvPr id="161" name="Google Shape;16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
        <p:nvSpPr>
          <p:cNvPr id="162" name="Google Shape;162;p33"/>
          <p:cNvSpPr txBox="1"/>
          <p:nvPr/>
        </p:nvSpPr>
        <p:spPr>
          <a:xfrm>
            <a:off x="70400" y="995625"/>
            <a:ext cx="8232600" cy="461700"/>
          </a:xfrm>
          <a:prstGeom prst="rect">
            <a:avLst/>
          </a:prstGeom>
          <a:noFill/>
          <a:ln>
            <a:noFill/>
          </a:ln>
        </p:spPr>
        <p:txBody>
          <a:bodyPr spcFirstLastPara="1" wrap="square" lIns="91425" tIns="91425" rIns="91425" bIns="91425" anchor="t" anchorCtr="0">
            <a:noAutofit/>
          </a:bodyPr>
          <a:lstStyle/>
          <a:p>
            <a:pPr algn="l" fontAlgn="base">
              <a:lnSpc>
                <a:spcPct val="150000"/>
              </a:lnSpc>
            </a:pPr>
            <a:r>
              <a:rPr lang="en-US" sz="1100" b="1" i="0" dirty="0">
                <a:solidFill>
                  <a:srgbClr val="273239"/>
                </a:solidFill>
                <a:effectLst/>
                <a:latin typeface="Nunito" pitchFamily="2" charset="0"/>
              </a:rPr>
              <a:t>4. K-Fold Cross Validation</a:t>
            </a:r>
          </a:p>
          <a:p>
            <a:pPr algn="l" rtl="0" fontAlgn="base">
              <a:lnSpc>
                <a:spcPct val="150000"/>
              </a:lnSpc>
            </a:pPr>
            <a:r>
              <a:rPr lang="en-US" sz="1100" b="0" i="0" u="sng" dirty="0">
                <a:solidFill>
                  <a:srgbClr val="357960"/>
                </a:solidFill>
                <a:effectLst/>
                <a:latin typeface="Nunito" pitchFamily="2" charset="0"/>
              </a:rPr>
              <a:t>K-Fold Cross Validation</a:t>
            </a:r>
            <a:r>
              <a:rPr lang="en-US" sz="1100" b="0" i="0" dirty="0">
                <a:solidFill>
                  <a:srgbClr val="273239"/>
                </a:solidFill>
                <a:effectLst/>
                <a:latin typeface="Nunito" pitchFamily="2" charset="0"/>
              </a:rPr>
              <a:t> splits the dataset into </a:t>
            </a:r>
            <a:r>
              <a:rPr lang="en-US" sz="1100" b="0" i="1" dirty="0">
                <a:solidFill>
                  <a:srgbClr val="273239"/>
                </a:solidFill>
                <a:effectLst/>
                <a:latin typeface="Nunito" pitchFamily="2" charset="0"/>
              </a:rPr>
              <a:t>k</a:t>
            </a:r>
            <a:r>
              <a:rPr lang="en-US" sz="1100" b="0" i="0" dirty="0">
                <a:solidFill>
                  <a:srgbClr val="273239"/>
                </a:solidFill>
                <a:effectLst/>
                <a:latin typeface="Nunito" pitchFamily="2" charset="0"/>
              </a:rPr>
              <a:t> equal-sized folds. The model is trained on </a:t>
            </a:r>
            <a:r>
              <a:rPr lang="en-US" sz="1100" b="0" i="1" dirty="0">
                <a:solidFill>
                  <a:srgbClr val="273239"/>
                </a:solidFill>
                <a:effectLst/>
                <a:latin typeface="Nunito" pitchFamily="2" charset="0"/>
              </a:rPr>
              <a:t>k-1</a:t>
            </a:r>
            <a:r>
              <a:rPr lang="en-US" sz="1100" b="0" i="0" dirty="0">
                <a:solidFill>
                  <a:srgbClr val="273239"/>
                </a:solidFill>
                <a:effectLst/>
                <a:latin typeface="Nunito" pitchFamily="2" charset="0"/>
              </a:rPr>
              <a:t> folds and tested on the remaining fold. This process is repeated </a:t>
            </a:r>
            <a:r>
              <a:rPr lang="en-US" sz="1100" b="0" i="1" dirty="0">
                <a:solidFill>
                  <a:srgbClr val="273239"/>
                </a:solidFill>
                <a:effectLst/>
                <a:latin typeface="Nunito" pitchFamily="2" charset="0"/>
              </a:rPr>
              <a:t>k</a:t>
            </a:r>
            <a:r>
              <a:rPr lang="en-US" sz="1100" b="0" i="0" dirty="0">
                <a:solidFill>
                  <a:srgbClr val="273239"/>
                </a:solidFill>
                <a:effectLst/>
                <a:latin typeface="Nunito" pitchFamily="2" charset="0"/>
              </a:rPr>
              <a:t> times each time using a different fold for testing.</a:t>
            </a:r>
          </a:p>
          <a:p>
            <a:pPr marL="457200" lvl="0" indent="-317500" algn="l" rtl="0">
              <a:spcBef>
                <a:spcPts val="0"/>
              </a:spcBef>
              <a:spcAft>
                <a:spcPts val="0"/>
              </a:spcAft>
              <a:buClr>
                <a:schemeClr val="dk1"/>
              </a:buClr>
              <a:buSzPts val="1400"/>
              <a:buFont typeface="Montserrat"/>
              <a:buChar char="●"/>
            </a:pPr>
            <a:endParaRPr lang="en"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Procedure:</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Partition the dataset into ‘k’ subsets</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Consider one subset as the test set and remaining subsets as train set</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Measure the model performance</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Repeat this until all k subsets are considered as test set</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The overall performance metric (such as accuracy, error rate, etc.) is obtained by averaging the performance metrics from all k runs.</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This method is known as the k - fold cross validation</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Here, each observation is used exactly k times for training and exactly once for testing</a:t>
            </a:r>
            <a:endParaRPr sz="1100" dirty="0">
              <a:solidFill>
                <a:schemeClr val="dk1"/>
              </a:solidFill>
              <a:latin typeface="Montserrat"/>
              <a:ea typeface="Montserrat"/>
              <a:cs typeface="Montserrat"/>
              <a:sym typeface="Montserrat"/>
            </a:endParaRPr>
          </a:p>
        </p:txBody>
      </p:sp>
      <p:pic>
        <p:nvPicPr>
          <p:cNvPr id="5" name="Picture 4">
            <a:extLst>
              <a:ext uri="{FF2B5EF4-FFF2-40B4-BE49-F238E27FC236}">
                <a16:creationId xmlns:a16="http://schemas.microsoft.com/office/drawing/2014/main" id="{48A42C48-C6F9-499D-AED9-770FEF1FD9BA}"/>
              </a:ext>
            </a:extLst>
          </p:cNvPr>
          <p:cNvPicPr>
            <a:picLocks noChangeAspect="1"/>
          </p:cNvPicPr>
          <p:nvPr/>
        </p:nvPicPr>
        <p:blipFill>
          <a:blip r:embed="rId3"/>
          <a:stretch>
            <a:fillRect/>
          </a:stretch>
        </p:blipFill>
        <p:spPr>
          <a:xfrm>
            <a:off x="6008482" y="1847850"/>
            <a:ext cx="3111498" cy="15557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4"/>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10 - Fold Cross Validation</a:t>
            </a:r>
            <a:endParaRPr sz="2100" b="1">
              <a:solidFill>
                <a:srgbClr val="0F3FA8"/>
              </a:solidFill>
              <a:latin typeface="Montserrat"/>
              <a:ea typeface="Montserrat"/>
              <a:cs typeface="Montserrat"/>
              <a:sym typeface="Montserrat"/>
            </a:endParaRPr>
          </a:p>
        </p:txBody>
      </p:sp>
      <p:sp>
        <p:nvSpPr>
          <p:cNvPr id="168" name="Google Shape;16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
        <p:nvSpPr>
          <p:cNvPr id="169" name="Google Shape;169;p34"/>
          <p:cNvSpPr txBox="1">
            <a:spLocks noGrp="1"/>
          </p:cNvSpPr>
          <p:nvPr>
            <p:ph type="body" idx="4294967295"/>
          </p:nvPr>
        </p:nvSpPr>
        <p:spPr>
          <a:xfrm>
            <a:off x="0" y="1339425"/>
            <a:ext cx="4326900" cy="21348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Font typeface="Montserrat Medium"/>
              <a:buChar char="●"/>
            </a:pPr>
            <a:r>
              <a:rPr lang="en" sz="1300">
                <a:latin typeface="Montserrat Medium"/>
                <a:ea typeface="Montserrat Medium"/>
                <a:cs typeface="Montserrat Medium"/>
                <a:sym typeface="Montserrat Medium"/>
              </a:rPr>
              <a:t>The split of training and test for each run.</a:t>
            </a:r>
            <a:endParaRPr sz="1300">
              <a:latin typeface="Montserrat Medium"/>
              <a:ea typeface="Montserrat Medium"/>
              <a:cs typeface="Montserrat Medium"/>
              <a:sym typeface="Montserrat Medium"/>
            </a:endParaRPr>
          </a:p>
          <a:p>
            <a:pPr marL="457200" lvl="0" indent="0" algn="l" rtl="0">
              <a:lnSpc>
                <a:spcPct val="115000"/>
              </a:lnSpc>
              <a:spcBef>
                <a:spcPts val="1600"/>
              </a:spcBef>
              <a:spcAft>
                <a:spcPts val="0"/>
              </a:spcAft>
              <a:buNone/>
            </a:pPr>
            <a:endParaRPr sz="1300">
              <a:latin typeface="Montserrat Medium"/>
              <a:ea typeface="Montserrat Medium"/>
              <a:cs typeface="Montserrat Medium"/>
              <a:sym typeface="Montserrat Medium"/>
            </a:endParaRPr>
          </a:p>
          <a:p>
            <a:pPr marL="457200" lvl="0" indent="-311150" algn="l" rtl="0">
              <a:lnSpc>
                <a:spcPct val="115000"/>
              </a:lnSpc>
              <a:spcBef>
                <a:spcPts val="1600"/>
              </a:spcBef>
              <a:spcAft>
                <a:spcPts val="0"/>
              </a:spcAft>
              <a:buSzPts val="1300"/>
              <a:buFont typeface="Montserrat Medium"/>
              <a:buChar char="●"/>
            </a:pPr>
            <a:r>
              <a:rPr lang="en" sz="1300">
                <a:latin typeface="Montserrat Medium"/>
                <a:ea typeface="Montserrat Medium"/>
                <a:cs typeface="Montserrat Medium"/>
                <a:sym typeface="Montserrat Medium"/>
              </a:rPr>
              <a:t>And the total error is given by:</a:t>
            </a:r>
            <a:endParaRPr sz="1300">
              <a:latin typeface="Montserrat Medium"/>
              <a:ea typeface="Montserrat Medium"/>
              <a:cs typeface="Montserrat Medium"/>
              <a:sym typeface="Montserrat Medium"/>
            </a:endParaRPr>
          </a:p>
        </p:txBody>
      </p:sp>
      <p:pic>
        <p:nvPicPr>
          <p:cNvPr id="170" name="Google Shape;170;p34"/>
          <p:cNvPicPr preferRelativeResize="0"/>
          <p:nvPr/>
        </p:nvPicPr>
        <p:blipFill rotWithShape="1">
          <a:blip r:embed="rId3">
            <a:alphaModFix/>
          </a:blip>
          <a:srcRect r="22063"/>
          <a:stretch/>
        </p:blipFill>
        <p:spPr>
          <a:xfrm>
            <a:off x="4507275" y="1185500"/>
            <a:ext cx="4455499" cy="3162549"/>
          </a:xfrm>
          <a:prstGeom prst="rect">
            <a:avLst/>
          </a:prstGeom>
          <a:noFill/>
          <a:ln>
            <a:noFill/>
          </a:ln>
        </p:spPr>
      </p:pic>
      <p:pic>
        <p:nvPicPr>
          <p:cNvPr id="171" name="Google Shape;171;p34"/>
          <p:cNvPicPr preferRelativeResize="0"/>
          <p:nvPr/>
        </p:nvPicPr>
        <p:blipFill rotWithShape="1">
          <a:blip r:embed="rId3">
            <a:alphaModFix/>
          </a:blip>
          <a:srcRect l="82440" t="38256" b="43631"/>
          <a:stretch/>
        </p:blipFill>
        <p:spPr>
          <a:xfrm>
            <a:off x="849537" y="2900125"/>
            <a:ext cx="1287474" cy="734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6"/>
          <p:cNvSpPr/>
          <p:nvPr/>
        </p:nvSpPr>
        <p:spPr>
          <a:xfrm>
            <a:off x="474450" y="1261675"/>
            <a:ext cx="8195100" cy="1419300"/>
          </a:xfrm>
          <a:prstGeom prst="roundRect">
            <a:avLst>
              <a:gd name="adj" fmla="val 0"/>
            </a:avLst>
          </a:prstGeom>
          <a:solidFill>
            <a:srgbClr val="0F3FA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3300" b="1">
                <a:solidFill>
                  <a:schemeClr val="lt1"/>
                </a:solidFill>
                <a:latin typeface="Montserrat"/>
                <a:ea typeface="Montserrat"/>
                <a:cs typeface="Montserrat"/>
                <a:sym typeface="Montserrat"/>
              </a:rPr>
              <a:t>Grid Search</a:t>
            </a:r>
            <a:endParaRPr sz="3300" b="1">
              <a:solidFill>
                <a:schemeClr val="lt1"/>
              </a:solidFill>
              <a:latin typeface="Montserrat"/>
              <a:ea typeface="Montserrat"/>
              <a:cs typeface="Montserrat"/>
              <a:sym typeface="Montserrat"/>
            </a:endParaRPr>
          </a:p>
        </p:txBody>
      </p:sp>
      <p:sp>
        <p:nvSpPr>
          <p:cNvPr id="184" name="Google Shape;184;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2" name="Rectangle 1">
            <a:extLst>
              <a:ext uri="{FF2B5EF4-FFF2-40B4-BE49-F238E27FC236}">
                <a16:creationId xmlns:a16="http://schemas.microsoft.com/office/drawing/2014/main" id="{9A9425CD-A536-499B-88CB-B03EB615EF3C}"/>
              </a:ext>
            </a:extLst>
          </p:cNvPr>
          <p:cNvSpPr>
            <a:spLocks noChangeArrowheads="1"/>
          </p:cNvSpPr>
          <p:nvPr/>
        </p:nvSpPr>
        <p:spPr bwMode="auto">
          <a:xfrm>
            <a:off x="144379" y="3052057"/>
            <a:ext cx="8432117" cy="1156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6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hyperparameter tuning method that exhaustively searches parameter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combinations using cross-validation.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6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faster alternative that randomly samples hyperparameter combinations.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8"/>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Grid Search</a:t>
            </a:r>
            <a:endParaRPr sz="2100" b="1">
              <a:solidFill>
                <a:srgbClr val="0F3FA8"/>
              </a:solidFill>
              <a:latin typeface="Montserrat"/>
              <a:ea typeface="Montserrat"/>
              <a:cs typeface="Montserrat"/>
              <a:sym typeface="Montserrat"/>
            </a:endParaRPr>
          </a:p>
        </p:txBody>
      </p:sp>
      <p:sp>
        <p:nvSpPr>
          <p:cNvPr id="197" name="Google Shape;19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98" name="Google Shape;198;p38"/>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The grid search is the process of tuning the hyperparameters to obtain the optimum values of the hyperparameters.</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Just as the name suggests, a grid of performance measure is obtained</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Wherein each measure corresponds to a given hyperparameter values</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Obtain the corresponding hyperparameters whose performance measure is highest</a:t>
            </a:r>
            <a:endParaRPr>
              <a:solidFill>
                <a:schemeClr val="dk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9"/>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Grid Search</a:t>
            </a:r>
            <a:endParaRPr sz="2100" b="1">
              <a:solidFill>
                <a:srgbClr val="0F3FA8"/>
              </a:solidFill>
              <a:latin typeface="Montserrat"/>
              <a:ea typeface="Montserrat"/>
              <a:cs typeface="Montserrat"/>
              <a:sym typeface="Montserrat"/>
            </a:endParaRPr>
          </a:p>
        </p:txBody>
      </p:sp>
      <p:sp>
        <p:nvSpPr>
          <p:cNvPr id="204" name="Google Shape;204;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
        <p:nvSpPr>
          <p:cNvPr id="205" name="Google Shape;205;p39"/>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Procedure</a:t>
            </a:r>
            <a:r>
              <a:rPr lang="en">
                <a:solidFill>
                  <a:schemeClr val="dk1"/>
                </a:solidFill>
                <a:latin typeface="Montserrat"/>
                <a:ea typeface="Montserrat"/>
                <a:cs typeface="Montserrat"/>
                <a:sym typeface="Montserrat"/>
              </a:rPr>
              <a:t>:</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Define the Hyperparameter Grid</a:t>
            </a:r>
            <a:r>
              <a:rPr lang="en">
                <a:solidFill>
                  <a:schemeClr val="dk1"/>
                </a:solidFill>
                <a:latin typeface="Montserrat"/>
                <a:ea typeface="Montserrat"/>
                <a:cs typeface="Montserrat"/>
                <a:sym typeface="Montserrat"/>
              </a:rPr>
              <a:t>: Create a grid of hyperparameter values to explore. Each combination of hyperparameters forms a unique configuration for the model.</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Perform Cross-Validation</a:t>
            </a:r>
            <a:r>
              <a:rPr lang="en">
                <a:solidFill>
                  <a:schemeClr val="dk1"/>
                </a:solidFill>
                <a:latin typeface="Montserrat"/>
                <a:ea typeface="Montserrat"/>
                <a:cs typeface="Montserrat"/>
                <a:sym typeface="Montserrat"/>
              </a:rPr>
              <a:t>: For each combination in the grid, the model is trained and validated using cross-validation. This means the dataset is partitioned into multiple subsets to ensure that the model's performance is evaluated on different portions of the data.</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Evaluate Performance</a:t>
            </a:r>
            <a:r>
              <a:rPr lang="en">
                <a:solidFill>
                  <a:schemeClr val="dk1"/>
                </a:solidFill>
                <a:latin typeface="Montserrat"/>
                <a:ea typeface="Montserrat"/>
                <a:cs typeface="Montserrat"/>
                <a:sym typeface="Montserrat"/>
              </a:rPr>
              <a:t>: Calculate performance metrics (like accuracy, F1 score, etc.) for each configuration based on the results of cross-validation.</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Select the Best Hyperparameters</a:t>
            </a:r>
            <a:r>
              <a:rPr lang="en">
                <a:solidFill>
                  <a:schemeClr val="dk1"/>
                </a:solidFill>
                <a:latin typeface="Montserrat"/>
                <a:ea typeface="Montserrat"/>
                <a:cs typeface="Montserrat"/>
                <a:sym typeface="Montserrat"/>
              </a:rPr>
              <a:t>: Identify the hyperparameter combination that yields the highest performance metric. This combination will be used to fit the final model.</a:t>
            </a:r>
            <a:endParaRPr>
              <a:solidFill>
                <a:schemeClr val="dk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0"/>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Grid Search</a:t>
            </a:r>
            <a:endParaRPr sz="2100" b="1">
              <a:solidFill>
                <a:srgbClr val="0F3FA8"/>
              </a:solidFill>
              <a:latin typeface="Montserrat"/>
              <a:ea typeface="Montserrat"/>
              <a:cs typeface="Montserrat"/>
              <a:sym typeface="Montserrat"/>
            </a:endParaRPr>
          </a:p>
        </p:txBody>
      </p:sp>
      <p:sp>
        <p:nvSpPr>
          <p:cNvPr id="211" name="Google Shape;21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pic>
        <p:nvPicPr>
          <p:cNvPr id="213" name="Google Shape;213;p40"/>
          <p:cNvPicPr preferRelativeResize="0"/>
          <p:nvPr/>
        </p:nvPicPr>
        <p:blipFill rotWithShape="1">
          <a:blip r:embed="rId3">
            <a:alphaModFix/>
          </a:blip>
          <a:srcRect/>
          <a:stretch/>
        </p:blipFill>
        <p:spPr>
          <a:xfrm>
            <a:off x="922500" y="1019225"/>
            <a:ext cx="5030823" cy="3820975"/>
          </a:xfrm>
          <a:prstGeom prst="rect">
            <a:avLst/>
          </a:prstGeom>
          <a:noFill/>
          <a:ln>
            <a:noFill/>
          </a:ln>
        </p:spPr>
      </p:pic>
      <p:sp>
        <p:nvSpPr>
          <p:cNvPr id="7" name="TextBox 6">
            <a:extLst>
              <a:ext uri="{FF2B5EF4-FFF2-40B4-BE49-F238E27FC236}">
                <a16:creationId xmlns:a16="http://schemas.microsoft.com/office/drawing/2014/main" id="{98990EC4-D04E-44C6-B69B-5F335F237807}"/>
              </a:ext>
            </a:extLst>
          </p:cNvPr>
          <p:cNvSpPr txBox="1"/>
          <p:nvPr/>
        </p:nvSpPr>
        <p:spPr>
          <a:xfrm>
            <a:off x="6069496" y="658988"/>
            <a:ext cx="2951662" cy="2354491"/>
          </a:xfrm>
          <a:prstGeom prst="rect">
            <a:avLst/>
          </a:prstGeom>
          <a:noFill/>
        </p:spPr>
        <p:txBody>
          <a:bodyPr wrap="square">
            <a:spAutoFit/>
          </a:bodyPr>
          <a:lstStyle/>
          <a:p>
            <a:endParaRPr lang="en-US" sz="1050" dirty="0"/>
          </a:p>
          <a:p>
            <a:r>
              <a:rPr lang="en-US" sz="1050" dirty="0" err="1"/>
              <a:t>param_grid</a:t>
            </a:r>
            <a:r>
              <a:rPr lang="en-US" sz="1050" dirty="0"/>
              <a:t> = {</a:t>
            </a:r>
          </a:p>
          <a:p>
            <a:r>
              <a:rPr lang="en-US" sz="1050" dirty="0"/>
              <a:t>    '</a:t>
            </a:r>
            <a:r>
              <a:rPr lang="en-US" sz="1050" dirty="0" err="1"/>
              <a:t>n_estimators</a:t>
            </a:r>
            <a:r>
              <a:rPr lang="en-US" sz="1050" dirty="0"/>
              <a:t>': [100, 200],</a:t>
            </a:r>
          </a:p>
          <a:p>
            <a:r>
              <a:rPr lang="en-US" sz="1050" dirty="0"/>
              <a:t>    '</a:t>
            </a:r>
            <a:r>
              <a:rPr lang="en-US" sz="1050" dirty="0" err="1"/>
              <a:t>max_depth</a:t>
            </a:r>
            <a:r>
              <a:rPr lang="en-US" sz="1050" dirty="0"/>
              <a:t>': [5, 10],</a:t>
            </a:r>
          </a:p>
          <a:p>
            <a:r>
              <a:rPr lang="en-US" sz="1050" dirty="0"/>
              <a:t>    '</a:t>
            </a:r>
            <a:r>
              <a:rPr lang="en-US" sz="1050" dirty="0" err="1"/>
              <a:t>min_samples_split</a:t>
            </a:r>
            <a:r>
              <a:rPr lang="en-US" sz="1050" dirty="0"/>
              <a:t>': [2, 5]</a:t>
            </a:r>
          </a:p>
          <a:p>
            <a:r>
              <a:rPr lang="en-US" sz="1050" dirty="0"/>
              <a:t>}</a:t>
            </a:r>
          </a:p>
          <a:p>
            <a:endParaRPr lang="en-US" sz="1050" dirty="0"/>
          </a:p>
          <a:p>
            <a:r>
              <a:rPr lang="en-US" sz="1050" dirty="0"/>
              <a:t>grid = </a:t>
            </a:r>
            <a:r>
              <a:rPr lang="en-US" sz="1050" dirty="0" err="1"/>
              <a:t>GridSearchCV</a:t>
            </a:r>
            <a:r>
              <a:rPr lang="en-US" sz="1050" dirty="0"/>
              <a:t>(</a:t>
            </a:r>
          </a:p>
          <a:p>
            <a:r>
              <a:rPr lang="en-US" sz="1050" dirty="0"/>
              <a:t>    estimator=model,</a:t>
            </a:r>
          </a:p>
          <a:p>
            <a:r>
              <a:rPr lang="en-US" sz="1050" dirty="0"/>
              <a:t>    </a:t>
            </a:r>
            <a:r>
              <a:rPr lang="en-US" sz="1050" dirty="0" err="1"/>
              <a:t>param_grid</a:t>
            </a:r>
            <a:r>
              <a:rPr lang="en-US" sz="1050" dirty="0"/>
              <a:t>=</a:t>
            </a:r>
            <a:r>
              <a:rPr lang="en-US" sz="1050" dirty="0" err="1"/>
              <a:t>param_grid</a:t>
            </a:r>
            <a:r>
              <a:rPr lang="en-US" sz="1050" dirty="0"/>
              <a:t>,</a:t>
            </a:r>
          </a:p>
          <a:p>
            <a:r>
              <a:rPr lang="en-US" sz="1050" dirty="0"/>
              <a:t>    cv=5,</a:t>
            </a:r>
          </a:p>
          <a:p>
            <a:r>
              <a:rPr lang="en-US" sz="1050" dirty="0"/>
              <a:t>    scoring='</a:t>
            </a:r>
            <a:r>
              <a:rPr lang="en-US" sz="1050" dirty="0" err="1"/>
              <a:t>roc_auc</a:t>
            </a:r>
            <a:r>
              <a:rPr lang="en-US" sz="1050" dirty="0"/>
              <a:t>',</a:t>
            </a:r>
          </a:p>
          <a:p>
            <a:r>
              <a:rPr lang="en-US" sz="1050" dirty="0"/>
              <a:t>    </a:t>
            </a:r>
            <a:r>
              <a:rPr lang="en-US" sz="1050" dirty="0" err="1"/>
              <a:t>n_jobs</a:t>
            </a:r>
            <a:r>
              <a:rPr lang="en-US" sz="1050" dirty="0"/>
              <a:t>=-1</a:t>
            </a:r>
          </a:p>
          <a:p>
            <a:r>
              <a:rPr lang="en-US" sz="105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Grid Search</a:t>
            </a:r>
            <a:endParaRPr sz="2100" b="1">
              <a:solidFill>
                <a:srgbClr val="0F3FA8"/>
              </a:solidFill>
              <a:latin typeface="Montserrat"/>
              <a:ea typeface="Montserrat"/>
              <a:cs typeface="Montserrat"/>
              <a:sym typeface="Montserrat"/>
            </a:endParaRPr>
          </a:p>
        </p:txBody>
      </p:sp>
      <p:sp>
        <p:nvSpPr>
          <p:cNvPr id="219" name="Google Shape;219;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
        <p:nvSpPr>
          <p:cNvPr id="220" name="Google Shape;220;p41"/>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Advantages</a:t>
            </a:r>
            <a:r>
              <a:rPr lang="en">
                <a:solidFill>
                  <a:schemeClr val="dk1"/>
                </a:solidFill>
                <a:latin typeface="Montserrat"/>
                <a:ea typeface="Montserrat"/>
                <a:cs typeface="Montserrat"/>
                <a:sym typeface="Montserrat"/>
              </a:rPr>
              <a:t> </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Exhaustive Search</a:t>
            </a:r>
            <a:r>
              <a:rPr lang="en">
                <a:solidFill>
                  <a:schemeClr val="dk1"/>
                </a:solidFill>
                <a:latin typeface="Montserrat"/>
                <a:ea typeface="Montserrat"/>
                <a:cs typeface="Montserrat"/>
                <a:sym typeface="Montserrat"/>
              </a:rPr>
              <a:t>: It systematically explores all possible combinations of hyperparameters, ensuring the optimal set is found within the specified grid.</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Robust Performance Evaluation</a:t>
            </a:r>
            <a:r>
              <a:rPr lang="en">
                <a:solidFill>
                  <a:schemeClr val="dk1"/>
                </a:solidFill>
                <a:latin typeface="Montserrat"/>
                <a:ea typeface="Montserrat"/>
                <a:cs typeface="Montserrat"/>
                <a:sym typeface="Montserrat"/>
              </a:rPr>
              <a:t>: By using cross-validation, it provides a reliable estimate of model performance, reducing the risk of overfitting to the training set.</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Simplicity</a:t>
            </a:r>
            <a:r>
              <a:rPr lang="en">
                <a:solidFill>
                  <a:schemeClr val="dk1"/>
                </a:solidFill>
                <a:latin typeface="Montserrat"/>
                <a:ea typeface="Montserrat"/>
                <a:cs typeface="Montserrat"/>
                <a:sym typeface="Montserrat"/>
              </a:rPr>
              <a:t>: The process is straightforward and easy to implement.</a:t>
            </a:r>
            <a:endParaRPr>
              <a:solidFill>
                <a:schemeClr val="dk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2"/>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Grid Search</a:t>
            </a:r>
            <a:endParaRPr sz="2100" b="1">
              <a:solidFill>
                <a:srgbClr val="0F3FA8"/>
              </a:solidFill>
              <a:latin typeface="Montserrat"/>
              <a:ea typeface="Montserrat"/>
              <a:cs typeface="Montserrat"/>
              <a:sym typeface="Montserrat"/>
            </a:endParaRPr>
          </a:p>
        </p:txBody>
      </p:sp>
      <p:sp>
        <p:nvSpPr>
          <p:cNvPr id="226" name="Google Shape;226;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
        <p:nvSpPr>
          <p:cNvPr id="227" name="Google Shape;227;p42"/>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Disadvantages</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Computationally Expensive</a:t>
            </a:r>
            <a:r>
              <a:rPr lang="en">
                <a:solidFill>
                  <a:schemeClr val="dk1"/>
                </a:solidFill>
                <a:latin typeface="Montserrat"/>
                <a:ea typeface="Montserrat"/>
                <a:cs typeface="Montserrat"/>
                <a:sym typeface="Montserrat"/>
              </a:rPr>
              <a:t>:</a:t>
            </a:r>
            <a:r>
              <a:rPr lang="en" b="1">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As the number of hyperparameters and their respective values increases, the computational cost grows exponentially, making it inefficient for large grids.</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Limited Flexibility</a:t>
            </a:r>
            <a:r>
              <a:rPr lang="en">
                <a:solidFill>
                  <a:schemeClr val="dk1"/>
                </a:solidFill>
                <a:latin typeface="Montserrat"/>
                <a:ea typeface="Montserrat"/>
                <a:cs typeface="Montserrat"/>
                <a:sym typeface="Montserrat"/>
              </a:rPr>
              <a:t>: It only evaluates predefined combinations of hyperparameters and may miss the optimal set that lies outside the grid.</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Time-Consuming</a:t>
            </a:r>
            <a:r>
              <a:rPr lang="en">
                <a:solidFill>
                  <a:schemeClr val="dk1"/>
                </a:solidFill>
                <a:latin typeface="Montserrat"/>
                <a:ea typeface="Montserrat"/>
                <a:cs typeface="Montserrat"/>
                <a:sym typeface="Montserrat"/>
              </a:rPr>
              <a:t>: Due to the exhaustive nature of the search, it can take a considerable amount of time to complete, especially with large datasets or complex models.</a:t>
            </a:r>
            <a:endParaRPr>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Randomized Search CV</a:t>
            </a:r>
            <a:endParaRPr sz="2100" b="1">
              <a:solidFill>
                <a:srgbClr val="0F3FA8"/>
              </a:solidFill>
              <a:latin typeface="Montserrat"/>
              <a:ea typeface="Montserrat"/>
              <a:cs typeface="Montserrat"/>
              <a:sym typeface="Montserrat"/>
            </a:endParaRPr>
          </a:p>
        </p:txBody>
      </p:sp>
      <p:sp>
        <p:nvSpPr>
          <p:cNvPr id="233" name="Google Shape;23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
        <p:nvSpPr>
          <p:cNvPr id="234" name="Google Shape;234;p43"/>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Montserrat"/>
                <a:ea typeface="Montserrat"/>
                <a:cs typeface="Montserrat"/>
                <a:sym typeface="Montserrat"/>
              </a:rPr>
              <a:t>Randomized Search CV is another hyperparameter tuning technique that samples a fixed number of hyperparameter combinations from a specified distribution instead of exhaustively searching through all combinations. This approach is useful when dealing with a large hyperparameter space.</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b="1">
                <a:solidFill>
                  <a:schemeClr val="dk1"/>
                </a:solidFill>
                <a:latin typeface="Montserrat"/>
                <a:ea typeface="Montserrat"/>
                <a:cs typeface="Montserrat"/>
                <a:sym typeface="Montserrat"/>
              </a:rPr>
              <a:t>Key Features</a:t>
            </a:r>
            <a:r>
              <a:rPr lang="en">
                <a:solidFill>
                  <a:schemeClr val="dk1"/>
                </a:solidFill>
                <a:latin typeface="Montserrat"/>
                <a:ea typeface="Montserrat"/>
                <a:cs typeface="Montserrat"/>
                <a:sym typeface="Montserrat"/>
              </a:rPr>
              <a:t>:</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Sampling Strategy</a:t>
            </a:r>
            <a:r>
              <a:rPr lang="en">
                <a:solidFill>
                  <a:schemeClr val="dk1"/>
                </a:solidFill>
                <a:latin typeface="Montserrat"/>
                <a:ea typeface="Montserrat"/>
                <a:cs typeface="Montserrat"/>
                <a:sym typeface="Montserrat"/>
              </a:rPr>
              <a:t>: Instead of evaluating all possible combinations, it randomly samples a specified number of parameter settings, making it faster than grid search.</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Speed</a:t>
            </a:r>
            <a:r>
              <a:rPr lang="en">
                <a:solidFill>
                  <a:schemeClr val="dk1"/>
                </a:solidFill>
                <a:latin typeface="Montserrat"/>
                <a:ea typeface="Montserrat"/>
                <a:cs typeface="Montserrat"/>
                <a:sym typeface="Montserrat"/>
              </a:rPr>
              <a:t>: By limiting the number of iterations, it can significantly reduce the computational time needed for hyperparameter tuning, especially in large datasets or complex models.</a:t>
            </a:r>
            <a:endParaRPr>
              <a:solidFill>
                <a:schemeClr val="dk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4"/>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Randomized Search CV</a:t>
            </a:r>
            <a:endParaRPr sz="2100" b="1">
              <a:solidFill>
                <a:srgbClr val="0F3FA8"/>
              </a:solidFill>
              <a:latin typeface="Montserrat"/>
              <a:ea typeface="Montserrat"/>
              <a:cs typeface="Montserrat"/>
              <a:sym typeface="Montserrat"/>
            </a:endParaRPr>
          </a:p>
        </p:txBody>
      </p:sp>
      <p:sp>
        <p:nvSpPr>
          <p:cNvPr id="240" name="Google Shape;240;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
        <p:nvSpPr>
          <p:cNvPr id="241" name="Google Shape;241;p44"/>
          <p:cNvSpPr txBox="1"/>
          <p:nvPr/>
        </p:nvSpPr>
        <p:spPr>
          <a:xfrm>
            <a:off x="201817" y="660728"/>
            <a:ext cx="4880391"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chemeClr val="dk1"/>
                </a:solidFill>
                <a:latin typeface="Montserrat"/>
                <a:ea typeface="Montserrat"/>
                <a:cs typeface="Montserrat"/>
                <a:sym typeface="Montserrat"/>
              </a:rPr>
              <a:t>Procedure</a:t>
            </a:r>
            <a:r>
              <a:rPr lang="en" sz="1100" dirty="0">
                <a:solidFill>
                  <a:schemeClr val="dk1"/>
                </a:solidFill>
                <a:latin typeface="Montserrat"/>
                <a:ea typeface="Montserrat"/>
                <a:cs typeface="Montserrat"/>
                <a:sym typeface="Montserrat"/>
              </a:rPr>
              <a:t>:</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b="1" dirty="0">
                <a:solidFill>
                  <a:schemeClr val="dk1"/>
                </a:solidFill>
                <a:latin typeface="Montserrat"/>
                <a:ea typeface="Montserrat"/>
                <a:cs typeface="Montserrat"/>
                <a:sym typeface="Montserrat"/>
              </a:rPr>
              <a:t>Define Hyperparameter Distributions</a:t>
            </a:r>
            <a:r>
              <a:rPr lang="en" sz="1100" dirty="0">
                <a:solidFill>
                  <a:schemeClr val="dk1"/>
                </a:solidFill>
                <a:latin typeface="Montserrat"/>
                <a:ea typeface="Montserrat"/>
                <a:cs typeface="Montserrat"/>
                <a:sym typeface="Montserrat"/>
              </a:rPr>
              <a:t>: Specify the ranges or distributions for each hyperparameter you want to tune. For example:</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914400" lvl="1" indent="-317500" algn="l" rtl="0">
              <a:spcBef>
                <a:spcPts val="0"/>
              </a:spcBef>
              <a:spcAft>
                <a:spcPts val="0"/>
              </a:spcAft>
              <a:buClr>
                <a:schemeClr val="dk1"/>
              </a:buClr>
              <a:buSzPts val="1400"/>
              <a:buFont typeface="Montserrat"/>
              <a:buChar char="○"/>
            </a:pPr>
            <a:r>
              <a:rPr lang="en" sz="1100" dirty="0">
                <a:solidFill>
                  <a:schemeClr val="dk1"/>
                </a:solidFill>
                <a:latin typeface="Montserrat"/>
                <a:ea typeface="Montserrat"/>
                <a:cs typeface="Montserrat"/>
                <a:sym typeface="Montserrat"/>
              </a:rPr>
              <a:t>For the maximum depth of Decision Tree, you could use values like [5, 10, 15].</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b="1" dirty="0">
                <a:solidFill>
                  <a:schemeClr val="dk1"/>
                </a:solidFill>
                <a:latin typeface="Montserrat"/>
                <a:ea typeface="Montserrat"/>
                <a:cs typeface="Montserrat"/>
                <a:sym typeface="Montserrat"/>
              </a:rPr>
              <a:t>Set Number of Iterations</a:t>
            </a:r>
            <a:r>
              <a:rPr lang="en" sz="1100" dirty="0">
                <a:solidFill>
                  <a:schemeClr val="dk1"/>
                </a:solidFill>
                <a:latin typeface="Montserrat"/>
                <a:ea typeface="Montserrat"/>
                <a:cs typeface="Montserrat"/>
                <a:sym typeface="Montserrat"/>
              </a:rPr>
              <a:t>: Determine how many random combinations of hyperparameters to evaluate.</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b="1" dirty="0">
                <a:solidFill>
                  <a:schemeClr val="dk1"/>
                </a:solidFill>
                <a:latin typeface="Montserrat"/>
                <a:ea typeface="Montserrat"/>
                <a:cs typeface="Montserrat"/>
                <a:sym typeface="Montserrat"/>
              </a:rPr>
              <a:t>Randomly Sample Combinations</a:t>
            </a:r>
            <a:r>
              <a:rPr lang="en" sz="1100" dirty="0">
                <a:solidFill>
                  <a:schemeClr val="dk1"/>
                </a:solidFill>
                <a:latin typeface="Montserrat"/>
                <a:ea typeface="Montserrat"/>
                <a:cs typeface="Montserrat"/>
                <a:sym typeface="Montserrat"/>
              </a:rPr>
              <a:t>: Sample combinations from the defined distributions and evaluate model performance using cross-validation.</a:t>
            </a:r>
            <a:br>
              <a:rPr lang="en" sz="1100" dirty="0">
                <a:solidFill>
                  <a:schemeClr val="dk1"/>
                </a:solidFill>
                <a:latin typeface="Montserrat"/>
                <a:ea typeface="Montserrat"/>
                <a:cs typeface="Montserrat"/>
                <a:sym typeface="Montserrat"/>
              </a:rPr>
            </a:br>
            <a:endParaRPr sz="1100"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sz="1100" b="1" dirty="0">
                <a:solidFill>
                  <a:schemeClr val="dk1"/>
                </a:solidFill>
                <a:latin typeface="Montserrat"/>
                <a:ea typeface="Montserrat"/>
                <a:cs typeface="Montserrat"/>
                <a:sym typeface="Montserrat"/>
              </a:rPr>
              <a:t>Select Best Hyperparameters</a:t>
            </a:r>
            <a:r>
              <a:rPr lang="en" sz="1100" dirty="0">
                <a:solidFill>
                  <a:schemeClr val="dk1"/>
                </a:solidFill>
                <a:latin typeface="Montserrat"/>
                <a:ea typeface="Montserrat"/>
                <a:cs typeface="Montserrat"/>
                <a:sym typeface="Montserrat"/>
              </a:rPr>
              <a:t>: After evaluating the specified number of combinations, select the hyperparameters that yield the best performance based on your chosen evaluation metrics.</a:t>
            </a:r>
            <a:endParaRPr sz="1100" dirty="0">
              <a:solidFill>
                <a:schemeClr val="dk1"/>
              </a:solidFill>
              <a:latin typeface="Montserrat"/>
              <a:ea typeface="Montserrat"/>
              <a:cs typeface="Montserrat"/>
              <a:sym typeface="Montserrat"/>
            </a:endParaRPr>
          </a:p>
        </p:txBody>
      </p:sp>
      <p:sp>
        <p:nvSpPr>
          <p:cNvPr id="6" name="TextBox 5">
            <a:extLst>
              <a:ext uri="{FF2B5EF4-FFF2-40B4-BE49-F238E27FC236}">
                <a16:creationId xmlns:a16="http://schemas.microsoft.com/office/drawing/2014/main" id="{52AF01C7-79DA-4889-8D3F-9F0805CA3C3F}"/>
              </a:ext>
            </a:extLst>
          </p:cNvPr>
          <p:cNvSpPr txBox="1"/>
          <p:nvPr/>
        </p:nvSpPr>
        <p:spPr>
          <a:xfrm>
            <a:off x="5897217" y="658988"/>
            <a:ext cx="3123941" cy="2631490"/>
          </a:xfrm>
          <a:prstGeom prst="rect">
            <a:avLst/>
          </a:prstGeom>
          <a:noFill/>
        </p:spPr>
        <p:txBody>
          <a:bodyPr wrap="square">
            <a:spAutoFit/>
          </a:bodyPr>
          <a:lstStyle/>
          <a:p>
            <a:r>
              <a:rPr lang="en-US" sz="1100" dirty="0" err="1"/>
              <a:t>param_dist</a:t>
            </a:r>
            <a:r>
              <a:rPr lang="en-US" sz="1100" dirty="0"/>
              <a:t> = {</a:t>
            </a:r>
          </a:p>
          <a:p>
            <a:r>
              <a:rPr lang="en-US" sz="1100" dirty="0"/>
              <a:t>    '</a:t>
            </a:r>
            <a:r>
              <a:rPr lang="en-US" sz="1100" dirty="0" err="1"/>
              <a:t>n_estimators</a:t>
            </a:r>
            <a:r>
              <a:rPr lang="en-US" sz="1100" dirty="0"/>
              <a:t>': </a:t>
            </a:r>
            <a:r>
              <a:rPr lang="en-US" sz="1100" dirty="0" err="1"/>
              <a:t>randint</a:t>
            </a:r>
            <a:r>
              <a:rPr lang="en-US" sz="1100" dirty="0"/>
              <a:t>(50, 300),</a:t>
            </a:r>
          </a:p>
          <a:p>
            <a:r>
              <a:rPr lang="en-US" sz="1100" dirty="0"/>
              <a:t>    '</a:t>
            </a:r>
            <a:r>
              <a:rPr lang="en-US" sz="1100" dirty="0" err="1"/>
              <a:t>max_depth</a:t>
            </a:r>
            <a:r>
              <a:rPr lang="en-US" sz="1100" dirty="0"/>
              <a:t>': </a:t>
            </a:r>
            <a:r>
              <a:rPr lang="en-US" sz="1100" dirty="0" err="1"/>
              <a:t>randint</a:t>
            </a:r>
            <a:r>
              <a:rPr lang="en-US" sz="1100" dirty="0"/>
              <a:t>(3, 20),</a:t>
            </a:r>
          </a:p>
          <a:p>
            <a:r>
              <a:rPr lang="en-US" sz="1100" dirty="0"/>
              <a:t>    '</a:t>
            </a:r>
            <a:r>
              <a:rPr lang="en-US" sz="1100" dirty="0" err="1"/>
              <a:t>min_samples_split</a:t>
            </a:r>
            <a:r>
              <a:rPr lang="en-US" sz="1100" dirty="0"/>
              <a:t>': </a:t>
            </a:r>
            <a:r>
              <a:rPr lang="en-US" sz="1100" dirty="0" err="1"/>
              <a:t>randint</a:t>
            </a:r>
            <a:r>
              <a:rPr lang="en-US" sz="1100" dirty="0"/>
              <a:t>(2, 10)</a:t>
            </a:r>
          </a:p>
          <a:p>
            <a:r>
              <a:rPr lang="en-US" sz="1100" dirty="0"/>
              <a:t>}</a:t>
            </a:r>
          </a:p>
          <a:p>
            <a:endParaRPr lang="en-US" sz="1100" dirty="0"/>
          </a:p>
          <a:p>
            <a:r>
              <a:rPr lang="en-US" sz="1100" dirty="0" err="1"/>
              <a:t>random_search</a:t>
            </a:r>
            <a:r>
              <a:rPr lang="en-US" sz="1100" dirty="0"/>
              <a:t> = </a:t>
            </a:r>
            <a:r>
              <a:rPr lang="en-US" sz="1100" dirty="0" err="1"/>
              <a:t>RandomizedSearchCV</a:t>
            </a:r>
            <a:r>
              <a:rPr lang="en-US" sz="1100" dirty="0"/>
              <a:t>(</a:t>
            </a:r>
          </a:p>
          <a:p>
            <a:r>
              <a:rPr lang="en-US" sz="1100" dirty="0"/>
              <a:t>    estimator=model,</a:t>
            </a:r>
          </a:p>
          <a:p>
            <a:r>
              <a:rPr lang="en-US" sz="1100" dirty="0"/>
              <a:t>    </a:t>
            </a:r>
            <a:r>
              <a:rPr lang="en-US" sz="1100" dirty="0" err="1"/>
              <a:t>param_distributions</a:t>
            </a:r>
            <a:r>
              <a:rPr lang="en-US" sz="1100" dirty="0"/>
              <a:t>=</a:t>
            </a:r>
            <a:r>
              <a:rPr lang="en-US" sz="1100" dirty="0" err="1"/>
              <a:t>param_dist</a:t>
            </a:r>
            <a:r>
              <a:rPr lang="en-US" sz="1100" dirty="0"/>
              <a:t>,</a:t>
            </a:r>
          </a:p>
          <a:p>
            <a:r>
              <a:rPr lang="en-US" sz="1100" dirty="0"/>
              <a:t>    </a:t>
            </a:r>
            <a:r>
              <a:rPr lang="en-US" sz="1100" dirty="0" err="1"/>
              <a:t>n_iter</a:t>
            </a:r>
            <a:r>
              <a:rPr lang="en-US" sz="1100" dirty="0"/>
              <a:t>=20,</a:t>
            </a:r>
          </a:p>
          <a:p>
            <a:r>
              <a:rPr lang="en-US" sz="1100" dirty="0"/>
              <a:t>    cv=5,</a:t>
            </a:r>
          </a:p>
          <a:p>
            <a:r>
              <a:rPr lang="en-US" sz="1100" dirty="0"/>
              <a:t>    scoring='</a:t>
            </a:r>
            <a:r>
              <a:rPr lang="en-US" sz="1100" dirty="0" err="1"/>
              <a:t>roc_auc</a:t>
            </a:r>
            <a:r>
              <a:rPr lang="en-US" sz="1100" dirty="0"/>
              <a:t>',</a:t>
            </a:r>
          </a:p>
          <a:p>
            <a:r>
              <a:rPr lang="en-US" sz="1100" dirty="0"/>
              <a:t>    </a:t>
            </a:r>
            <a:r>
              <a:rPr lang="en-US" sz="1100" dirty="0" err="1"/>
              <a:t>random_state</a:t>
            </a:r>
            <a:r>
              <a:rPr lang="en-US" sz="1100" dirty="0"/>
              <a:t>=42,</a:t>
            </a:r>
          </a:p>
          <a:p>
            <a:r>
              <a:rPr lang="en-US" sz="1100" dirty="0"/>
              <a:t>    </a:t>
            </a:r>
            <a:r>
              <a:rPr lang="en-US" sz="1100" dirty="0" err="1"/>
              <a:t>n_jobs</a:t>
            </a:r>
            <a:r>
              <a:rPr lang="en-US" sz="1100" dirty="0"/>
              <a:t>=-1</a:t>
            </a:r>
          </a:p>
          <a:p>
            <a:r>
              <a:rPr lang="en-US" sz="11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5"/>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Randomized Search CV</a:t>
            </a:r>
            <a:endParaRPr sz="2100" b="1">
              <a:solidFill>
                <a:srgbClr val="0F3FA8"/>
              </a:solidFill>
              <a:latin typeface="Montserrat"/>
              <a:ea typeface="Montserrat"/>
              <a:cs typeface="Montserrat"/>
              <a:sym typeface="Montserrat"/>
            </a:endParaRPr>
          </a:p>
        </p:txBody>
      </p:sp>
      <p:sp>
        <p:nvSpPr>
          <p:cNvPr id="247" name="Google Shape;247;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
        <p:nvSpPr>
          <p:cNvPr id="248" name="Google Shape;248;p45"/>
          <p:cNvSpPr txBox="1"/>
          <p:nvPr/>
        </p:nvSpPr>
        <p:spPr>
          <a:xfrm>
            <a:off x="400600" y="1040075"/>
            <a:ext cx="8232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Advantages</a:t>
            </a:r>
            <a:r>
              <a:rPr lang="en">
                <a:solidFill>
                  <a:schemeClr val="dk1"/>
                </a:solidFill>
                <a:latin typeface="Montserrat"/>
                <a:ea typeface="Montserrat"/>
                <a:cs typeface="Montserrat"/>
                <a:sym typeface="Montserrat"/>
              </a:rPr>
              <a:t>:</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Efficiency</a:t>
            </a:r>
            <a:r>
              <a:rPr lang="en">
                <a:solidFill>
                  <a:schemeClr val="dk1"/>
                </a:solidFill>
                <a:latin typeface="Montserrat"/>
                <a:ea typeface="Montserrat"/>
                <a:cs typeface="Montserrat"/>
                <a:sym typeface="Montserrat"/>
              </a:rPr>
              <a:t>: Can find good hyperparameter settings faster than grid search, especially in high-dimensional spaces.</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Exploration of Hyperparameter Space</a:t>
            </a:r>
            <a:r>
              <a:rPr lang="en">
                <a:solidFill>
                  <a:schemeClr val="dk1"/>
                </a:solidFill>
                <a:latin typeface="Montserrat"/>
                <a:ea typeface="Montserrat"/>
                <a:cs typeface="Montserrat"/>
                <a:sym typeface="Montserrat"/>
              </a:rPr>
              <a:t>: Allows for a more diverse exploration of hyperparameters by sampling from distributions.</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Less Prone to Overfitting</a:t>
            </a:r>
            <a:r>
              <a:rPr lang="en">
                <a:solidFill>
                  <a:schemeClr val="dk1"/>
                </a:solidFill>
                <a:latin typeface="Montserrat"/>
                <a:ea typeface="Montserrat"/>
                <a:cs typeface="Montserrat"/>
                <a:sym typeface="Montserrat"/>
              </a:rPr>
              <a:t>: By evaluating fewer combinations, it reduces the risk of overfitting to the validation set.</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b="1">
                <a:solidFill>
                  <a:schemeClr val="dk1"/>
                </a:solidFill>
                <a:latin typeface="Montserrat"/>
                <a:ea typeface="Montserrat"/>
                <a:cs typeface="Montserrat"/>
                <a:sym typeface="Montserrat"/>
              </a:rPr>
              <a:t>Disadvantages</a:t>
            </a:r>
            <a:r>
              <a:rPr lang="en">
                <a:solidFill>
                  <a:schemeClr val="dk1"/>
                </a:solidFill>
                <a:latin typeface="Montserrat"/>
                <a:ea typeface="Montserrat"/>
                <a:cs typeface="Montserrat"/>
                <a:sym typeface="Montserrat"/>
              </a:rPr>
              <a:t>:</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Stochastic Nature</a:t>
            </a:r>
            <a:r>
              <a:rPr lang="en">
                <a:solidFill>
                  <a:schemeClr val="dk1"/>
                </a:solidFill>
                <a:latin typeface="Montserrat"/>
                <a:ea typeface="Montserrat"/>
                <a:cs typeface="Montserrat"/>
                <a:sym typeface="Montserrat"/>
              </a:rPr>
              <a:t>: Results can vary between runs since it relies on random sampling, which might lead to inconsistencies in performance evaluation.</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May Miss Optimal Parameters</a:t>
            </a:r>
            <a:r>
              <a:rPr lang="en">
                <a:solidFill>
                  <a:schemeClr val="dk1"/>
                </a:solidFill>
                <a:latin typeface="Montserrat"/>
                <a:ea typeface="Montserrat"/>
                <a:cs typeface="Montserrat"/>
                <a:sym typeface="Montserrat"/>
              </a:rPr>
              <a:t>: There is a chance of not finding the absolute best parameter settings because it doesn’t evaluate all combinations.</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The effectiveness depends on how well the user defines the distributions for the hyperparameters.</a:t>
            </a:r>
            <a:endParaRPr>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6"/>
          <p:cNvSpPr txBox="1"/>
          <p:nvPr/>
        </p:nvSpPr>
        <p:spPr>
          <a:xfrm>
            <a:off x="402281" y="197288"/>
            <a:ext cx="7815900" cy="4617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2100" b="1">
                <a:solidFill>
                  <a:srgbClr val="0F3FA8"/>
                </a:solidFill>
                <a:latin typeface="Montserrat"/>
                <a:ea typeface="Montserrat"/>
                <a:cs typeface="Montserrat"/>
                <a:sym typeface="Montserrat"/>
              </a:rPr>
              <a:t>Comparison</a:t>
            </a:r>
            <a:endParaRPr sz="2100" b="1">
              <a:solidFill>
                <a:srgbClr val="0F3FA8"/>
              </a:solidFill>
              <a:latin typeface="Montserrat"/>
              <a:ea typeface="Montserrat"/>
              <a:cs typeface="Montserrat"/>
              <a:sym typeface="Montserrat"/>
            </a:endParaRPr>
          </a:p>
        </p:txBody>
      </p:sp>
      <p:sp>
        <p:nvSpPr>
          <p:cNvPr id="254" name="Google Shape;25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graphicFrame>
        <p:nvGraphicFramePr>
          <p:cNvPr id="255" name="Google Shape;255;p46"/>
          <p:cNvGraphicFramePr/>
          <p:nvPr/>
        </p:nvGraphicFramePr>
        <p:xfrm>
          <a:off x="402288" y="983225"/>
          <a:ext cx="8328200" cy="3870750"/>
        </p:xfrm>
        <a:graphic>
          <a:graphicData uri="http://schemas.openxmlformats.org/drawingml/2006/table">
            <a:tbl>
              <a:tblPr>
                <a:noFill/>
                <a:tableStyleId>{3944FB2B-47BC-4725-A015-C765246035DD}</a:tableStyleId>
              </a:tblPr>
              <a:tblGrid>
                <a:gridCol w="2210850">
                  <a:extLst>
                    <a:ext uri="{9D8B030D-6E8A-4147-A177-3AD203B41FA5}">
                      <a16:colId xmlns:a16="http://schemas.microsoft.com/office/drawing/2014/main" val="20000"/>
                    </a:ext>
                  </a:extLst>
                </a:gridCol>
                <a:gridCol w="3142200">
                  <a:extLst>
                    <a:ext uri="{9D8B030D-6E8A-4147-A177-3AD203B41FA5}">
                      <a16:colId xmlns:a16="http://schemas.microsoft.com/office/drawing/2014/main" val="20001"/>
                    </a:ext>
                  </a:extLst>
                </a:gridCol>
                <a:gridCol w="297515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a:solidFill>
                            <a:schemeClr val="lt1"/>
                          </a:solidFill>
                          <a:latin typeface="Montserrat"/>
                          <a:ea typeface="Montserrat"/>
                          <a:cs typeface="Montserrat"/>
                          <a:sym typeface="Montserrat"/>
                        </a:rPr>
                        <a:t>Feature</a:t>
                      </a:r>
                      <a:endParaRPr b="1">
                        <a:solidFill>
                          <a:schemeClr val="lt1"/>
                        </a:solidFill>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0F3FA8"/>
                    </a:solidFill>
                  </a:tcPr>
                </a:tc>
                <a:tc>
                  <a:txBody>
                    <a:bodyPr/>
                    <a:lstStyle/>
                    <a:p>
                      <a:pPr marL="0" lvl="0" indent="0" algn="l" rtl="0">
                        <a:spcBef>
                          <a:spcPts val="0"/>
                        </a:spcBef>
                        <a:spcAft>
                          <a:spcPts val="0"/>
                        </a:spcAft>
                        <a:buNone/>
                      </a:pPr>
                      <a:r>
                        <a:rPr lang="en" b="1">
                          <a:solidFill>
                            <a:schemeClr val="lt1"/>
                          </a:solidFill>
                          <a:latin typeface="Montserrat"/>
                          <a:ea typeface="Montserrat"/>
                          <a:cs typeface="Montserrat"/>
                          <a:sym typeface="Montserrat"/>
                        </a:rPr>
                        <a:t>Grid Search CV</a:t>
                      </a:r>
                      <a:endParaRPr b="1">
                        <a:solidFill>
                          <a:schemeClr val="lt1"/>
                        </a:solidFill>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0F3FA8"/>
                    </a:solidFill>
                  </a:tcPr>
                </a:tc>
                <a:tc>
                  <a:txBody>
                    <a:bodyPr/>
                    <a:lstStyle/>
                    <a:p>
                      <a:pPr marL="0" lvl="0" indent="0" algn="l" rtl="0">
                        <a:spcBef>
                          <a:spcPts val="0"/>
                        </a:spcBef>
                        <a:spcAft>
                          <a:spcPts val="0"/>
                        </a:spcAft>
                        <a:buNone/>
                      </a:pPr>
                      <a:r>
                        <a:rPr lang="en" b="1">
                          <a:solidFill>
                            <a:schemeClr val="lt1"/>
                          </a:solidFill>
                          <a:latin typeface="Montserrat"/>
                          <a:ea typeface="Montserrat"/>
                          <a:cs typeface="Montserrat"/>
                          <a:sym typeface="Montserrat"/>
                        </a:rPr>
                        <a:t>Randomized Search CV</a:t>
                      </a:r>
                      <a:endParaRPr b="1">
                        <a:solidFill>
                          <a:schemeClr val="lt1"/>
                        </a:solidFill>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0F3FA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Search Method</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Exhaustive search over specified parameter values.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Random search over specified parameter distributions.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Parameter Combinations</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Evaluates all combinations of parameters.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Evaluates a fixed number of random combinations.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Time Complexity</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High; can be computationally expensive.</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Lower; faster as it samples a subset of combinations.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Optimality</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Finds the optimal parameters among all options.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May not find the absolute best parameters, but good enough.</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Control Over Evaluation</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No control over the number of combinations evaluated.</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solidFill>
                            <a:srgbClr val="000000"/>
                          </a:solidFill>
                          <a:latin typeface="Montserrat Medium"/>
                          <a:ea typeface="Montserrat Medium"/>
                          <a:cs typeface="Montserrat Medium"/>
                          <a:sym typeface="Montserrat Medium"/>
                        </a:rPr>
                        <a:t>Control over the number of iterations.</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200" b="1">
                          <a:latin typeface="Montserrat"/>
                          <a:ea typeface="Montserrat"/>
                          <a:cs typeface="Montserrat"/>
                          <a:sym typeface="Montserrat"/>
                        </a:rPr>
                        <a:t>Use Case</a:t>
                      </a:r>
                      <a:endParaRPr sz="1200" b="1">
                        <a:latin typeface="Montserrat"/>
                        <a:ea typeface="Montserrat"/>
                        <a:cs typeface="Montserrat"/>
                        <a:sym typeface="Montserrat"/>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Best when the parameter space is small.</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 sz="1200">
                          <a:latin typeface="Montserrat Medium"/>
                          <a:ea typeface="Montserrat Medium"/>
                          <a:cs typeface="Montserrat Medium"/>
                          <a:sym typeface="Montserrat Medium"/>
                        </a:rPr>
                        <a:t>Suitable for large parameter spaces or when computation time is a concern.</a:t>
                      </a:r>
                      <a:endParaRPr sz="1200">
                        <a:latin typeface="Montserrat Medium"/>
                        <a:ea typeface="Montserrat Medium"/>
                        <a:cs typeface="Montserrat Medium"/>
                        <a:sym typeface="Montserrat Medium"/>
                      </a:endParaRPr>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FEF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0281A4-BB03-4F0B-9B55-780A3C20B712}"/>
              </a:ext>
            </a:extLst>
          </p:cNvPr>
          <p:cNvSpPr>
            <a:spLocks noChangeArrowheads="1"/>
          </p:cNvSpPr>
          <p:nvPr/>
        </p:nvSpPr>
        <p:spPr bwMode="auto">
          <a:xfrm>
            <a:off x="171450" y="154455"/>
            <a:ext cx="820609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difference: </a:t>
            </a:r>
            <a:r>
              <a:rPr kumimoji="0" lang="en-US" altLang="en-US" sz="12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parameters are explored</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Tries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possible combinations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Exhaustive and deterministic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you had: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max_depth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 values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n_estimators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190 values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max_features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 values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min_samples_split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9 values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min_samples_leaf</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values bootstrap = 2 values criterion = 2 values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65E805A-3803-421D-80FD-C980E36B133D}"/>
              </a:ext>
            </a:extLst>
          </p:cNvPr>
          <p:cNvSpPr>
            <a:spLocks noChangeArrowheads="1"/>
          </p:cNvSpPr>
          <p:nvPr/>
        </p:nvSpPr>
        <p:spPr bwMode="auto">
          <a:xfrm>
            <a:off x="241300" y="1803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Total combinations:</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2 × 190 × 10 × 9 × 10 × 2 × 2 = 136,800 models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90D45095-5DAF-4435-9422-4ABC1ACD3352}"/>
              </a:ext>
            </a:extLst>
          </p:cNvPr>
          <p:cNvSpPr>
            <a:spLocks noChangeArrowheads="1"/>
          </p:cNvSpPr>
          <p:nvPr/>
        </p:nvSpPr>
        <p:spPr bwMode="auto">
          <a:xfrm>
            <a:off x="304800" y="2663220"/>
            <a:ext cx="76136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Randomly samples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parameter combinations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try all combinations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Much faster for large search spaces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default: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n_iter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Only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random combinations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tried (not 136,800)</a:t>
            </a:r>
          </a:p>
        </p:txBody>
      </p:sp>
      <p:sp>
        <p:nvSpPr>
          <p:cNvPr id="8" name="Rectangle 7">
            <a:extLst>
              <a:ext uri="{FF2B5EF4-FFF2-40B4-BE49-F238E27FC236}">
                <a16:creationId xmlns:a16="http://schemas.microsoft.com/office/drawing/2014/main" id="{C17F3D53-FF37-4DEA-B088-171F4D49B3D8}"/>
              </a:ext>
            </a:extLst>
          </p:cNvPr>
          <p:cNvSpPr>
            <a:spLocks noChangeArrowheads="1"/>
          </p:cNvSpPr>
          <p:nvPr/>
        </p:nvSpPr>
        <p:spPr bwMode="auto">
          <a:xfrm>
            <a:off x="4274496" y="2724775"/>
            <a:ext cx="497015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means: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will </a:t>
            </a: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randomly pick</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combinations from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param_dist</a:t>
            </a: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iteration samples: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random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max_depth</a:t>
            </a: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random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n_estimators</a:t>
            </a: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random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max_features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evaluates only </a:t>
            </a:r>
            <a:r>
              <a:rPr kumimoji="0" lang="en-US" altLang="en-US" sz="11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n_iter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combinations using CV</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221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9A05AB-6688-4521-B8C8-ACED571EEF5A}"/>
              </a:ext>
            </a:extLst>
          </p:cNvPr>
          <p:cNvSpPr>
            <a:spLocks noChangeArrowheads="1"/>
          </p:cNvSpPr>
          <p:nvPr/>
        </p:nvSpPr>
        <p:spPr bwMode="auto">
          <a:xfrm>
            <a:off x="120650" y="398650"/>
            <a:ext cx="8636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highlight>
                  <a:srgbClr val="FFFF00"/>
                </a:highlight>
                <a:latin typeface="Arial" panose="020B0604020202020204" pitchFamily="34" charset="0"/>
              </a:rPr>
              <a:t>Key factors that determine the optimal k</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Arial" panose="020B0604020202020204" pitchFamily="34" charset="0"/>
              </a:rPr>
              <a:t>Dataset size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Small datasets</a:t>
            </a:r>
            <a:r>
              <a:rPr kumimoji="0" lang="en-US" altLang="en-US" sz="1200" b="0" i="0" u="none" strike="noStrike" cap="none" normalizeH="0" baseline="0" dirty="0">
                <a:ln>
                  <a:noFill/>
                </a:ln>
                <a:solidFill>
                  <a:schemeClr val="tx1"/>
                </a:solidFill>
                <a:effectLst/>
                <a:latin typeface="Arial" panose="020B0604020202020204" pitchFamily="34" charset="0"/>
              </a:rPr>
              <a:t> → use </a:t>
            </a:r>
            <a:r>
              <a:rPr kumimoji="0" lang="en-US" altLang="en-US" sz="1200" b="1" i="0" u="none" strike="noStrike" cap="none" normalizeH="0" baseline="0" dirty="0">
                <a:ln>
                  <a:noFill/>
                </a:ln>
                <a:solidFill>
                  <a:schemeClr val="tx1"/>
                </a:solidFill>
                <a:effectLst/>
                <a:latin typeface="Arial" panose="020B0604020202020204" pitchFamily="34" charset="0"/>
              </a:rPr>
              <a:t>larger k</a:t>
            </a:r>
            <a:r>
              <a:rPr kumimoji="0" lang="en-US" altLang="en-US" sz="1200" b="0" i="0" u="none" strike="noStrike" cap="none" normalizeH="0" baseline="0" dirty="0">
                <a:ln>
                  <a:noFill/>
                </a:ln>
                <a:solidFill>
                  <a:schemeClr val="tx1"/>
                </a:solidFill>
                <a:effectLst/>
                <a:latin typeface="Arial" panose="020B0604020202020204" pitchFamily="34" charset="0"/>
              </a:rPr>
              <a:t> (e.g., 10 or even Leave-One-Out) to reduce bias.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Large datasets</a:t>
            </a:r>
            <a:r>
              <a:rPr kumimoji="0" lang="en-US" altLang="en-US" sz="1200" b="0" i="0" u="none" strike="noStrike" cap="none" normalizeH="0" baseline="0" dirty="0">
                <a:ln>
                  <a:noFill/>
                </a:ln>
                <a:solidFill>
                  <a:schemeClr val="tx1"/>
                </a:solidFill>
                <a:effectLst/>
                <a:latin typeface="Arial" panose="020B0604020202020204" pitchFamily="34" charset="0"/>
              </a:rPr>
              <a:t> → </a:t>
            </a:r>
            <a:r>
              <a:rPr kumimoji="0" lang="en-US" altLang="en-US" sz="1200" b="1" i="0" u="none" strike="noStrike" cap="none" normalizeH="0" baseline="0" dirty="0">
                <a:ln>
                  <a:noFill/>
                </a:ln>
                <a:solidFill>
                  <a:schemeClr val="tx1"/>
                </a:solidFill>
                <a:effectLst/>
                <a:latin typeface="Arial" panose="020B0604020202020204" pitchFamily="34" charset="0"/>
              </a:rPr>
              <a:t>smaller k</a:t>
            </a:r>
            <a:r>
              <a:rPr kumimoji="0" lang="en-US" altLang="en-US" sz="1200" b="0" i="0" u="none" strike="noStrike" cap="none" normalizeH="0" baseline="0" dirty="0">
                <a:ln>
                  <a:noFill/>
                </a:ln>
                <a:solidFill>
                  <a:schemeClr val="tx1"/>
                </a:solidFill>
                <a:effectLst/>
                <a:latin typeface="Arial" panose="020B0604020202020204" pitchFamily="34" charset="0"/>
              </a:rPr>
              <a:t> (e.g., 5) is sufficient and faster.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1" i="0" u="none" strike="noStrike" cap="none" normalizeH="0" baseline="0" dirty="0">
                <a:ln>
                  <a:noFill/>
                </a:ln>
                <a:solidFill>
                  <a:schemeClr val="tx1"/>
                </a:solidFill>
                <a:effectLst/>
                <a:latin typeface="Arial" panose="020B0604020202020204" pitchFamily="34" charset="0"/>
              </a:rPr>
              <a:t>Bias–variance trade-off</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Small k (e.g., 3–5)</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Higher bias, lower variance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Faster computation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Large k (e.g., 10–LOOCV)</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Lower bias, higher variance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More computationally expensive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1" i="0" u="none" strike="noStrike" cap="none" normalizeH="0" baseline="0" dirty="0">
                <a:ln>
                  <a:noFill/>
                </a:ln>
                <a:solidFill>
                  <a:schemeClr val="tx1"/>
                </a:solidFill>
                <a:effectLst/>
                <a:latin typeface="Arial" panose="020B0604020202020204" pitchFamily="34" charset="0"/>
              </a:rPr>
              <a:t>Model complexity</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Complex / high-variance models</a:t>
            </a:r>
            <a:r>
              <a:rPr kumimoji="0" lang="en-US" altLang="en-US" sz="1200" b="0" i="0" u="none" strike="noStrike" cap="none" normalizeH="0" baseline="0" dirty="0">
                <a:ln>
                  <a:noFill/>
                </a:ln>
                <a:solidFill>
                  <a:schemeClr val="tx1"/>
                </a:solidFill>
                <a:effectLst/>
                <a:latin typeface="Arial" panose="020B0604020202020204" pitchFamily="34" charset="0"/>
              </a:rPr>
              <a:t> (e.g., decision trees, neural nets)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Prefer </a:t>
            </a:r>
            <a:r>
              <a:rPr kumimoji="0" lang="en-US" altLang="en-US" sz="1200" b="1" i="0" u="none" strike="noStrike" cap="none" normalizeH="0" baseline="0" dirty="0">
                <a:ln>
                  <a:noFill/>
                </a:ln>
                <a:solidFill>
                  <a:schemeClr val="tx1"/>
                </a:solidFill>
                <a:effectLst/>
                <a:latin typeface="Arial" panose="020B0604020202020204" pitchFamily="34" charset="0"/>
              </a:rPr>
              <a:t>k = 5 or 10</a:t>
            </a:r>
            <a:r>
              <a:rPr kumimoji="0" lang="en-US" altLang="en-US" sz="1200" b="0" i="0" u="none" strike="noStrike" cap="none" normalizeH="0" baseline="0" dirty="0">
                <a:ln>
                  <a:noFill/>
                </a:ln>
                <a:solidFill>
                  <a:schemeClr val="tx1"/>
                </a:solidFill>
                <a:effectLst/>
                <a:latin typeface="Arial" panose="020B0604020202020204" pitchFamily="34" charset="0"/>
              </a:rPr>
              <a:t> to avoid unstable estimates.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Simple models</a:t>
            </a:r>
            <a:r>
              <a:rPr kumimoji="0" lang="en-US" altLang="en-US" sz="1200" b="0" i="0" u="none" strike="noStrike" cap="none" normalizeH="0" baseline="0" dirty="0">
                <a:ln>
                  <a:noFill/>
                </a:ln>
                <a:solidFill>
                  <a:schemeClr val="tx1"/>
                </a:solidFill>
                <a:effectLst/>
                <a:latin typeface="Arial" panose="020B0604020202020204" pitchFamily="34" charset="0"/>
              </a:rPr>
              <a:t> (e.g., linear regression)</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Larger k is acceptable.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1" i="0" u="none" strike="noStrike" cap="none" normalizeH="0" baseline="0" dirty="0">
                <a:ln>
                  <a:noFill/>
                </a:ln>
                <a:solidFill>
                  <a:schemeClr val="tx1"/>
                </a:solidFill>
                <a:effectLst/>
                <a:latin typeface="Arial" panose="020B0604020202020204" pitchFamily="34" charset="0"/>
              </a:rPr>
              <a:t>Computational cost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Training time grows </a:t>
            </a:r>
            <a:r>
              <a:rPr kumimoji="0" lang="en-US" altLang="en-US" sz="1200" b="1" i="0" u="none" strike="noStrike" cap="none" normalizeH="0" baseline="0" dirty="0">
                <a:ln>
                  <a:noFill/>
                </a:ln>
                <a:solidFill>
                  <a:schemeClr val="tx1"/>
                </a:solidFill>
                <a:effectLst/>
                <a:latin typeface="Arial" panose="020B0604020202020204" pitchFamily="34" charset="0"/>
              </a:rPr>
              <a:t>linearly with k</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If model training is expensive, use </a:t>
            </a:r>
            <a:r>
              <a:rPr kumimoji="0" lang="en-US" altLang="en-US" sz="1200" b="1" i="0" u="none" strike="noStrike" cap="none" normalizeH="0" baseline="0" dirty="0">
                <a:ln>
                  <a:noFill/>
                </a:ln>
                <a:solidFill>
                  <a:schemeClr val="tx1"/>
                </a:solidFill>
                <a:effectLst/>
                <a:latin typeface="Arial" panose="020B0604020202020204" pitchFamily="34" charset="0"/>
              </a:rPr>
              <a:t>k = 5</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1" i="0" u="none" strike="noStrike" cap="none" normalizeH="0" baseline="0" dirty="0">
                <a:ln>
                  <a:noFill/>
                </a:ln>
                <a:solidFill>
                  <a:schemeClr val="tx1"/>
                </a:solidFill>
                <a:effectLst/>
                <a:latin typeface="Arial" panose="020B0604020202020204" pitchFamily="34" charset="0"/>
              </a:rPr>
              <a:t>Class imbalance (classification problems)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 </a:t>
            </a:r>
            <a:r>
              <a:rPr kumimoji="0" lang="en-US" altLang="en-US" sz="1200" b="1" i="0" u="none" strike="noStrike" cap="none" normalizeH="0" baseline="0" dirty="0">
                <a:ln>
                  <a:noFill/>
                </a:ln>
                <a:solidFill>
                  <a:schemeClr val="tx1"/>
                </a:solidFill>
                <a:effectLst/>
                <a:latin typeface="Arial" panose="020B0604020202020204" pitchFamily="34" charset="0"/>
              </a:rPr>
              <a:t>Stratified k-fold</a:t>
            </a:r>
            <a:r>
              <a:rPr kumimoji="0" lang="en-US" altLang="en-US" sz="1200" b="0" i="0" u="none" strike="noStrike" cap="none" normalizeH="0" baseline="0" dirty="0">
                <a:ln>
                  <a:noFill/>
                </a:ln>
                <a:solidFill>
                  <a:schemeClr val="tx1"/>
                </a:solidFill>
                <a:effectLst/>
                <a:latin typeface="Arial" panose="020B0604020202020204" pitchFamily="34" charset="0"/>
              </a:rPr>
              <a:t> so each fold preserves class proportions.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k must be large enough to keep minority classes represented in each fold.</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1" i="0" u="none" strike="noStrike" cap="none" normalizeH="0" baseline="0" dirty="0">
                <a:ln>
                  <a:noFill/>
                </a:ln>
                <a:solidFill>
                  <a:schemeClr val="tx1"/>
                </a:solidFill>
                <a:effectLst/>
                <a:latin typeface="Arial" panose="020B0604020202020204" pitchFamily="34" charset="0"/>
              </a:rPr>
              <a:t>Data variability / noise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Noisy data benefits from </a:t>
            </a:r>
            <a:r>
              <a:rPr kumimoji="0" lang="en-US" altLang="en-US" sz="1200" b="1" i="0" u="none" strike="noStrike" cap="none" normalizeH="0" baseline="0" dirty="0">
                <a:ln>
                  <a:noFill/>
                </a:ln>
                <a:solidFill>
                  <a:schemeClr val="tx1"/>
                </a:solidFill>
                <a:effectLst/>
                <a:latin typeface="Arial" panose="020B0604020202020204" pitchFamily="34" charset="0"/>
              </a:rPr>
              <a:t>moderate k (5–10)</a:t>
            </a:r>
            <a:r>
              <a:rPr kumimoji="0" lang="en-US" altLang="en-US" sz="1200" b="0" i="0" u="none" strike="noStrike" cap="none" normalizeH="0" baseline="0" dirty="0">
                <a:ln>
                  <a:noFill/>
                </a:ln>
                <a:solidFill>
                  <a:schemeClr val="tx1"/>
                </a:solidFill>
                <a:effectLst/>
                <a:latin typeface="Arial" panose="020B0604020202020204" pitchFamily="34" charset="0"/>
              </a:rPr>
              <a:t> to avoid overfitting to small validation sets.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01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B5A223-6BC2-4488-AB34-35B72E51869E}"/>
              </a:ext>
            </a:extLst>
          </p:cNvPr>
          <p:cNvSpPr txBox="1"/>
          <p:nvPr/>
        </p:nvSpPr>
        <p:spPr>
          <a:xfrm>
            <a:off x="215900" y="709508"/>
            <a:ext cx="6426200"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highlight>
                  <a:srgbClr val="FFFF00"/>
                </a:highlight>
                <a:latin typeface="Arial" panose="020B0604020202020204" pitchFamily="34" charset="0"/>
              </a:rPr>
              <a:t>Common best practices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k = 5 or 10</a:t>
            </a:r>
            <a:r>
              <a:rPr kumimoji="0" lang="en-US" altLang="en-US" sz="1200" b="0" i="0" u="none" strike="noStrike" cap="none" normalizeH="0" baseline="0" dirty="0">
                <a:ln>
                  <a:noFill/>
                </a:ln>
                <a:solidFill>
                  <a:schemeClr val="tx1"/>
                </a:solidFill>
                <a:effectLst/>
                <a:latin typeface="Arial" panose="020B0604020202020204" pitchFamily="34" charset="0"/>
              </a:rPr>
              <a:t> → Industry standard, good balance of bias, variance, and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k = 10</a:t>
            </a:r>
            <a:r>
              <a:rPr kumimoji="0" lang="en-US" altLang="en-US" sz="1200" b="0" i="0" u="none" strike="noStrike" cap="none" normalizeH="0" baseline="0" dirty="0">
                <a:ln>
                  <a:noFill/>
                </a:ln>
                <a:solidFill>
                  <a:schemeClr val="tx1"/>
                </a:solidFill>
                <a:effectLst/>
                <a:latin typeface="Arial" panose="020B0604020202020204" pitchFamily="34" charset="0"/>
              </a:rPr>
              <a:t> → Preferred for academic benchmarks.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k = n (LOOCV)</a:t>
            </a:r>
            <a:r>
              <a:rPr kumimoji="0" lang="en-US" altLang="en-US" sz="1200" b="0" i="0" u="none" strike="noStrike" cap="none" normalizeH="0" baseline="0" dirty="0">
                <a:ln>
                  <a:noFill/>
                </a:ln>
                <a:solidFill>
                  <a:schemeClr val="tx1"/>
                </a:solidFill>
                <a:effectLst/>
                <a:latin typeface="Arial" panose="020B0604020202020204" pitchFamily="34" charset="0"/>
              </a:rPr>
              <a:t> → Only when data is very small and model is fast.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Rule of thumb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If unsure, start with </a:t>
            </a:r>
            <a:r>
              <a:rPr kumimoji="0" lang="en-US" altLang="en-US" sz="1200" b="1" i="0" u="none" strike="noStrike" cap="none" normalizeH="0" baseline="0" dirty="0">
                <a:ln>
                  <a:noFill/>
                </a:ln>
                <a:solidFill>
                  <a:schemeClr val="tx1"/>
                </a:solidFill>
                <a:effectLst/>
                <a:latin typeface="Arial" panose="020B0604020202020204" pitchFamily="34" charset="0"/>
              </a:rPr>
              <a:t>k = 5</a:t>
            </a:r>
            <a:r>
              <a:rPr kumimoji="0" lang="en-US" altLang="en-US" sz="1200" b="0" i="0" u="none" strike="noStrike" cap="none" normalizeH="0" baseline="0" dirty="0">
                <a:ln>
                  <a:noFill/>
                </a:ln>
                <a:solidFill>
                  <a:schemeClr val="tx1"/>
                </a:solidFill>
                <a:effectLst/>
                <a:latin typeface="Arial" panose="020B0604020202020204" pitchFamily="34" charset="0"/>
              </a:rPr>
              <a:t>, and compare results with </a:t>
            </a:r>
            <a:r>
              <a:rPr kumimoji="0" lang="en-US" altLang="en-US" sz="1200" b="1" i="0" u="none" strike="noStrike" cap="none" normalizeH="0" baseline="0" dirty="0">
                <a:ln>
                  <a:noFill/>
                </a:ln>
                <a:solidFill>
                  <a:schemeClr val="tx1"/>
                </a:solidFill>
                <a:effectLst/>
                <a:latin typeface="Arial" panose="020B0604020202020204" pitchFamily="34" charset="0"/>
              </a:rPr>
              <a:t>k = 10</a:t>
            </a:r>
            <a:r>
              <a:rPr kumimoji="0" lang="en-US" altLang="en-US" sz="1200" b="0" i="0" u="none" strike="noStrike" cap="none" normalizeH="0" baseline="0" dirty="0">
                <a:ln>
                  <a:noFill/>
                </a:ln>
                <a:solidFill>
                  <a:schemeClr val="tx1"/>
                </a:solidFill>
                <a:effectLst/>
                <a:latin typeface="Arial" panose="020B0604020202020204" pitchFamily="34" charset="0"/>
              </a:rPr>
              <a:t>.</a:t>
            </a:r>
            <a:endParaRPr kumimoji="0" lang="en-US" altLang="en-US" sz="12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598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9"/>
          <p:cNvSpPr txBox="1">
            <a:spLocks noGrp="1"/>
          </p:cNvSpPr>
          <p:nvPr>
            <p:ph type="title"/>
          </p:nvPr>
        </p:nvSpPr>
        <p:spPr>
          <a:xfrm>
            <a:off x="207938" y="289279"/>
            <a:ext cx="8510094" cy="443752"/>
          </a:xfrm>
          <a:prstGeom prst="rect">
            <a:avLst/>
          </a:prstGeom>
          <a:noFill/>
          <a:ln>
            <a:noFill/>
          </a:ln>
        </p:spPr>
        <p:txBody>
          <a:bodyPr spcFirstLastPara="1" wrap="square" lIns="0" tIns="13309" rIns="0" bIns="0" anchor="t" anchorCtr="0">
            <a:spAutoFit/>
          </a:bodyPr>
          <a:lstStyle/>
          <a:p>
            <a:pPr marL="12685">
              <a:buSzPts val="1400"/>
            </a:pPr>
            <a:r>
              <a:rPr lang="en-US" sz="2797"/>
              <a:t>Random forest hyperparameters</a:t>
            </a:r>
            <a:endParaRPr sz="2797"/>
          </a:p>
        </p:txBody>
      </p:sp>
      <p:sp>
        <p:nvSpPr>
          <p:cNvPr id="163" name="Google Shape;163;p79"/>
          <p:cNvSpPr/>
          <p:nvPr/>
        </p:nvSpPr>
        <p:spPr>
          <a:xfrm>
            <a:off x="1479392" y="879868"/>
            <a:ext cx="6076199" cy="367106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a:buSzPts val="1800"/>
            </a:pPr>
            <a:endParaRPr sz="1798"/>
          </a:p>
        </p:txBody>
      </p:sp>
      <p:sp>
        <p:nvSpPr>
          <p:cNvPr id="164" name="Google Shape;164;p79"/>
          <p:cNvSpPr txBox="1">
            <a:spLocks noGrp="1"/>
          </p:cNvSpPr>
          <p:nvPr>
            <p:ph type="sldNum" idx="12"/>
          </p:nvPr>
        </p:nvSpPr>
        <p:spPr>
          <a:xfrm>
            <a:off x="8467649" y="4663217"/>
            <a:ext cx="548023" cy="393714"/>
          </a:xfrm>
          <a:prstGeom prst="rect">
            <a:avLst/>
          </a:prstGeom>
          <a:noFill/>
          <a:ln>
            <a:noFill/>
          </a:ln>
        </p:spPr>
        <p:txBody>
          <a:bodyPr spcFirstLastPara="1" wrap="square" lIns="91312" tIns="91312" rIns="91312" bIns="91312" anchor="ctr" anchorCtr="0">
            <a:noAutofit/>
          </a:bodyPr>
          <a:lstStyle/>
          <a:p>
            <a:fld id="{00000000-1234-1234-1234-123412341234}" type="slidenum">
              <a:rPr lang="en-US" sz="999"/>
              <a:pPr/>
              <a:t>25</a:t>
            </a:fld>
            <a:endParaRPr sz="999"/>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163E-30DC-4119-8DA8-2BCC9F195EE8}"/>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36D694AB-F769-4FA3-8BED-D261BC3E4560}"/>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1. What is the primary purpose of model evaluation in machine learning?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 To increase the size of the training dataset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B. To measure how well a model fits the training data</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C. To assess how well a model generalizes to unseen data</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D. To reduce computational cost</a:t>
            </a:r>
          </a:p>
          <a:p>
            <a:pPr marL="114300" indent="0">
              <a:buNone/>
            </a:pPr>
            <a:endParaRPr lang="en-US" sz="1400" dirty="0"/>
          </a:p>
          <a:p>
            <a:pPr marL="114300" indent="0">
              <a:buNone/>
            </a:pPr>
            <a:endParaRPr lang="en-US" sz="1400" dirty="0"/>
          </a:p>
          <a:p>
            <a:pPr marL="114300" indent="0">
              <a:buNone/>
            </a:pPr>
            <a:endParaRPr lang="en-US" sz="14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2. In K-Fold Cross-Validation, increasing the value of K generally results 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 Higher bias and higher variance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B. Lower bias but higher variance and computation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C. Lower variance but higher bias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D. No change in bias or variance</a:t>
            </a:r>
          </a:p>
          <a:p>
            <a:pPr marL="114300" indent="0">
              <a:buNone/>
            </a:pPr>
            <a:endParaRPr lang="en-US" sz="1400" dirty="0"/>
          </a:p>
          <a:p>
            <a:pPr marL="114300" indent="0">
              <a:buNone/>
            </a:pPr>
            <a:endParaRPr lang="en-US" sz="1400" dirty="0"/>
          </a:p>
          <a:p>
            <a:pPr marL="114300" indent="0">
              <a:buNone/>
            </a:pPr>
            <a:endParaRPr lang="en-US" sz="1400" dirty="0"/>
          </a:p>
          <a:p>
            <a:pPr marL="114300" indent="0">
              <a:buNone/>
            </a:pPr>
            <a:endParaRPr lang="en-US" sz="1400" dirty="0"/>
          </a:p>
          <a:p>
            <a:pPr marL="114300" indent="0">
              <a:buNone/>
            </a:pPr>
            <a:endParaRPr lang="en-US" sz="1400" dirty="0"/>
          </a:p>
        </p:txBody>
      </p:sp>
    </p:spTree>
    <p:extLst>
      <p:ext uri="{BB962C8B-B14F-4D97-AF65-F5344CB8AC3E}">
        <p14:creationId xmlns:p14="http://schemas.microsoft.com/office/powerpoint/2010/main" val="1081446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F6E48-906B-4198-808D-C1E9DAE5A4A2}"/>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EA9FFFF2-0276-46B7-B079-01CE16A988D4}"/>
              </a:ext>
            </a:extLst>
          </p:cNvPr>
          <p:cNvSpPr>
            <a:spLocks noGrp="1"/>
          </p:cNvSpPr>
          <p:nvPr>
            <p:ph type="body" idx="1"/>
          </p:nvPr>
        </p:nvSpPr>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3. Which of the following is a key advantage of K-Fold Cross-Validation over a simple train-test split?</a:t>
            </a:r>
          </a:p>
          <a:p>
            <a:pPr marL="228600" marR="0" lvl="0" indent="-228600" algn="l" defTabSz="914400" rtl="0" eaLnBrk="0" fontAlgn="base" latinLnBrk="0" hangingPunct="0">
              <a:lnSpc>
                <a:spcPct val="100000"/>
              </a:lnSpc>
              <a:spcBef>
                <a:spcPct val="0"/>
              </a:spcBef>
              <a:spcAft>
                <a:spcPct val="0"/>
              </a:spcAft>
              <a:buClrTx/>
              <a:buSzTx/>
              <a:buFontTx/>
              <a:buAutoNum type="alphaUcPeriod"/>
              <a:tabLst/>
            </a:pPr>
            <a:r>
              <a:rPr kumimoji="0" lang="en-US" altLang="en-US" sz="1200" b="0" i="0" u="none" strike="noStrike" cap="none" normalizeH="0" baseline="0" dirty="0">
                <a:ln>
                  <a:noFill/>
                </a:ln>
                <a:solidFill>
                  <a:schemeClr val="tx1"/>
                </a:solidFill>
                <a:effectLst/>
                <a:latin typeface="Arial" panose="020B0604020202020204" pitchFamily="34" charset="0"/>
              </a:rPr>
              <a:t>It completely removes overfitting</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It uses less data for training</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It provides a more reliable estimate of model performance</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It requires no computational overhead</a:t>
            </a:r>
          </a:p>
          <a:p>
            <a:pPr marL="914400" marR="0" lvl="0" indent="-914400" algn="l" defTabSz="914400" rtl="0" eaLnBrk="0" fontAlgn="base" latinLnBrk="0" hangingPunct="0">
              <a:lnSpc>
                <a:spcPct val="100000"/>
              </a:lnSpc>
              <a:spcBef>
                <a:spcPct val="0"/>
              </a:spcBef>
              <a:spcAft>
                <a:spcPct val="0"/>
              </a:spcAft>
              <a:buClrTx/>
              <a:buSzTx/>
              <a:buFontTx/>
              <a:buAutoNum type="alphaUcPeriod"/>
              <a:tabLst/>
            </a:pPr>
            <a:endParaRPr lang="en-US" altLang="en-US" sz="12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914400" marR="0" lvl="0" indent="-914400" algn="l" defTabSz="914400" rtl="0" eaLnBrk="0" fontAlgn="base" latinLnBrk="0" hangingPunct="0">
              <a:lnSpc>
                <a:spcPct val="100000"/>
              </a:lnSpc>
              <a:spcBef>
                <a:spcPct val="0"/>
              </a:spcBef>
              <a:spcAft>
                <a:spcPct val="0"/>
              </a:spcAft>
              <a:buClrTx/>
              <a:buSzTx/>
              <a:buFontTx/>
              <a:buAutoNum type="alphaUcPeriod"/>
              <a:tabLst/>
            </a:pPr>
            <a:endParaRPr lang="en-US" altLang="en-US" sz="12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4. What is the main objective of </a:t>
            </a:r>
            <a:r>
              <a:rPr kumimoji="0" lang="en-US" altLang="en-US" sz="1200" b="1" i="0" u="none" strike="noStrike" cap="none" normalizeH="0" baseline="0" dirty="0" err="1">
                <a:ln>
                  <a:noFill/>
                </a:ln>
                <a:solidFill>
                  <a:schemeClr val="tx1"/>
                </a:solidFill>
                <a:effectLst/>
                <a:latin typeface="Arial" panose="020B0604020202020204" pitchFamily="34" charset="0"/>
              </a:rPr>
              <a:t>GridSearchCV</a:t>
            </a:r>
            <a:r>
              <a:rPr kumimoji="0" lang="en-US" altLang="en-US" sz="1200" b="1" i="0" u="none" strike="noStrike" cap="none" normalizeH="0" baseline="0" dirty="0">
                <a:ln>
                  <a:noFill/>
                </a:ln>
                <a:solidFill>
                  <a:schemeClr val="tx1"/>
                </a:solidFill>
                <a:effectLst/>
                <a:latin typeface="Arial" panose="020B0604020202020204" pitchFamily="34" charset="0"/>
              </a:rPr>
              <a:t>?</a:t>
            </a:r>
          </a:p>
          <a:p>
            <a:pPr marL="228600" marR="0" lvl="0" indent="-228600" algn="l" defTabSz="914400" rtl="0" eaLnBrk="0" fontAlgn="base" latinLnBrk="0" hangingPunct="0">
              <a:lnSpc>
                <a:spcPct val="100000"/>
              </a:lnSpc>
              <a:spcBef>
                <a:spcPct val="0"/>
              </a:spcBef>
              <a:spcAft>
                <a:spcPct val="0"/>
              </a:spcAft>
              <a:buClrTx/>
              <a:buSzTx/>
              <a:buFontTx/>
              <a:buAutoNum type="alphaUcPeriod"/>
              <a:tabLst/>
            </a:pPr>
            <a:r>
              <a:rPr kumimoji="0" lang="en-US" altLang="en-US" sz="1200" b="0" i="0" u="none" strike="noStrike" cap="none" normalizeH="0" baseline="0" dirty="0">
                <a:ln>
                  <a:noFill/>
                </a:ln>
                <a:solidFill>
                  <a:schemeClr val="tx1"/>
                </a:solidFill>
                <a:effectLst/>
                <a:latin typeface="Arial" panose="020B0604020202020204" pitchFamily="34" charset="0"/>
              </a:rPr>
              <a:t>To select the best features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To train multiple models simultaneously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To find the optimal hyperparameter combination using exhaustive search</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To reduce training data size</a:t>
            </a:r>
          </a:p>
          <a:p>
            <a:pPr marL="914400" marR="0" lvl="0" indent="-914400" algn="l" defTabSz="914400" rtl="0" eaLnBrk="0" fontAlgn="base" latinLnBrk="0" hangingPunct="0">
              <a:lnSpc>
                <a:spcPct val="100000"/>
              </a:lnSpc>
              <a:spcBef>
                <a:spcPct val="0"/>
              </a:spcBef>
              <a:spcAft>
                <a:spcPct val="0"/>
              </a:spcAft>
              <a:buClrTx/>
              <a:buSzTx/>
              <a:buFontTx/>
              <a:buAutoNum type="alphaUcPeriod"/>
              <a:tabLst/>
            </a:pPr>
            <a:endParaRPr lang="en-US" altLang="en-US" sz="1200" dirty="0">
              <a:solidFill>
                <a:schemeClr val="tx1"/>
              </a:solidFill>
              <a:latin typeface="Arial" panose="020B0604020202020204" pitchFamily="34" charset="0"/>
            </a:endParaRPr>
          </a:p>
          <a:p>
            <a:pPr marL="914400" marR="0" lvl="0" indent="-914400" algn="l" defTabSz="914400" rtl="0" eaLnBrk="0" fontAlgn="base" latinLnBrk="0" hangingPunct="0">
              <a:lnSpc>
                <a:spcPct val="100000"/>
              </a:lnSpc>
              <a:spcBef>
                <a:spcPct val="0"/>
              </a:spcBef>
              <a:spcAft>
                <a:spcPct val="0"/>
              </a:spcAft>
              <a:buClrTx/>
              <a:buSzTx/>
              <a:buFontTx/>
              <a:buAutoNum type="alphaU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5. Compared to </a:t>
            </a:r>
            <a:r>
              <a:rPr kumimoji="0" lang="en-US" altLang="en-US" sz="1200" b="1" i="0" u="none" strike="noStrike" cap="none" normalizeH="0" baseline="0" dirty="0" err="1">
                <a:ln>
                  <a:noFill/>
                </a:ln>
                <a:solidFill>
                  <a:schemeClr val="tx1"/>
                </a:solidFill>
                <a:effectLst/>
                <a:latin typeface="Arial" panose="020B0604020202020204" pitchFamily="34" charset="0"/>
              </a:rPr>
              <a:t>GridSearchCV</a:t>
            </a:r>
            <a:r>
              <a:rPr kumimoji="0" lang="en-US" altLang="en-US" sz="1200" b="1"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rPr>
              <a:t>RandomizedSearchCV</a:t>
            </a:r>
            <a:r>
              <a:rPr kumimoji="0" lang="en-US" altLang="en-US" sz="12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A. Tries all possible hyperparameter combinations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Is always less accurate</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Samples a fixed number of random hyperparameter combinations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Cannot be used with cross-validation</a:t>
            </a:r>
          </a:p>
          <a:p>
            <a:pPr marL="914400" marR="0" lvl="0" indent="-914400" algn="l" defTabSz="914400" rtl="0" eaLnBrk="0" fontAlgn="base" latinLnBrk="0" hangingPunct="0">
              <a:lnSpc>
                <a:spcPct val="100000"/>
              </a:lnSpc>
              <a:spcBef>
                <a:spcPct val="0"/>
              </a:spcBef>
              <a:spcAft>
                <a:spcPct val="0"/>
              </a:spcAft>
              <a:buClrTx/>
              <a:buSzTx/>
              <a:buFontTx/>
              <a:buAutoNum type="alphaU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endParaRPr lang="en-US" sz="1200" dirty="0"/>
          </a:p>
        </p:txBody>
      </p:sp>
    </p:spTree>
    <p:extLst>
      <p:ext uri="{BB962C8B-B14F-4D97-AF65-F5344CB8AC3E}">
        <p14:creationId xmlns:p14="http://schemas.microsoft.com/office/powerpoint/2010/main" val="14609386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3827</TotalTime>
  <Words>2751</Words>
  <Application>Microsoft Office PowerPoint</Application>
  <PresentationFormat>On-screen Show (16:9)</PresentationFormat>
  <Paragraphs>266</Paragraphs>
  <Slides>27</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Times New Roman</vt:lpstr>
      <vt:lpstr>Verdana</vt:lpstr>
      <vt:lpstr>Arial Unicode MS</vt:lpstr>
      <vt:lpstr>Montserrat</vt:lpstr>
      <vt:lpstr>Calibri</vt:lpstr>
      <vt:lpstr>Consolas</vt:lpstr>
      <vt:lpstr>Tahoma</vt:lpstr>
      <vt:lpstr>Montserrat Medium</vt:lpstr>
      <vt:lpstr>Nunito</vt:lpstr>
      <vt:lpstr>Simple Light</vt:lpstr>
      <vt:lpstr>PowerPoint Presentation</vt:lpstr>
      <vt:lpstr>PowerPoint Presentation</vt:lpstr>
      <vt:lpstr>Model validation</vt:lpstr>
      <vt:lpstr>Model Validation </vt:lpstr>
      <vt:lpstr>Cross-validation</vt:lpstr>
      <vt:lpstr>Types of Cross-Validation </vt:lpstr>
      <vt:lpstr>PowerPoint Presentation</vt:lpstr>
      <vt:lpstr>PowerPoint Presentation</vt:lpstr>
      <vt:lpstr>Types of Cross-Validation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Random forest hyperparameters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Nawdeep Kumar</dc:creator>
  <cp:lastModifiedBy>Jaya R</cp:lastModifiedBy>
  <cp:revision>20</cp:revision>
  <dcterms:modified xsi:type="dcterms:W3CDTF">2026-01-18T08:23:45Z</dcterms:modified>
</cp:coreProperties>
</file>