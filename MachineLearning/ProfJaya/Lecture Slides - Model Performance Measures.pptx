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18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573430" y="328371"/>
            <a:ext cx="509143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589280" y="1399387"/>
            <a:ext cx="9041765" cy="191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ftr" idx="11"/>
          </p:nvPr>
        </p:nvSpPr>
        <p:spPr>
          <a:xfrm>
            <a:off x="3792537" y="6386498"/>
            <a:ext cx="4606925" cy="139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7970" y="6643312"/>
            <a:ext cx="216535" cy="16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ftr" idx="11"/>
          </p:nvPr>
        </p:nvSpPr>
        <p:spPr>
          <a:xfrm>
            <a:off x="3792537" y="6386498"/>
            <a:ext cx="4606925" cy="139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7970" y="6643312"/>
            <a:ext cx="216535" cy="16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573430" y="328371"/>
            <a:ext cx="509143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792537" y="6386498"/>
            <a:ext cx="4606925" cy="139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67970" y="6643312"/>
            <a:ext cx="216535" cy="16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573430" y="328371"/>
            <a:ext cx="509143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3792537" y="6386498"/>
            <a:ext cx="4606925" cy="139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67970" y="6643312"/>
            <a:ext cx="216535" cy="16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ftr" idx="11"/>
          </p:nvPr>
        </p:nvSpPr>
        <p:spPr>
          <a:xfrm>
            <a:off x="3792537" y="6386498"/>
            <a:ext cx="4606925" cy="139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67970" y="6643312"/>
            <a:ext cx="216535" cy="16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73430" y="328371"/>
            <a:ext cx="509143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9280" y="1399387"/>
            <a:ext cx="9041765" cy="191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ftr" idx="11"/>
          </p:nvPr>
        </p:nvSpPr>
        <p:spPr>
          <a:xfrm>
            <a:off x="3792537" y="6386498"/>
            <a:ext cx="4606925" cy="139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7970" y="6643312"/>
            <a:ext cx="216535" cy="16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6284" y="88981"/>
            <a:ext cx="1714060" cy="54138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67970" y="6643312"/>
            <a:ext cx="216535" cy="16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22</a:t>
            </a:r>
            <a:endParaRPr/>
          </a:p>
        </p:txBody>
      </p:sp>
      <p:pic>
        <p:nvPicPr>
          <p:cNvPr id="46" name="Google Shape;46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229599"/>
            <a:ext cx="9662201" cy="584514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/>
          <p:nvPr/>
        </p:nvSpPr>
        <p:spPr>
          <a:xfrm>
            <a:off x="9340425" y="5364350"/>
            <a:ext cx="623400" cy="95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EFCFCD-6529-4EF5-8B6B-D0818C79C6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8543" y="5384641"/>
            <a:ext cx="7093818" cy="15377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6284" y="88981"/>
            <a:ext cx="1714060" cy="541381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3792537" y="6386498"/>
            <a:ext cx="46068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67970" y="6643312"/>
            <a:ext cx="216600" cy="1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</a:t>
            </a:r>
            <a:endParaRPr/>
          </a:p>
        </p:txBody>
      </p:sp>
      <p:pic>
        <p:nvPicPr>
          <p:cNvPr id="55" name="Google Shape;55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875" y="88975"/>
            <a:ext cx="8712274" cy="618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02AD5E-496B-4E00-8BB3-FAD0988768E2}"/>
              </a:ext>
            </a:extLst>
          </p:cNvPr>
          <p:cNvSpPr txBox="1"/>
          <p:nvPr/>
        </p:nvSpPr>
        <p:spPr>
          <a:xfrm>
            <a:off x="700238" y="384813"/>
            <a:ext cx="9310036" cy="3266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The Confusion Matrix: The Foundation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Every metric listed below is derived from the four outcomes of a Confusion Matrix: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True Positive (TP):</a:t>
            </a:r>
            <a:r>
              <a:rPr lang="en-US" sz="2000" dirty="0"/>
              <a:t> Correctly predicted positive.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True Negative (TN):</a:t>
            </a:r>
            <a:r>
              <a:rPr lang="en-US" sz="2000" dirty="0"/>
              <a:t> Correctly predicted negative.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False Positive (FP):</a:t>
            </a:r>
            <a:r>
              <a:rPr lang="en-US" sz="2000" dirty="0"/>
              <a:t> Predicted positive, but actually negative (</a:t>
            </a:r>
            <a:r>
              <a:rPr lang="en-US" sz="2000" b="1" dirty="0"/>
              <a:t>Type I Error</a:t>
            </a:r>
            <a:r>
              <a:rPr lang="en-US" sz="2000" dirty="0"/>
              <a:t>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False Negative (FN):</a:t>
            </a:r>
            <a:r>
              <a:rPr lang="en-US" sz="2000" dirty="0"/>
              <a:t> Predicted negative, but actually positive (</a:t>
            </a:r>
            <a:r>
              <a:rPr lang="en-US" sz="2000" b="1" dirty="0"/>
              <a:t>Type II Error</a:t>
            </a:r>
            <a:r>
              <a:rPr lang="en-US" sz="20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14043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7AE41F-4B06-4A9B-BCFF-E091FA692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510" y="3000254"/>
            <a:ext cx="10907830" cy="398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latinLnBrk="0" hangingPunct="0">
              <a:lnSpc>
                <a:spcPct val="150000"/>
              </a:lnSpc>
              <a:buSzTx/>
              <a:buFont typeface="Arial"/>
              <a:buNone/>
              <a:tabLst/>
            </a:pPr>
            <a:r>
              <a:rPr lang="en-US" altLang="en-US" sz="2000" b="1" dirty="0"/>
              <a:t>The ROC Curve</a:t>
            </a:r>
          </a:p>
          <a:p>
            <a:pPr marL="0" lvl="0" indent="0" defTabSz="914400" eaLnBrk="0" fontAlgn="base" latinLnBrk="0" hangingPunct="0">
              <a:lnSpc>
                <a:spcPct val="150000"/>
              </a:lnSpc>
              <a:buSzTx/>
              <a:buFont typeface="Arial"/>
              <a:buNone/>
              <a:tabLst/>
            </a:pPr>
            <a:r>
              <a:rPr lang="en-US" altLang="en-US" sz="2000" dirty="0"/>
              <a:t>The ROC curve is created by plotting the TPR against the FPR at various threshold settings.</a:t>
            </a:r>
          </a:p>
          <a:p>
            <a:pPr marL="0" lvl="0" indent="0" defTabSz="914400" eaLnBrk="0" fontAlgn="base" latinLnBrk="0" hangingPunct="0">
              <a:lnSpc>
                <a:spcPct val="150000"/>
              </a:lnSpc>
              <a:buSzTx/>
              <a:buFont typeface="Arial"/>
              <a:buChar char="•"/>
              <a:tabLst/>
            </a:pPr>
            <a:r>
              <a:rPr lang="en-US" altLang="en-US" sz="2000" dirty="0"/>
              <a:t>The Diagonal Line (Baseline): A diagonal line from $(0,0)$ to $(1,1)$ represents a model that is no better than random guessing (e.g., flipping a coin).</a:t>
            </a:r>
          </a:p>
          <a:p>
            <a:pPr marL="0" lvl="0" indent="0" defTabSz="914400" eaLnBrk="0" fontAlgn="base" latinLnBrk="0" hangingPunct="0">
              <a:lnSpc>
                <a:spcPct val="150000"/>
              </a:lnSpc>
              <a:buSzTx/>
              <a:buFont typeface="Arial"/>
              <a:buChar char="•"/>
              <a:tabLst/>
            </a:pPr>
            <a:r>
              <a:rPr lang="en-US" altLang="en-US" sz="2000" dirty="0"/>
              <a:t>The "Perfect" Model: A model that reaches the top-left corner $(0,1)$ represents 100% sensitivity and 100% specificity.</a:t>
            </a:r>
          </a:p>
          <a:p>
            <a:pPr marL="0" lvl="0" indent="0" defTabSz="914400" eaLnBrk="0" fontAlgn="base" latinLnBrk="0" hangingPunct="0">
              <a:lnSpc>
                <a:spcPct val="150000"/>
              </a:lnSpc>
              <a:buSzTx/>
              <a:buFont typeface="Arial"/>
              <a:buChar char="•"/>
              <a:tabLst/>
            </a:pPr>
            <a:r>
              <a:rPr lang="en-US" altLang="en-US" sz="2000" dirty="0"/>
              <a:t>The Convexity: The further the curve "bows" toward the top-left corner, the better the model's ability to distinguish between the two classes.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6B2F08-C31D-4FF0-85E0-D15FE945EBD8}"/>
              </a:ext>
            </a:extLst>
          </p:cNvPr>
          <p:cNvSpPr txBox="1"/>
          <p:nvPr/>
        </p:nvSpPr>
        <p:spPr>
          <a:xfrm>
            <a:off x="546233" y="534724"/>
            <a:ext cx="10907829" cy="2343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ROC (Receiver Operating Characteristic) Curve</a:t>
            </a:r>
            <a:r>
              <a:rPr lang="en-US" sz="2000" dirty="0"/>
              <a:t> and the </a:t>
            </a:r>
            <a:r>
              <a:rPr lang="en-US" sz="2000" b="1" dirty="0"/>
              <a:t>AUC (Area Under the Curve)</a:t>
            </a:r>
            <a:r>
              <a:rPr lang="en-US" sz="2000" dirty="0"/>
              <a:t> represent the gold standard for evaluating binary classifiers, particularly when the decision threshold is not fixed.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While metrics like Accuracy and F1-score evaluate a model at a </a:t>
            </a:r>
            <a:r>
              <a:rPr lang="en-US" sz="2000" b="1" dirty="0"/>
              <a:t>single specific threshold</a:t>
            </a:r>
            <a:r>
              <a:rPr lang="en-US" sz="2000" dirty="0"/>
              <a:t> (usually 0.5), ROC-AUC evaluates the model’s performance across </a:t>
            </a:r>
            <a:r>
              <a:rPr lang="en-US" sz="2000" b="1" dirty="0"/>
              <a:t>all possible thresholds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5661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564BDD-EDCA-4113-AAC8-6BEA71B7DF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699996"/>
              </p:ext>
            </p:extLst>
          </p:nvPr>
        </p:nvGraphicFramePr>
        <p:xfrm>
          <a:off x="310719" y="544740"/>
          <a:ext cx="11949345" cy="5768520"/>
        </p:xfrm>
        <a:graphic>
          <a:graphicData uri="http://schemas.openxmlformats.org/drawingml/2006/table">
            <a:tbl>
              <a:tblPr/>
              <a:tblGrid>
                <a:gridCol w="3000652">
                  <a:extLst>
                    <a:ext uri="{9D8B030D-6E8A-4147-A177-3AD203B41FA5}">
                      <a16:colId xmlns:a16="http://schemas.microsoft.com/office/drawing/2014/main" val="1603846346"/>
                    </a:ext>
                  </a:extLst>
                </a:gridCol>
                <a:gridCol w="2263806">
                  <a:extLst>
                    <a:ext uri="{9D8B030D-6E8A-4147-A177-3AD203B41FA5}">
                      <a16:colId xmlns:a16="http://schemas.microsoft.com/office/drawing/2014/main" val="2972399245"/>
                    </a:ext>
                  </a:extLst>
                </a:gridCol>
                <a:gridCol w="6684887">
                  <a:extLst>
                    <a:ext uri="{9D8B030D-6E8A-4147-A177-3AD203B41FA5}">
                      <a16:colId xmlns:a16="http://schemas.microsoft.com/office/drawing/2014/main" val="358719768"/>
                    </a:ext>
                  </a:extLst>
                </a:gridCol>
              </a:tblGrid>
              <a:tr h="163594">
                <a:tc>
                  <a:txBody>
                    <a:bodyPr/>
                    <a:lstStyle/>
                    <a:p>
                      <a:pPr rtl="0"/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Model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Key Hyperparameters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Purpose / Impact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8749785"/>
                  </a:ext>
                </a:extLst>
              </a:tr>
              <a:tr h="385240">
                <a:tc>
                  <a:txBody>
                    <a:bodyPr/>
                    <a:lstStyle/>
                    <a:p>
                      <a:pPr rtl="0"/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Logistic Regression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</a:t>
                      </a: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Inverse of regularization strength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 Smaller values specify stronger regularization to prevent overfitting.</a:t>
                      </a: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7469495"/>
                  </a:ext>
                </a:extLst>
              </a:tr>
              <a:tr h="274417">
                <a:tc>
                  <a:txBody>
                    <a:bodyPr/>
                    <a:lstStyle/>
                    <a:p>
                      <a:pPr rtl="0"/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penalty</a:t>
                      </a: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Specifies the norm used in the penalization (l1, l2, elasticnet).</a:t>
                      </a: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361905"/>
                  </a:ext>
                </a:extLst>
              </a:tr>
              <a:tr h="385240">
                <a:tc>
                  <a:txBody>
                    <a:bodyPr/>
                    <a:lstStyle/>
                    <a:p>
                      <a:pPr rtl="0"/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solver</a:t>
                      </a: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Algorithm for optimization (liblinear, lbfgs, saga). Affects convergence speed and multiclass support.</a:t>
                      </a: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154049"/>
                  </a:ext>
                </a:extLst>
              </a:tr>
              <a:tr h="496061">
                <a:tc>
                  <a:txBody>
                    <a:bodyPr/>
                    <a:lstStyle/>
                    <a:p>
                      <a:pPr rtl="0"/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Support Vector Machine (SVM)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</a:t>
                      </a: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Regularization parameter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 High C aims for zero training error (risk of overfitting); low C allows for a softer margin.</a:t>
                      </a: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6338200"/>
                  </a:ext>
                </a:extLst>
              </a:tr>
              <a:tr h="274417">
                <a:tc>
                  <a:txBody>
                    <a:bodyPr/>
                    <a:lstStyle/>
                    <a:p>
                      <a:pPr rtl="0"/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kernel</a:t>
                      </a: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Determines the decision boundary shape (linear, poly, rbf, sigmoid).</a:t>
                      </a: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542474"/>
                  </a:ext>
                </a:extLst>
              </a:tr>
              <a:tr h="496061">
                <a:tc>
                  <a:txBody>
                    <a:bodyPr/>
                    <a:lstStyle/>
                    <a:p>
                      <a:pPr rtl="0"/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gamma</a:t>
                      </a: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Kernel coefficient for rbf. High gamma makes the decision boundary depend strictly on individual points (high variance).</a:t>
                      </a: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136266"/>
                  </a:ext>
                </a:extLst>
              </a:tr>
              <a:tr h="385240">
                <a:tc>
                  <a:txBody>
                    <a:bodyPr/>
                    <a:lstStyle/>
                    <a:p>
                      <a:pPr rtl="0"/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K-Nearest Neighbors (KNN)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n_neighbors</a:t>
                      </a: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Number of neighbors. Small $k$ leads to high complexity (overfitting); large $k$ leads to high bias.</a:t>
                      </a: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02608"/>
                  </a:ext>
                </a:extLst>
              </a:tr>
              <a:tr h="385240">
                <a:tc>
                  <a:txBody>
                    <a:bodyPr/>
                    <a:lstStyle/>
                    <a:p>
                      <a:pPr rtl="0"/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weights</a:t>
                      </a: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Weight function used in prediction (uniform vs. distance based on proximity).</a:t>
                      </a: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0104192"/>
                  </a:ext>
                </a:extLst>
              </a:tr>
              <a:tr h="385240">
                <a:tc>
                  <a:txBody>
                    <a:bodyPr/>
                    <a:lstStyle/>
                    <a:p>
                      <a:pPr rtl="0"/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Decision Trees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max_depth</a:t>
                      </a: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Maximum depth of the tree. Deep trees capture noise (overfitting); shallow trees underfit.</a:t>
                      </a: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417626"/>
                  </a:ext>
                </a:extLst>
              </a:tr>
              <a:tr h="385240">
                <a:tc>
                  <a:txBody>
                    <a:bodyPr/>
                    <a:lstStyle/>
                    <a:p>
                      <a:pPr rtl="0"/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min_samples_split</a:t>
                      </a: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Minimum number of samples required to split an internal node. Controls tree growth.</a:t>
                      </a: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842675"/>
                  </a:ext>
                </a:extLst>
              </a:tr>
              <a:tr h="274417">
                <a:tc>
                  <a:txBody>
                    <a:bodyPr/>
                    <a:lstStyle/>
                    <a:p>
                      <a:pPr rtl="0"/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criterion</a:t>
                      </a: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function to measure the quality of a split (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gini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vs. entropy).</a:t>
                      </a:r>
                    </a:p>
                  </a:txBody>
                  <a:tcPr marL="17632" marR="17632" marT="11755" marB="1175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7569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0606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E7E7E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486</Words>
  <Application>Microsoft Office PowerPoint</Application>
  <PresentationFormat>Widescreen</PresentationFormat>
  <Paragraphs>45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Jaya R</dc:creator>
  <cp:lastModifiedBy>Jaya R</cp:lastModifiedBy>
  <cp:revision>2</cp:revision>
  <dcterms:modified xsi:type="dcterms:W3CDTF">2026-01-18T08:24:09Z</dcterms:modified>
</cp:coreProperties>
</file>