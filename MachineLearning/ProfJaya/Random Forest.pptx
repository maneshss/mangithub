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0"/>
  </p:notesMasterIdLst>
  <p:sldIdLst>
    <p:sldId id="256" r:id="rId2"/>
    <p:sldId id="307" r:id="rId3"/>
    <p:sldId id="314" r:id="rId4"/>
    <p:sldId id="313" r:id="rId5"/>
    <p:sldId id="258" r:id="rId6"/>
    <p:sldId id="283" r:id="rId7"/>
    <p:sldId id="309" r:id="rId8"/>
    <p:sldId id="296" r:id="rId9"/>
    <p:sldId id="297" r:id="rId10"/>
    <p:sldId id="315" r:id="rId11"/>
    <p:sldId id="298" r:id="rId12"/>
    <p:sldId id="316" r:id="rId13"/>
    <p:sldId id="299" r:id="rId14"/>
    <p:sldId id="317" r:id="rId15"/>
    <p:sldId id="262" r:id="rId16"/>
    <p:sldId id="278" r:id="rId17"/>
    <p:sldId id="285" r:id="rId18"/>
    <p:sldId id="263" r:id="rId19"/>
    <p:sldId id="310" r:id="rId20"/>
    <p:sldId id="311" r:id="rId21"/>
    <p:sldId id="294" r:id="rId22"/>
    <p:sldId id="290" r:id="rId23"/>
    <p:sldId id="292" r:id="rId24"/>
    <p:sldId id="266" r:id="rId25"/>
    <p:sldId id="267" r:id="rId26"/>
    <p:sldId id="269" r:id="rId27"/>
    <p:sldId id="270" r:id="rId28"/>
    <p:sldId id="271" r:id="rId29"/>
    <p:sldId id="272" r:id="rId30"/>
    <p:sldId id="273" r:id="rId31"/>
    <p:sldId id="274" r:id="rId32"/>
    <p:sldId id="275" r:id="rId33"/>
    <p:sldId id="276" r:id="rId34"/>
    <p:sldId id="302" r:id="rId35"/>
    <p:sldId id="303" r:id="rId36"/>
    <p:sldId id="304" r:id="rId37"/>
    <p:sldId id="305" r:id="rId38"/>
    <p:sldId id="306" r:id="rId39"/>
  </p:sldIdLst>
  <p:sldSz cx="9144000" cy="5149850"/>
  <p:notesSz cx="9144000" cy="5149850"/>
  <p:embeddedFontLst>
    <p:embeddedFont>
      <p:font typeface="Agency FB" panose="020B0503020202020204" pitchFamily="34" charset="0"/>
      <p:regular r:id="rId41"/>
      <p:bold r:id="rId42"/>
    </p:embeddedFont>
    <p:embeddedFont>
      <p:font typeface="Nunito" pitchFamily="2" charset="0"/>
      <p:regular r:id="rId43"/>
      <p:bold r:id="rId44"/>
      <p:italic r:id="rId45"/>
      <p:boldItalic r:id="rId46"/>
    </p:embeddedFont>
    <p:embeddedFont>
      <p:font typeface="Nunito Light"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3" roundtripDataSignature="AMtx7miBlb+CZPfVO5PmSKGSNlttbSbK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420" y="5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76"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74"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73"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77"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BB63AD-D05F-4079-8188-25C2CEFD8781}" type="doc">
      <dgm:prSet loTypeId="urn:microsoft.com/office/officeart/2005/8/layout/hList1" loCatId="list" qsTypeId="urn:microsoft.com/office/officeart/2005/8/quickstyle/simple2" qsCatId="simple" csTypeId="urn:microsoft.com/office/officeart/2005/8/colors/accent1_2" csCatId="accent1" phldr="1"/>
      <dgm:spPr/>
      <dgm:t>
        <a:bodyPr/>
        <a:lstStyle/>
        <a:p>
          <a:endParaRPr lang="en-US"/>
        </a:p>
      </dgm:t>
    </dgm:pt>
    <dgm:pt modelId="{2A3B713F-6DE6-473A-B130-5320911E7369}">
      <dgm:prSet/>
      <dgm:spPr/>
      <dgm:t>
        <a:bodyPr/>
        <a:lstStyle/>
        <a:p>
          <a:r>
            <a:rPr lang="en-US"/>
            <a:t>For b = 1 to B: </a:t>
          </a:r>
        </a:p>
      </dgm:t>
    </dgm:pt>
    <dgm:pt modelId="{32CC4173-9C69-478D-9579-98A05A5F09F4}" type="parTrans" cxnId="{A484BF2D-7443-4A5B-BC00-7071F17782A5}">
      <dgm:prSet/>
      <dgm:spPr/>
      <dgm:t>
        <a:bodyPr/>
        <a:lstStyle/>
        <a:p>
          <a:endParaRPr lang="en-US"/>
        </a:p>
      </dgm:t>
    </dgm:pt>
    <dgm:pt modelId="{49B40B03-18FF-4B5D-A2B3-CE0408BB5CDE}" type="sibTrans" cxnId="{A484BF2D-7443-4A5B-BC00-7071F17782A5}">
      <dgm:prSet/>
      <dgm:spPr/>
      <dgm:t>
        <a:bodyPr/>
        <a:lstStyle/>
        <a:p>
          <a:endParaRPr lang="en-US"/>
        </a:p>
      </dgm:t>
    </dgm:pt>
    <dgm:pt modelId="{840DC1CE-96C2-4BAE-8735-6F3B171988EB}">
      <dgm:prSet/>
      <dgm:spPr/>
      <dgm:t>
        <a:bodyPr/>
        <a:lstStyle/>
        <a:p>
          <a:r>
            <a:rPr lang="en-US"/>
            <a:t>(a) Draw a bootstrap sample Z∗ of size </a:t>
          </a:r>
          <a:r>
            <a:rPr lang="en-US" i="1"/>
            <a:t>N</a:t>
          </a:r>
          <a:r>
            <a:rPr lang="en-US"/>
            <a:t> from the training data. </a:t>
          </a:r>
        </a:p>
      </dgm:t>
    </dgm:pt>
    <dgm:pt modelId="{27284AA4-CF1A-4AE2-BDAD-3A8534995C0A}" type="parTrans" cxnId="{AE95F75F-4D77-4046-8DA3-8A8554061687}">
      <dgm:prSet/>
      <dgm:spPr/>
      <dgm:t>
        <a:bodyPr/>
        <a:lstStyle/>
        <a:p>
          <a:endParaRPr lang="en-US"/>
        </a:p>
      </dgm:t>
    </dgm:pt>
    <dgm:pt modelId="{18CFC117-536C-4890-9A36-57B4481BB90D}" type="sibTrans" cxnId="{AE95F75F-4D77-4046-8DA3-8A8554061687}">
      <dgm:prSet/>
      <dgm:spPr/>
      <dgm:t>
        <a:bodyPr/>
        <a:lstStyle/>
        <a:p>
          <a:endParaRPr lang="en-US"/>
        </a:p>
      </dgm:t>
    </dgm:pt>
    <dgm:pt modelId="{4BC0275E-72F4-4747-9DC9-DCCF22F1DB21}">
      <dgm:prSet/>
      <dgm:spPr/>
      <dgm:t>
        <a:bodyPr/>
        <a:lstStyle/>
        <a:p>
          <a:r>
            <a:rPr lang="en-US"/>
            <a:t>(b) Grow a random-forest tree  to the bootstrapped data, by recursively repeating the following steps for each terminal node of the tree, until the minimum node size </a:t>
          </a:r>
          <a:r>
            <a:rPr lang="en-US" b="1" i="1"/>
            <a:t>n</a:t>
          </a:r>
          <a:r>
            <a:rPr lang="en-US" b="1" i="1" baseline="-25000"/>
            <a:t>min</a:t>
          </a:r>
          <a:r>
            <a:rPr lang="en-US"/>
            <a:t> is reached. </a:t>
          </a:r>
        </a:p>
      </dgm:t>
    </dgm:pt>
    <dgm:pt modelId="{12DF67C8-3916-4246-BF48-6BA31225E037}" type="parTrans" cxnId="{1A8E8DE3-99DD-41A1-ACF0-F6457ADF4950}">
      <dgm:prSet/>
      <dgm:spPr/>
      <dgm:t>
        <a:bodyPr/>
        <a:lstStyle/>
        <a:p>
          <a:endParaRPr lang="en-US"/>
        </a:p>
      </dgm:t>
    </dgm:pt>
    <dgm:pt modelId="{C522255F-E43C-4BDE-8468-0B7726DC65B6}" type="sibTrans" cxnId="{1A8E8DE3-99DD-41A1-ACF0-F6457ADF4950}">
      <dgm:prSet/>
      <dgm:spPr/>
      <dgm:t>
        <a:bodyPr/>
        <a:lstStyle/>
        <a:p>
          <a:endParaRPr lang="en-US"/>
        </a:p>
      </dgm:t>
    </dgm:pt>
    <dgm:pt modelId="{5F473B1F-4B66-46FA-A7E9-B398DB2DB42E}">
      <dgm:prSet/>
      <dgm:spPr/>
      <dgm:t>
        <a:bodyPr/>
        <a:lstStyle/>
        <a:p>
          <a:r>
            <a:rPr lang="en-US"/>
            <a:t>i. Select </a:t>
          </a:r>
          <a:r>
            <a:rPr lang="en-US" b="1" i="1"/>
            <a:t>m</a:t>
          </a:r>
          <a:r>
            <a:rPr lang="en-US"/>
            <a:t> variables at random from the </a:t>
          </a:r>
          <a:r>
            <a:rPr lang="en-US" i="1"/>
            <a:t>p</a:t>
          </a:r>
          <a:r>
            <a:rPr lang="en-US"/>
            <a:t> variables. </a:t>
          </a:r>
        </a:p>
      </dgm:t>
    </dgm:pt>
    <dgm:pt modelId="{EC1E64F8-3A61-4BBE-AD71-401936328B62}" type="parTrans" cxnId="{54368C76-973E-487F-B5BB-4FEF04CF0ABA}">
      <dgm:prSet/>
      <dgm:spPr/>
      <dgm:t>
        <a:bodyPr/>
        <a:lstStyle/>
        <a:p>
          <a:endParaRPr lang="en-US"/>
        </a:p>
      </dgm:t>
    </dgm:pt>
    <dgm:pt modelId="{CF99325D-1F2C-45C8-87AB-C85F0FDD6B34}" type="sibTrans" cxnId="{54368C76-973E-487F-B5BB-4FEF04CF0ABA}">
      <dgm:prSet/>
      <dgm:spPr/>
      <dgm:t>
        <a:bodyPr/>
        <a:lstStyle/>
        <a:p>
          <a:endParaRPr lang="en-US"/>
        </a:p>
      </dgm:t>
    </dgm:pt>
    <dgm:pt modelId="{6FECD162-D75A-4B2F-98EE-274BE1A171E0}">
      <dgm:prSet/>
      <dgm:spPr/>
      <dgm:t>
        <a:bodyPr/>
        <a:lstStyle/>
        <a:p>
          <a:r>
            <a:rPr lang="en-US"/>
            <a:t>ii. Pick the best variable/split-point among the </a:t>
          </a:r>
          <a:r>
            <a:rPr lang="en-US" i="1"/>
            <a:t>m</a:t>
          </a:r>
          <a:r>
            <a:rPr lang="en-US"/>
            <a:t>.</a:t>
          </a:r>
        </a:p>
      </dgm:t>
    </dgm:pt>
    <dgm:pt modelId="{5AD77E5A-7FD5-4CD6-809D-D718AD223803}" type="parTrans" cxnId="{ED6266E0-CA2B-4DA8-B371-293B33A21499}">
      <dgm:prSet/>
      <dgm:spPr/>
      <dgm:t>
        <a:bodyPr/>
        <a:lstStyle/>
        <a:p>
          <a:endParaRPr lang="en-US"/>
        </a:p>
      </dgm:t>
    </dgm:pt>
    <dgm:pt modelId="{D5988239-EFAF-4114-9C4F-48EC0DEF4E80}" type="sibTrans" cxnId="{ED6266E0-CA2B-4DA8-B371-293B33A21499}">
      <dgm:prSet/>
      <dgm:spPr/>
      <dgm:t>
        <a:bodyPr/>
        <a:lstStyle/>
        <a:p>
          <a:endParaRPr lang="en-US"/>
        </a:p>
      </dgm:t>
    </dgm:pt>
    <dgm:pt modelId="{F7145AD2-37BE-45AD-835C-BBA6E4F9B290}">
      <dgm:prSet/>
      <dgm:spPr/>
      <dgm:t>
        <a:bodyPr/>
        <a:lstStyle/>
        <a:p>
          <a:r>
            <a:rPr lang="en-US" dirty="0"/>
            <a:t>iii. Split the node into two daughter nodes. </a:t>
          </a:r>
        </a:p>
      </dgm:t>
    </dgm:pt>
    <dgm:pt modelId="{CF0BC70E-F774-4887-B386-DADABFD91C6A}" type="parTrans" cxnId="{8D400C45-129F-416F-8C1B-0E8F0D411AAF}">
      <dgm:prSet/>
      <dgm:spPr/>
      <dgm:t>
        <a:bodyPr/>
        <a:lstStyle/>
        <a:p>
          <a:endParaRPr lang="en-US"/>
        </a:p>
      </dgm:t>
    </dgm:pt>
    <dgm:pt modelId="{4BF4C23E-0978-4552-893A-ACB2686E1A50}" type="sibTrans" cxnId="{8D400C45-129F-416F-8C1B-0E8F0D411AAF}">
      <dgm:prSet/>
      <dgm:spPr/>
      <dgm:t>
        <a:bodyPr/>
        <a:lstStyle/>
        <a:p>
          <a:endParaRPr lang="en-US"/>
        </a:p>
      </dgm:t>
    </dgm:pt>
    <dgm:pt modelId="{924FC490-B316-4355-ABE2-97CC109459F8}">
      <dgm:prSet/>
      <dgm:spPr/>
      <dgm:t>
        <a:bodyPr/>
        <a:lstStyle/>
        <a:p>
          <a:r>
            <a:rPr lang="en-US"/>
            <a:t>To make a prediction at a new point </a:t>
          </a:r>
          <a:r>
            <a:rPr lang="en-US" i="1"/>
            <a:t>x</a:t>
          </a:r>
          <a:r>
            <a:rPr lang="en-US"/>
            <a:t> we do:</a:t>
          </a:r>
        </a:p>
      </dgm:t>
    </dgm:pt>
    <dgm:pt modelId="{1C45EFD8-097D-4837-87C7-31607D3EA090}" type="parTrans" cxnId="{38ED6087-002A-47BC-AC79-7A239EE395AF}">
      <dgm:prSet/>
      <dgm:spPr/>
      <dgm:t>
        <a:bodyPr/>
        <a:lstStyle/>
        <a:p>
          <a:endParaRPr lang="en-US"/>
        </a:p>
      </dgm:t>
    </dgm:pt>
    <dgm:pt modelId="{3A3354F0-7DEB-4A07-9675-CCE6D4FB6AA1}" type="sibTrans" cxnId="{38ED6087-002A-47BC-AC79-7A239EE395AF}">
      <dgm:prSet/>
      <dgm:spPr/>
      <dgm:t>
        <a:bodyPr/>
        <a:lstStyle/>
        <a:p>
          <a:endParaRPr lang="en-US"/>
        </a:p>
      </dgm:t>
    </dgm:pt>
    <dgm:pt modelId="{440F0195-C3A5-430D-A3BC-26E4AEC7A56B}">
      <dgm:prSet/>
      <dgm:spPr/>
      <dgm:t>
        <a:bodyPr/>
        <a:lstStyle/>
        <a:p>
          <a:r>
            <a:rPr lang="en-US"/>
            <a:t>For regression: average the results </a:t>
          </a:r>
        </a:p>
      </dgm:t>
    </dgm:pt>
    <dgm:pt modelId="{58483DCC-10C9-423E-A4B4-4C149E1344BA}" type="parTrans" cxnId="{9D062EE0-213E-43CD-B402-4004266E342A}">
      <dgm:prSet/>
      <dgm:spPr/>
      <dgm:t>
        <a:bodyPr/>
        <a:lstStyle/>
        <a:p>
          <a:endParaRPr lang="en-US"/>
        </a:p>
      </dgm:t>
    </dgm:pt>
    <dgm:pt modelId="{B5BD2E1E-B830-44DD-BDF4-664E67684604}" type="sibTrans" cxnId="{9D062EE0-213E-43CD-B402-4004266E342A}">
      <dgm:prSet/>
      <dgm:spPr/>
      <dgm:t>
        <a:bodyPr/>
        <a:lstStyle/>
        <a:p>
          <a:endParaRPr lang="en-US"/>
        </a:p>
      </dgm:t>
    </dgm:pt>
    <dgm:pt modelId="{B944FDF0-E539-459B-8695-02637D08885C}">
      <dgm:prSet/>
      <dgm:spPr/>
      <dgm:t>
        <a:bodyPr/>
        <a:lstStyle/>
        <a:p>
          <a:r>
            <a:rPr lang="en-US"/>
            <a:t>For classification: majority vote </a:t>
          </a:r>
        </a:p>
      </dgm:t>
    </dgm:pt>
    <dgm:pt modelId="{8DB46B36-0753-4310-9191-67E4E991A3DA}" type="parTrans" cxnId="{802C8531-658E-4429-A8B5-0DFB9FF858FB}">
      <dgm:prSet/>
      <dgm:spPr/>
      <dgm:t>
        <a:bodyPr/>
        <a:lstStyle/>
        <a:p>
          <a:endParaRPr lang="en-US"/>
        </a:p>
      </dgm:t>
    </dgm:pt>
    <dgm:pt modelId="{5B79B775-775D-4693-866C-954639F7194B}" type="sibTrans" cxnId="{802C8531-658E-4429-A8B5-0DFB9FF858FB}">
      <dgm:prSet/>
      <dgm:spPr/>
      <dgm:t>
        <a:bodyPr/>
        <a:lstStyle/>
        <a:p>
          <a:endParaRPr lang="en-US"/>
        </a:p>
      </dgm:t>
    </dgm:pt>
    <dgm:pt modelId="{168D1EA5-F485-46AB-833F-A5D834E555C6}">
      <dgm:prSet/>
      <dgm:spPr/>
      <dgm:t>
        <a:bodyPr/>
        <a:lstStyle/>
        <a:p>
          <a:r>
            <a:rPr lang="en-US"/>
            <a:t>Output the ensemble of trees. </a:t>
          </a:r>
          <a:endParaRPr lang="en-US" dirty="0"/>
        </a:p>
      </dgm:t>
    </dgm:pt>
    <dgm:pt modelId="{53D9D4D5-17FA-4A54-9B20-A6747BC06A3D}" type="parTrans" cxnId="{A6AE57A9-2C3F-4B1D-BD61-A5E96B0DCFF1}">
      <dgm:prSet/>
      <dgm:spPr/>
      <dgm:t>
        <a:bodyPr/>
        <a:lstStyle/>
        <a:p>
          <a:endParaRPr lang="en-US"/>
        </a:p>
      </dgm:t>
    </dgm:pt>
    <dgm:pt modelId="{1705095D-D6B3-4CA4-8C32-E68E4ABD1E62}" type="sibTrans" cxnId="{A6AE57A9-2C3F-4B1D-BD61-A5E96B0DCFF1}">
      <dgm:prSet/>
      <dgm:spPr/>
      <dgm:t>
        <a:bodyPr/>
        <a:lstStyle/>
        <a:p>
          <a:endParaRPr lang="en-US"/>
        </a:p>
      </dgm:t>
    </dgm:pt>
    <dgm:pt modelId="{1067661F-CC23-457E-A6F0-29E1DD058D52}" type="pres">
      <dgm:prSet presAssocID="{31BB63AD-D05F-4079-8188-25C2CEFD8781}" presName="Name0" presStyleCnt="0">
        <dgm:presLayoutVars>
          <dgm:dir/>
          <dgm:animLvl val="lvl"/>
          <dgm:resizeHandles val="exact"/>
        </dgm:presLayoutVars>
      </dgm:prSet>
      <dgm:spPr/>
    </dgm:pt>
    <dgm:pt modelId="{1B70308B-42DC-4106-B79A-7F3466FD5E7A}" type="pres">
      <dgm:prSet presAssocID="{2A3B713F-6DE6-473A-B130-5320911E7369}" presName="composite" presStyleCnt="0"/>
      <dgm:spPr/>
    </dgm:pt>
    <dgm:pt modelId="{7C850A47-379D-47B1-92BB-023D52C88F08}" type="pres">
      <dgm:prSet presAssocID="{2A3B713F-6DE6-473A-B130-5320911E7369}" presName="parTx" presStyleLbl="alignNode1" presStyleIdx="0" presStyleCnt="2">
        <dgm:presLayoutVars>
          <dgm:chMax val="0"/>
          <dgm:chPref val="0"/>
          <dgm:bulletEnabled val="1"/>
        </dgm:presLayoutVars>
      </dgm:prSet>
      <dgm:spPr/>
    </dgm:pt>
    <dgm:pt modelId="{8C9E591D-523B-4F05-B56E-C626FFAA41CC}" type="pres">
      <dgm:prSet presAssocID="{2A3B713F-6DE6-473A-B130-5320911E7369}" presName="desTx" presStyleLbl="alignAccFollowNode1" presStyleIdx="0" presStyleCnt="2">
        <dgm:presLayoutVars>
          <dgm:bulletEnabled val="1"/>
        </dgm:presLayoutVars>
      </dgm:prSet>
      <dgm:spPr/>
    </dgm:pt>
    <dgm:pt modelId="{2F6E8A4A-BB5F-4BE4-B4FF-8C4269602F2D}" type="pres">
      <dgm:prSet presAssocID="{49B40B03-18FF-4B5D-A2B3-CE0408BB5CDE}" presName="space" presStyleCnt="0"/>
      <dgm:spPr/>
    </dgm:pt>
    <dgm:pt modelId="{B8BF7655-FF59-493E-9A59-59180BF66C83}" type="pres">
      <dgm:prSet presAssocID="{924FC490-B316-4355-ABE2-97CC109459F8}" presName="composite" presStyleCnt="0"/>
      <dgm:spPr/>
    </dgm:pt>
    <dgm:pt modelId="{FE6BB94E-FB3E-47B0-8DFA-434B5449EE5B}" type="pres">
      <dgm:prSet presAssocID="{924FC490-B316-4355-ABE2-97CC109459F8}" presName="parTx" presStyleLbl="alignNode1" presStyleIdx="1" presStyleCnt="2">
        <dgm:presLayoutVars>
          <dgm:chMax val="0"/>
          <dgm:chPref val="0"/>
          <dgm:bulletEnabled val="1"/>
        </dgm:presLayoutVars>
      </dgm:prSet>
      <dgm:spPr/>
    </dgm:pt>
    <dgm:pt modelId="{5B03170F-C21F-4A6E-96D5-9FB0BD1649A8}" type="pres">
      <dgm:prSet presAssocID="{924FC490-B316-4355-ABE2-97CC109459F8}" presName="desTx" presStyleLbl="alignAccFollowNode1" presStyleIdx="1" presStyleCnt="2">
        <dgm:presLayoutVars>
          <dgm:bulletEnabled val="1"/>
        </dgm:presLayoutVars>
      </dgm:prSet>
      <dgm:spPr/>
    </dgm:pt>
  </dgm:ptLst>
  <dgm:cxnLst>
    <dgm:cxn modelId="{80A2D016-CDCF-45CA-A070-92ADFC3A404C}" type="presOf" srcId="{924FC490-B316-4355-ABE2-97CC109459F8}" destId="{FE6BB94E-FB3E-47B0-8DFA-434B5449EE5B}" srcOrd="0" destOrd="0" presId="urn:microsoft.com/office/officeart/2005/8/layout/hList1"/>
    <dgm:cxn modelId="{DC267F17-4458-4752-8C9D-C8C844756682}" type="presOf" srcId="{F7145AD2-37BE-45AD-835C-BBA6E4F9B290}" destId="{8C9E591D-523B-4F05-B56E-C626FFAA41CC}" srcOrd="0" destOrd="4" presId="urn:microsoft.com/office/officeart/2005/8/layout/hList1"/>
    <dgm:cxn modelId="{2EBB5522-9A41-407B-9709-AFB92BF071EC}" type="presOf" srcId="{5F473B1F-4B66-46FA-A7E9-B398DB2DB42E}" destId="{8C9E591D-523B-4F05-B56E-C626FFAA41CC}" srcOrd="0" destOrd="2" presId="urn:microsoft.com/office/officeart/2005/8/layout/hList1"/>
    <dgm:cxn modelId="{C1012B23-8C4B-4A7C-B14A-ACEFF731161A}" type="presOf" srcId="{840DC1CE-96C2-4BAE-8735-6F3B171988EB}" destId="{8C9E591D-523B-4F05-B56E-C626FFAA41CC}" srcOrd="0" destOrd="0" presId="urn:microsoft.com/office/officeart/2005/8/layout/hList1"/>
    <dgm:cxn modelId="{A484BF2D-7443-4A5B-BC00-7071F17782A5}" srcId="{31BB63AD-D05F-4079-8188-25C2CEFD8781}" destId="{2A3B713F-6DE6-473A-B130-5320911E7369}" srcOrd="0" destOrd="0" parTransId="{32CC4173-9C69-478D-9579-98A05A5F09F4}" sibTransId="{49B40B03-18FF-4B5D-A2B3-CE0408BB5CDE}"/>
    <dgm:cxn modelId="{802C8531-658E-4429-A8B5-0DFB9FF858FB}" srcId="{924FC490-B316-4355-ABE2-97CC109459F8}" destId="{B944FDF0-E539-459B-8695-02637D08885C}" srcOrd="1" destOrd="0" parTransId="{8DB46B36-0753-4310-9191-67E4E991A3DA}" sibTransId="{5B79B775-775D-4693-866C-954639F7194B}"/>
    <dgm:cxn modelId="{AE95F75F-4D77-4046-8DA3-8A8554061687}" srcId="{2A3B713F-6DE6-473A-B130-5320911E7369}" destId="{840DC1CE-96C2-4BAE-8735-6F3B171988EB}" srcOrd="0" destOrd="0" parTransId="{27284AA4-CF1A-4AE2-BDAD-3A8534995C0A}" sibTransId="{18CFC117-536C-4890-9A36-57B4481BB90D}"/>
    <dgm:cxn modelId="{8D400C45-129F-416F-8C1B-0E8F0D411AAF}" srcId="{4BC0275E-72F4-4747-9DC9-DCCF22F1DB21}" destId="{F7145AD2-37BE-45AD-835C-BBA6E4F9B290}" srcOrd="2" destOrd="0" parTransId="{CF0BC70E-F774-4887-B386-DADABFD91C6A}" sibTransId="{4BF4C23E-0978-4552-893A-ACB2686E1A50}"/>
    <dgm:cxn modelId="{54368C76-973E-487F-B5BB-4FEF04CF0ABA}" srcId="{4BC0275E-72F4-4747-9DC9-DCCF22F1DB21}" destId="{5F473B1F-4B66-46FA-A7E9-B398DB2DB42E}" srcOrd="0" destOrd="0" parTransId="{EC1E64F8-3A61-4BBE-AD71-401936328B62}" sibTransId="{CF99325D-1F2C-45C8-87AB-C85F0FDD6B34}"/>
    <dgm:cxn modelId="{38ED6087-002A-47BC-AC79-7A239EE395AF}" srcId="{31BB63AD-D05F-4079-8188-25C2CEFD8781}" destId="{924FC490-B316-4355-ABE2-97CC109459F8}" srcOrd="1" destOrd="0" parTransId="{1C45EFD8-097D-4837-87C7-31607D3EA090}" sibTransId="{3A3354F0-7DEB-4A07-9675-CCE6D4FB6AA1}"/>
    <dgm:cxn modelId="{6C601C8F-3586-4461-B69B-0EB4C1C5D895}" type="presOf" srcId="{6FECD162-D75A-4B2F-98EE-274BE1A171E0}" destId="{8C9E591D-523B-4F05-B56E-C626FFAA41CC}" srcOrd="0" destOrd="3" presId="urn:microsoft.com/office/officeart/2005/8/layout/hList1"/>
    <dgm:cxn modelId="{C580FE94-B45B-45BD-B5F3-431943FD0119}" type="presOf" srcId="{440F0195-C3A5-430D-A3BC-26E4AEC7A56B}" destId="{5B03170F-C21F-4A6E-96D5-9FB0BD1649A8}" srcOrd="0" destOrd="0" presId="urn:microsoft.com/office/officeart/2005/8/layout/hList1"/>
    <dgm:cxn modelId="{A515D89C-FAB5-461D-94F0-02916AA16789}" type="presOf" srcId="{2A3B713F-6DE6-473A-B130-5320911E7369}" destId="{7C850A47-379D-47B1-92BB-023D52C88F08}" srcOrd="0" destOrd="0" presId="urn:microsoft.com/office/officeart/2005/8/layout/hList1"/>
    <dgm:cxn modelId="{A6AE57A9-2C3F-4B1D-BD61-A5E96B0DCFF1}" srcId="{2A3B713F-6DE6-473A-B130-5320911E7369}" destId="{168D1EA5-F485-46AB-833F-A5D834E555C6}" srcOrd="2" destOrd="0" parTransId="{53D9D4D5-17FA-4A54-9B20-A6747BC06A3D}" sibTransId="{1705095D-D6B3-4CA4-8C32-E68E4ABD1E62}"/>
    <dgm:cxn modelId="{591652D1-B6E3-40D0-8813-9C779A296DA1}" type="presOf" srcId="{168D1EA5-F485-46AB-833F-A5D834E555C6}" destId="{8C9E591D-523B-4F05-B56E-C626FFAA41CC}" srcOrd="0" destOrd="5" presId="urn:microsoft.com/office/officeart/2005/8/layout/hList1"/>
    <dgm:cxn modelId="{75F5B2D5-14EB-40E7-A308-251207DD678A}" type="presOf" srcId="{4BC0275E-72F4-4747-9DC9-DCCF22F1DB21}" destId="{8C9E591D-523B-4F05-B56E-C626FFAA41CC}" srcOrd="0" destOrd="1" presId="urn:microsoft.com/office/officeart/2005/8/layout/hList1"/>
    <dgm:cxn modelId="{045303DB-1650-4A64-81ED-877C33BBDDB1}" type="presOf" srcId="{B944FDF0-E539-459B-8695-02637D08885C}" destId="{5B03170F-C21F-4A6E-96D5-9FB0BD1649A8}" srcOrd="0" destOrd="1" presId="urn:microsoft.com/office/officeart/2005/8/layout/hList1"/>
    <dgm:cxn modelId="{9D062EE0-213E-43CD-B402-4004266E342A}" srcId="{924FC490-B316-4355-ABE2-97CC109459F8}" destId="{440F0195-C3A5-430D-A3BC-26E4AEC7A56B}" srcOrd="0" destOrd="0" parTransId="{58483DCC-10C9-423E-A4B4-4C149E1344BA}" sibTransId="{B5BD2E1E-B830-44DD-BDF4-664E67684604}"/>
    <dgm:cxn modelId="{ED6266E0-CA2B-4DA8-B371-293B33A21499}" srcId="{4BC0275E-72F4-4747-9DC9-DCCF22F1DB21}" destId="{6FECD162-D75A-4B2F-98EE-274BE1A171E0}" srcOrd="1" destOrd="0" parTransId="{5AD77E5A-7FD5-4CD6-809D-D718AD223803}" sibTransId="{D5988239-EFAF-4114-9C4F-48EC0DEF4E80}"/>
    <dgm:cxn modelId="{1A8E8DE3-99DD-41A1-ACF0-F6457ADF4950}" srcId="{2A3B713F-6DE6-473A-B130-5320911E7369}" destId="{4BC0275E-72F4-4747-9DC9-DCCF22F1DB21}" srcOrd="1" destOrd="0" parTransId="{12DF67C8-3916-4246-BF48-6BA31225E037}" sibTransId="{C522255F-E43C-4BDE-8468-0B7726DC65B6}"/>
    <dgm:cxn modelId="{2C9FE7E6-8C82-438A-85FE-1B996911E590}" type="presOf" srcId="{31BB63AD-D05F-4079-8188-25C2CEFD8781}" destId="{1067661F-CC23-457E-A6F0-29E1DD058D52}" srcOrd="0" destOrd="0" presId="urn:microsoft.com/office/officeart/2005/8/layout/hList1"/>
    <dgm:cxn modelId="{838380FB-0F09-4FFF-B1C5-82AD1B49F8E7}" type="presParOf" srcId="{1067661F-CC23-457E-A6F0-29E1DD058D52}" destId="{1B70308B-42DC-4106-B79A-7F3466FD5E7A}" srcOrd="0" destOrd="0" presId="urn:microsoft.com/office/officeart/2005/8/layout/hList1"/>
    <dgm:cxn modelId="{0443BCCC-7CDA-4196-8EBA-98B95802DCBC}" type="presParOf" srcId="{1B70308B-42DC-4106-B79A-7F3466FD5E7A}" destId="{7C850A47-379D-47B1-92BB-023D52C88F08}" srcOrd="0" destOrd="0" presId="urn:microsoft.com/office/officeart/2005/8/layout/hList1"/>
    <dgm:cxn modelId="{75134782-14F6-4DB3-AE28-1AC94C377439}" type="presParOf" srcId="{1B70308B-42DC-4106-B79A-7F3466FD5E7A}" destId="{8C9E591D-523B-4F05-B56E-C626FFAA41CC}" srcOrd="1" destOrd="0" presId="urn:microsoft.com/office/officeart/2005/8/layout/hList1"/>
    <dgm:cxn modelId="{17460C3A-0785-4887-8161-41585DA7F040}" type="presParOf" srcId="{1067661F-CC23-457E-A6F0-29E1DD058D52}" destId="{2F6E8A4A-BB5F-4BE4-B4FF-8C4269602F2D}" srcOrd="1" destOrd="0" presId="urn:microsoft.com/office/officeart/2005/8/layout/hList1"/>
    <dgm:cxn modelId="{F1C21A8C-E8E2-42F4-AFC4-E93791C8736F}" type="presParOf" srcId="{1067661F-CC23-457E-A6F0-29E1DD058D52}" destId="{B8BF7655-FF59-493E-9A59-59180BF66C83}" srcOrd="2" destOrd="0" presId="urn:microsoft.com/office/officeart/2005/8/layout/hList1"/>
    <dgm:cxn modelId="{DD3E09FA-ACAB-4959-AD2D-3747692B9D1A}" type="presParOf" srcId="{B8BF7655-FF59-493E-9A59-59180BF66C83}" destId="{FE6BB94E-FB3E-47B0-8DFA-434B5449EE5B}" srcOrd="0" destOrd="0" presId="urn:microsoft.com/office/officeart/2005/8/layout/hList1"/>
    <dgm:cxn modelId="{4A53A4D3-CB08-4CB0-A62B-0B821D340136}" type="presParOf" srcId="{B8BF7655-FF59-493E-9A59-59180BF66C83}" destId="{5B03170F-C21F-4A6E-96D5-9FB0BD1649A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850A47-379D-47B1-92BB-023D52C88F08}">
      <dsp:nvSpPr>
        <dsp:cNvPr id="0" name=""/>
        <dsp:cNvSpPr/>
      </dsp:nvSpPr>
      <dsp:spPr>
        <a:xfrm>
          <a:off x="40" y="185423"/>
          <a:ext cx="3865481" cy="345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kern="1200"/>
            <a:t>For b = 1 to B: </a:t>
          </a:r>
        </a:p>
      </dsp:txBody>
      <dsp:txXfrm>
        <a:off x="40" y="185423"/>
        <a:ext cx="3865481" cy="345600"/>
      </dsp:txXfrm>
    </dsp:sp>
    <dsp:sp modelId="{8C9E591D-523B-4F05-B56E-C626FFAA41CC}">
      <dsp:nvSpPr>
        <dsp:cNvPr id="0" name=""/>
        <dsp:cNvSpPr/>
      </dsp:nvSpPr>
      <dsp:spPr>
        <a:xfrm>
          <a:off x="40" y="531023"/>
          <a:ext cx="3865481" cy="20422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t>(a) Draw a bootstrap sample Z∗ of size </a:t>
          </a:r>
          <a:r>
            <a:rPr lang="en-US" sz="1200" i="1" kern="1200"/>
            <a:t>N</a:t>
          </a:r>
          <a:r>
            <a:rPr lang="en-US" sz="1200" kern="1200"/>
            <a:t> from the training data. </a:t>
          </a:r>
        </a:p>
        <a:p>
          <a:pPr marL="114300" lvl="1" indent="-114300" algn="l" defTabSz="533400">
            <a:lnSpc>
              <a:spcPct val="90000"/>
            </a:lnSpc>
            <a:spcBef>
              <a:spcPct val="0"/>
            </a:spcBef>
            <a:spcAft>
              <a:spcPct val="15000"/>
            </a:spcAft>
            <a:buChar char="•"/>
          </a:pPr>
          <a:r>
            <a:rPr lang="en-US" sz="1200" kern="1200"/>
            <a:t>(b) Grow a random-forest tree  to the bootstrapped data, by recursively repeating the following steps for each terminal node of the tree, until the minimum node size </a:t>
          </a:r>
          <a:r>
            <a:rPr lang="en-US" sz="1200" b="1" i="1" kern="1200"/>
            <a:t>n</a:t>
          </a:r>
          <a:r>
            <a:rPr lang="en-US" sz="1200" b="1" i="1" kern="1200" baseline="-25000"/>
            <a:t>min</a:t>
          </a:r>
          <a:r>
            <a:rPr lang="en-US" sz="1200" kern="1200"/>
            <a:t> is reached. </a:t>
          </a:r>
        </a:p>
        <a:p>
          <a:pPr marL="228600" lvl="2" indent="-114300" algn="l" defTabSz="533400">
            <a:lnSpc>
              <a:spcPct val="90000"/>
            </a:lnSpc>
            <a:spcBef>
              <a:spcPct val="0"/>
            </a:spcBef>
            <a:spcAft>
              <a:spcPct val="15000"/>
            </a:spcAft>
            <a:buChar char="•"/>
          </a:pPr>
          <a:r>
            <a:rPr lang="en-US" sz="1200" kern="1200"/>
            <a:t>i. Select </a:t>
          </a:r>
          <a:r>
            <a:rPr lang="en-US" sz="1200" b="1" i="1" kern="1200"/>
            <a:t>m</a:t>
          </a:r>
          <a:r>
            <a:rPr lang="en-US" sz="1200" kern="1200"/>
            <a:t> variables at random from the </a:t>
          </a:r>
          <a:r>
            <a:rPr lang="en-US" sz="1200" i="1" kern="1200"/>
            <a:t>p</a:t>
          </a:r>
          <a:r>
            <a:rPr lang="en-US" sz="1200" kern="1200"/>
            <a:t> variables. </a:t>
          </a:r>
        </a:p>
        <a:p>
          <a:pPr marL="228600" lvl="2" indent="-114300" algn="l" defTabSz="533400">
            <a:lnSpc>
              <a:spcPct val="90000"/>
            </a:lnSpc>
            <a:spcBef>
              <a:spcPct val="0"/>
            </a:spcBef>
            <a:spcAft>
              <a:spcPct val="15000"/>
            </a:spcAft>
            <a:buChar char="•"/>
          </a:pPr>
          <a:r>
            <a:rPr lang="en-US" sz="1200" kern="1200"/>
            <a:t>ii. Pick the best variable/split-point among the </a:t>
          </a:r>
          <a:r>
            <a:rPr lang="en-US" sz="1200" i="1" kern="1200"/>
            <a:t>m</a:t>
          </a:r>
          <a:r>
            <a:rPr lang="en-US" sz="1200" kern="1200"/>
            <a:t>.</a:t>
          </a:r>
        </a:p>
        <a:p>
          <a:pPr marL="228600" lvl="2" indent="-114300" algn="l" defTabSz="533400">
            <a:lnSpc>
              <a:spcPct val="90000"/>
            </a:lnSpc>
            <a:spcBef>
              <a:spcPct val="0"/>
            </a:spcBef>
            <a:spcAft>
              <a:spcPct val="15000"/>
            </a:spcAft>
            <a:buChar char="•"/>
          </a:pPr>
          <a:r>
            <a:rPr lang="en-US" sz="1200" kern="1200" dirty="0"/>
            <a:t>iii. Split the node into two daughter nodes. </a:t>
          </a:r>
        </a:p>
        <a:p>
          <a:pPr marL="114300" lvl="1" indent="-114300" algn="l" defTabSz="533400">
            <a:lnSpc>
              <a:spcPct val="90000"/>
            </a:lnSpc>
            <a:spcBef>
              <a:spcPct val="0"/>
            </a:spcBef>
            <a:spcAft>
              <a:spcPct val="15000"/>
            </a:spcAft>
            <a:buChar char="•"/>
          </a:pPr>
          <a:r>
            <a:rPr lang="en-US" sz="1200" kern="1200"/>
            <a:t>Output the ensemble of trees. </a:t>
          </a:r>
          <a:endParaRPr lang="en-US" sz="1200" kern="1200" dirty="0"/>
        </a:p>
      </dsp:txBody>
      <dsp:txXfrm>
        <a:off x="40" y="531023"/>
        <a:ext cx="3865481" cy="2042280"/>
      </dsp:txXfrm>
    </dsp:sp>
    <dsp:sp modelId="{FE6BB94E-FB3E-47B0-8DFA-434B5449EE5B}">
      <dsp:nvSpPr>
        <dsp:cNvPr id="0" name=""/>
        <dsp:cNvSpPr/>
      </dsp:nvSpPr>
      <dsp:spPr>
        <a:xfrm>
          <a:off x="4406689" y="185423"/>
          <a:ext cx="3865481" cy="345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kern="1200"/>
            <a:t>To make a prediction at a new point </a:t>
          </a:r>
          <a:r>
            <a:rPr lang="en-US" sz="1200" i="1" kern="1200"/>
            <a:t>x</a:t>
          </a:r>
          <a:r>
            <a:rPr lang="en-US" sz="1200" kern="1200"/>
            <a:t> we do:</a:t>
          </a:r>
        </a:p>
      </dsp:txBody>
      <dsp:txXfrm>
        <a:off x="4406689" y="185423"/>
        <a:ext cx="3865481" cy="345600"/>
      </dsp:txXfrm>
    </dsp:sp>
    <dsp:sp modelId="{5B03170F-C21F-4A6E-96D5-9FB0BD1649A8}">
      <dsp:nvSpPr>
        <dsp:cNvPr id="0" name=""/>
        <dsp:cNvSpPr/>
      </dsp:nvSpPr>
      <dsp:spPr>
        <a:xfrm>
          <a:off x="4406689" y="531023"/>
          <a:ext cx="3865481" cy="20422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t>For regression: average the results </a:t>
          </a:r>
        </a:p>
        <a:p>
          <a:pPr marL="114300" lvl="1" indent="-114300" algn="l" defTabSz="533400">
            <a:lnSpc>
              <a:spcPct val="90000"/>
            </a:lnSpc>
            <a:spcBef>
              <a:spcPct val="0"/>
            </a:spcBef>
            <a:spcAft>
              <a:spcPct val="15000"/>
            </a:spcAft>
            <a:buChar char="•"/>
          </a:pPr>
          <a:r>
            <a:rPr lang="en-US" sz="1200" kern="1200"/>
            <a:t>For classification: majority vote </a:t>
          </a:r>
        </a:p>
      </dsp:txBody>
      <dsp:txXfrm>
        <a:off x="4406689" y="531023"/>
        <a:ext cx="3865481" cy="204228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386225"/>
            <a:ext cx="6096300" cy="19311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 name="Google Shape;52;p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70: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 name="Google Shape;65;p7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74: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7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75: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7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49a9029d07_0_35:notes"/>
          <p:cNvSpPr txBox="1">
            <a:spLocks noGrp="1"/>
          </p:cNvSpPr>
          <p:nvPr>
            <p:ph type="body" idx="1"/>
          </p:nvPr>
        </p:nvSpPr>
        <p:spPr>
          <a:xfrm>
            <a:off x="914400" y="2446175"/>
            <a:ext cx="7315200" cy="231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g249a9029d07_0_3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8: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7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80: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8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1: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 name="Google Shape;175;p8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2: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8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49a9029d07_0_0:notes"/>
          <p:cNvSpPr txBox="1">
            <a:spLocks noGrp="1"/>
          </p:cNvSpPr>
          <p:nvPr>
            <p:ph type="body" idx="1"/>
          </p:nvPr>
        </p:nvSpPr>
        <p:spPr>
          <a:xfrm>
            <a:off x="914400" y="2446175"/>
            <a:ext cx="7315200" cy="231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9" name="Google Shape;189;g249a9029d07_0_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49a9029d07_0_89:notes"/>
          <p:cNvSpPr txBox="1">
            <a:spLocks noGrp="1"/>
          </p:cNvSpPr>
          <p:nvPr>
            <p:ph type="body" idx="1"/>
          </p:nvPr>
        </p:nvSpPr>
        <p:spPr>
          <a:xfrm>
            <a:off x="914400" y="2446175"/>
            <a:ext cx="7315200" cy="231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6" name="Google Shape;196;g249a9029d07_0_8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49a9029d07_0_94:notes"/>
          <p:cNvSpPr txBox="1">
            <a:spLocks noGrp="1"/>
          </p:cNvSpPr>
          <p:nvPr>
            <p:ph type="body" idx="1"/>
          </p:nvPr>
        </p:nvSpPr>
        <p:spPr>
          <a:xfrm>
            <a:off x="914400" y="2446175"/>
            <a:ext cx="7315200" cy="231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4" name="Google Shape;204;g249a9029d07_0_9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49a9029d07_0_54:notes"/>
          <p:cNvSpPr txBox="1">
            <a:spLocks noGrp="1"/>
          </p:cNvSpPr>
          <p:nvPr>
            <p:ph type="body" idx="1"/>
          </p:nvPr>
        </p:nvSpPr>
        <p:spPr>
          <a:xfrm>
            <a:off x="914400" y="2446175"/>
            <a:ext cx="7315200" cy="231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1" name="Google Shape;211;g249a9029d07_0_5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49a9029d07_0_99:notes"/>
          <p:cNvSpPr txBox="1">
            <a:spLocks noGrp="1"/>
          </p:cNvSpPr>
          <p:nvPr>
            <p:ph type="body" idx="1"/>
          </p:nvPr>
        </p:nvSpPr>
        <p:spPr>
          <a:xfrm>
            <a:off x="914400" y="2446175"/>
            <a:ext cx="7315200" cy="231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 name="Google Shape;218;g249a9029d07_0_9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g2cff5d159b0_0_4"/>
          <p:cNvSpPr txBox="1">
            <a:spLocks noGrp="1"/>
          </p:cNvSpPr>
          <p:nvPr>
            <p:ph type="ctrTitle"/>
          </p:nvPr>
        </p:nvSpPr>
        <p:spPr>
          <a:xfrm>
            <a:off x="311708" y="745494"/>
            <a:ext cx="8520600" cy="20550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g2cff5d159b0_0_4"/>
          <p:cNvSpPr txBox="1">
            <a:spLocks noGrp="1"/>
          </p:cNvSpPr>
          <p:nvPr>
            <p:ph type="subTitle" idx="1"/>
          </p:nvPr>
        </p:nvSpPr>
        <p:spPr>
          <a:xfrm>
            <a:off x="311700" y="2837624"/>
            <a:ext cx="8520600" cy="793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g2cff5d159b0_0_4"/>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g2cff5d159b0_0_8"/>
          <p:cNvSpPr txBox="1">
            <a:spLocks noGrp="1"/>
          </p:cNvSpPr>
          <p:nvPr>
            <p:ph type="title"/>
          </p:nvPr>
        </p:nvSpPr>
        <p:spPr>
          <a:xfrm>
            <a:off x="311700" y="2153505"/>
            <a:ext cx="8520600" cy="8427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g2cff5d159b0_0_8"/>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g2cff5d159b0_0_11"/>
          <p:cNvSpPr txBox="1">
            <a:spLocks noGrp="1"/>
          </p:cNvSpPr>
          <p:nvPr>
            <p:ph type="title"/>
          </p:nvPr>
        </p:nvSpPr>
        <p:spPr>
          <a:xfrm>
            <a:off x="311700" y="445574"/>
            <a:ext cx="8520600" cy="573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g2cff5d159b0_0_11"/>
          <p:cNvSpPr txBox="1">
            <a:spLocks noGrp="1"/>
          </p:cNvSpPr>
          <p:nvPr>
            <p:ph type="body" idx="1"/>
          </p:nvPr>
        </p:nvSpPr>
        <p:spPr>
          <a:xfrm>
            <a:off x="311700" y="1153898"/>
            <a:ext cx="8520600" cy="3420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g2cff5d159b0_0_11"/>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g2cff5d159b0_0_20"/>
          <p:cNvSpPr txBox="1">
            <a:spLocks noGrp="1"/>
          </p:cNvSpPr>
          <p:nvPr>
            <p:ph type="title"/>
          </p:nvPr>
        </p:nvSpPr>
        <p:spPr>
          <a:xfrm>
            <a:off x="311700" y="445574"/>
            <a:ext cx="8520600" cy="573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g2cff5d159b0_0_20"/>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g2cff5d159b0_0_23"/>
          <p:cNvSpPr txBox="1">
            <a:spLocks noGrp="1"/>
          </p:cNvSpPr>
          <p:nvPr>
            <p:ph type="title"/>
          </p:nvPr>
        </p:nvSpPr>
        <p:spPr>
          <a:xfrm>
            <a:off x="311700" y="556286"/>
            <a:ext cx="2808000" cy="756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g2cff5d159b0_0_23"/>
          <p:cNvSpPr txBox="1">
            <a:spLocks noGrp="1"/>
          </p:cNvSpPr>
          <p:nvPr>
            <p:ph type="body" idx="1"/>
          </p:nvPr>
        </p:nvSpPr>
        <p:spPr>
          <a:xfrm>
            <a:off x="311700" y="1391316"/>
            <a:ext cx="2808000" cy="3183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g2cff5d159b0_0_23"/>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g2cff5d159b0_0_27"/>
          <p:cNvSpPr txBox="1">
            <a:spLocks noGrp="1"/>
          </p:cNvSpPr>
          <p:nvPr>
            <p:ph type="title"/>
          </p:nvPr>
        </p:nvSpPr>
        <p:spPr>
          <a:xfrm>
            <a:off x="490250" y="450706"/>
            <a:ext cx="6367800" cy="40959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g2cff5d159b0_0_27"/>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g2cff5d159b0_0_30"/>
          <p:cNvSpPr/>
          <p:nvPr/>
        </p:nvSpPr>
        <p:spPr>
          <a:xfrm>
            <a:off x="4572000" y="-125"/>
            <a:ext cx="4572000" cy="5149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g2cff5d159b0_0_30"/>
          <p:cNvSpPr txBox="1">
            <a:spLocks noGrp="1"/>
          </p:cNvSpPr>
          <p:nvPr>
            <p:ph type="title"/>
          </p:nvPr>
        </p:nvSpPr>
        <p:spPr>
          <a:xfrm>
            <a:off x="265500" y="1234697"/>
            <a:ext cx="4045200" cy="14841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g2cff5d159b0_0_30"/>
          <p:cNvSpPr txBox="1">
            <a:spLocks noGrp="1"/>
          </p:cNvSpPr>
          <p:nvPr>
            <p:ph type="subTitle" idx="1"/>
          </p:nvPr>
        </p:nvSpPr>
        <p:spPr>
          <a:xfrm>
            <a:off x="265500" y="2806536"/>
            <a:ext cx="4045200" cy="1236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g2cff5d159b0_0_30"/>
          <p:cNvSpPr txBox="1">
            <a:spLocks noGrp="1"/>
          </p:cNvSpPr>
          <p:nvPr>
            <p:ph type="body" idx="2"/>
          </p:nvPr>
        </p:nvSpPr>
        <p:spPr>
          <a:xfrm>
            <a:off x="4939500" y="724969"/>
            <a:ext cx="3837000" cy="36996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g2cff5d159b0_0_30"/>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g2cff5d159b0_0_36"/>
          <p:cNvSpPr txBox="1">
            <a:spLocks noGrp="1"/>
          </p:cNvSpPr>
          <p:nvPr>
            <p:ph type="body" idx="1"/>
          </p:nvPr>
        </p:nvSpPr>
        <p:spPr>
          <a:xfrm>
            <a:off x="311700" y="4235798"/>
            <a:ext cx="5998800" cy="605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g2cff5d159b0_0_36"/>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g2cff5d159b0_0_39"/>
          <p:cNvSpPr txBox="1">
            <a:spLocks noGrp="1"/>
          </p:cNvSpPr>
          <p:nvPr>
            <p:ph type="title" hasCustomPrompt="1"/>
          </p:nvPr>
        </p:nvSpPr>
        <p:spPr>
          <a:xfrm>
            <a:off x="311700" y="1107491"/>
            <a:ext cx="8520600" cy="19659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g2cff5d159b0_0_39"/>
          <p:cNvSpPr txBox="1">
            <a:spLocks noGrp="1"/>
          </p:cNvSpPr>
          <p:nvPr>
            <p:ph type="body" idx="1"/>
          </p:nvPr>
        </p:nvSpPr>
        <p:spPr>
          <a:xfrm>
            <a:off x="311700" y="3156117"/>
            <a:ext cx="8520600" cy="1302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g2cff5d159b0_0_39"/>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g2cff5d159b0_0_43"/>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846E0C-DB49-4B48-AB96-52FF1F35D18A}" type="datetime1">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39248-1E33-4EA9-B603-9679B7CEB55B}" type="slidenum">
              <a:rPr lang="en-US" smtClean="0"/>
              <a:t>‹#›</a:t>
            </a:fld>
            <a:endParaRPr lang="en-US"/>
          </a:p>
        </p:txBody>
      </p:sp>
    </p:spTree>
    <p:extLst>
      <p:ext uri="{BB962C8B-B14F-4D97-AF65-F5344CB8AC3E}">
        <p14:creationId xmlns:p14="http://schemas.microsoft.com/office/powerpoint/2010/main" val="863666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2cff5d159b0_0_0"/>
          <p:cNvSpPr txBox="1">
            <a:spLocks noGrp="1"/>
          </p:cNvSpPr>
          <p:nvPr>
            <p:ph type="title"/>
          </p:nvPr>
        </p:nvSpPr>
        <p:spPr>
          <a:xfrm>
            <a:off x="311700" y="445574"/>
            <a:ext cx="8520600" cy="5733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g2cff5d159b0_0_0"/>
          <p:cNvSpPr txBox="1">
            <a:spLocks noGrp="1"/>
          </p:cNvSpPr>
          <p:nvPr>
            <p:ph type="body" idx="1"/>
          </p:nvPr>
        </p:nvSpPr>
        <p:spPr>
          <a:xfrm>
            <a:off x="311700" y="1153898"/>
            <a:ext cx="8520600" cy="3420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g2cff5d159b0_0_0"/>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machine-learning/a-comprehensive-guide-to-ensemble-learning/"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machine-learning/what-is-bagging-classifier/" TargetMode="External"/><Relationship Id="rId2" Type="http://schemas.openxmlformats.org/officeDocument/2006/relationships/hyperlink" Target="https://www.geeksforgeeks.org/machine-learning/random-forest-algorithm-in-machine-learning/"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www.datacamp.com/tutorial/xgboost-in-python"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title"/>
          </p:nvPr>
        </p:nvSpPr>
        <p:spPr>
          <a:xfrm>
            <a:off x="257150" y="1795636"/>
            <a:ext cx="8520600" cy="627900"/>
          </a:xfrm>
          <a:prstGeom prst="rect">
            <a:avLst/>
          </a:prstGeom>
          <a:noFill/>
          <a:ln>
            <a:noFill/>
          </a:ln>
        </p:spPr>
        <p:txBody>
          <a:bodyPr spcFirstLastPara="1" wrap="square" lIns="0" tIns="12050" rIns="0" bIns="0" anchor="t" anchorCtr="0">
            <a:spAutoFit/>
          </a:bodyPr>
          <a:lstStyle/>
          <a:p>
            <a:pPr marL="311150" lvl="0" indent="0" algn="ctr" rtl="0">
              <a:lnSpc>
                <a:spcPct val="100000"/>
              </a:lnSpc>
              <a:spcBef>
                <a:spcPts val="0"/>
              </a:spcBef>
              <a:spcAft>
                <a:spcPts val="0"/>
              </a:spcAft>
              <a:buSzPts val="1400"/>
              <a:buNone/>
            </a:pPr>
            <a:r>
              <a:rPr lang="en-US" sz="4000"/>
              <a:t>Random Forest</a:t>
            </a:r>
            <a:endParaRPr sz="4000"/>
          </a:p>
        </p:txBody>
      </p:sp>
      <p:sp>
        <p:nvSpPr>
          <p:cNvPr id="55" name="Google Shape;55;p1"/>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1</a:t>
            </a:fld>
            <a:endParaRPr sz="1000" b="0">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480B-C424-4DD2-97EF-B1008E085023}"/>
              </a:ext>
            </a:extLst>
          </p:cNvPr>
          <p:cNvSpPr>
            <a:spLocks noGrp="1"/>
          </p:cNvSpPr>
          <p:nvPr>
            <p:ph type="title"/>
          </p:nvPr>
        </p:nvSpPr>
        <p:spPr/>
        <p:txBody>
          <a:bodyPr>
            <a:normAutofit fontScale="90000"/>
          </a:bodyPr>
          <a:lstStyle/>
          <a:p>
            <a:r>
              <a:rPr lang="en-US" dirty="0"/>
              <a:t>Bias vs Variance</a:t>
            </a:r>
          </a:p>
        </p:txBody>
      </p:sp>
      <p:sp>
        <p:nvSpPr>
          <p:cNvPr id="3" name="Text Placeholder 2">
            <a:extLst>
              <a:ext uri="{FF2B5EF4-FFF2-40B4-BE49-F238E27FC236}">
                <a16:creationId xmlns:a16="http://schemas.microsoft.com/office/drawing/2014/main" id="{9D6AD3B2-A669-4EC4-90B2-CA388EA13C94}"/>
              </a:ext>
            </a:extLst>
          </p:cNvPr>
          <p:cNvSpPr>
            <a:spLocks noGrp="1"/>
          </p:cNvSpPr>
          <p:nvPr>
            <p:ph type="body" idx="1"/>
          </p:nvPr>
        </p:nvSpPr>
        <p:spPr/>
        <p:txBody>
          <a:bodyPr>
            <a:normAutofit fontScale="92500" lnSpcReduction="10000"/>
          </a:bodyPr>
          <a:lstStyle/>
          <a:p>
            <a:r>
              <a:rPr lang="en-US" b="0" i="0" dirty="0">
                <a:solidFill>
                  <a:srgbClr val="444444"/>
                </a:solidFill>
                <a:effectLst/>
                <a:latin typeface="Inter"/>
              </a:rPr>
              <a:t>There are 3 types of prediction error: bias, variance, and irreducible error. Irreducible error, also known as "noise," can't be reduced by the choice of algorithm. The other two types of errors, however, can be reduced because they stem from your algorithm choice.</a:t>
            </a:r>
          </a:p>
          <a:p>
            <a:endParaRPr lang="en-US" dirty="0">
              <a:solidFill>
                <a:srgbClr val="444444"/>
              </a:solidFill>
              <a:latin typeface="Inter"/>
            </a:endParaRPr>
          </a:p>
          <a:p>
            <a:r>
              <a:rPr lang="en-US" b="0" i="1" dirty="0">
                <a:solidFill>
                  <a:srgbClr val="0693E3"/>
                </a:solidFill>
                <a:effectLst/>
                <a:latin typeface="Inter"/>
              </a:rPr>
              <a:t>…</a:t>
            </a:r>
            <a:r>
              <a:rPr lang="en-US" b="0" i="1" dirty="0">
                <a:solidFill>
                  <a:srgbClr val="0693E3"/>
                </a:solidFill>
                <a:effectLst/>
                <a:highlight>
                  <a:srgbClr val="FFFF00"/>
                </a:highlight>
                <a:latin typeface="Inter"/>
              </a:rPr>
              <a:t> bias </a:t>
            </a:r>
            <a:r>
              <a:rPr lang="en-US" b="0" i="1" dirty="0">
                <a:solidFill>
                  <a:srgbClr val="0693E3"/>
                </a:solidFill>
                <a:effectLst/>
                <a:latin typeface="Inter"/>
              </a:rPr>
              <a:t>is an error from erroneous assumptions in the learning algorithm. High bias can cause an algorithm to miss the relevant relations between features and target outputs (underfitting)</a:t>
            </a:r>
            <a:endParaRPr lang="en-US" b="0" i="1" dirty="0">
              <a:solidFill>
                <a:srgbClr val="444444"/>
              </a:solidFill>
              <a:effectLst/>
              <a:latin typeface="Inter"/>
            </a:endParaRPr>
          </a:p>
          <a:p>
            <a:endParaRPr lang="en-US" i="1" dirty="0">
              <a:solidFill>
                <a:srgbClr val="444444"/>
              </a:solidFill>
              <a:latin typeface="Inter"/>
            </a:endParaRPr>
          </a:p>
          <a:p>
            <a:r>
              <a:rPr lang="en-US" b="0" i="1" dirty="0">
                <a:solidFill>
                  <a:srgbClr val="0693E3"/>
                </a:solidFill>
                <a:effectLst/>
                <a:latin typeface="Inter"/>
              </a:rPr>
              <a:t> “…</a:t>
            </a:r>
            <a:r>
              <a:rPr lang="en-US" b="0" i="1" dirty="0">
                <a:solidFill>
                  <a:srgbClr val="0693E3"/>
                </a:solidFill>
                <a:effectLst/>
                <a:highlight>
                  <a:srgbClr val="FFFF00"/>
                </a:highlight>
                <a:latin typeface="Inter"/>
              </a:rPr>
              <a:t> variance </a:t>
            </a:r>
            <a:r>
              <a:rPr lang="en-US" b="0" i="1" dirty="0">
                <a:solidFill>
                  <a:srgbClr val="0693E3"/>
                </a:solidFill>
                <a:effectLst/>
                <a:latin typeface="Inter"/>
              </a:rPr>
              <a:t>is an error from sensitivity to small fluctuations in the training set. High variance can cause an algorithm to model the random noise in the training data, rather than the intended outputs (overfitting). </a:t>
            </a:r>
            <a:endParaRPr lang="en-US" dirty="0"/>
          </a:p>
        </p:txBody>
      </p:sp>
      <p:sp>
        <p:nvSpPr>
          <p:cNvPr id="4" name="Slide Number Placeholder 3">
            <a:extLst>
              <a:ext uri="{FF2B5EF4-FFF2-40B4-BE49-F238E27FC236}">
                <a16:creationId xmlns:a16="http://schemas.microsoft.com/office/drawing/2014/main" id="{4FBB2BDD-A8BB-4B54-A8DA-BCC924894F8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2025347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208D3-4982-45E0-BFFA-F8748F264A06}"/>
              </a:ext>
            </a:extLst>
          </p:cNvPr>
          <p:cNvSpPr>
            <a:spLocks noGrp="1"/>
          </p:cNvSpPr>
          <p:nvPr>
            <p:ph type="title"/>
          </p:nvPr>
        </p:nvSpPr>
        <p:spPr/>
        <p:txBody>
          <a:bodyPr>
            <a:normAutofit fontScale="90000"/>
          </a:bodyPr>
          <a:lstStyle/>
          <a:p>
            <a:r>
              <a:rPr lang="en-US" dirty="0"/>
              <a:t>Bias vs Variance</a:t>
            </a:r>
          </a:p>
        </p:txBody>
      </p:sp>
      <p:sp>
        <p:nvSpPr>
          <p:cNvPr id="3" name="Text Placeholder 2">
            <a:extLst>
              <a:ext uri="{FF2B5EF4-FFF2-40B4-BE49-F238E27FC236}">
                <a16:creationId xmlns:a16="http://schemas.microsoft.com/office/drawing/2014/main" id="{2802C945-A294-4E50-9145-D243D2B2E55D}"/>
              </a:ext>
            </a:extLst>
          </p:cNvPr>
          <p:cNvSpPr>
            <a:spLocks noGrp="1"/>
          </p:cNvSpPr>
          <p:nvPr>
            <p:ph type="body" idx="1"/>
          </p:nvPr>
        </p:nvSpPr>
        <p:spPr>
          <a:xfrm>
            <a:off x="311700" y="1153898"/>
            <a:ext cx="3326022" cy="3420600"/>
          </a:xfrm>
        </p:spPr>
        <p:txBody>
          <a:bodyPr/>
          <a:lstStyle/>
          <a:p>
            <a:pPr marL="114300" indent="0">
              <a:buNone/>
            </a:pPr>
            <a:r>
              <a:rPr lang="en-US" sz="1400" b="1" dirty="0"/>
              <a:t>Symptoms of High Bias</a:t>
            </a:r>
          </a:p>
          <a:p>
            <a:pPr>
              <a:buFont typeface="Arial" panose="020B0604020202020204" pitchFamily="34" charset="0"/>
              <a:buChar char="•"/>
            </a:pPr>
            <a:r>
              <a:rPr lang="en-US" sz="1400" dirty="0"/>
              <a:t>Poor performance on </a:t>
            </a:r>
            <a:r>
              <a:rPr lang="en-US" sz="1400" b="1" dirty="0"/>
              <a:t>training data</a:t>
            </a:r>
            <a:endParaRPr lang="en-US" sz="1400" dirty="0"/>
          </a:p>
          <a:p>
            <a:pPr>
              <a:buFont typeface="Arial" panose="020B0604020202020204" pitchFamily="34" charset="0"/>
              <a:buChar char="•"/>
            </a:pPr>
            <a:r>
              <a:rPr lang="en-US" sz="1400" dirty="0"/>
              <a:t>Poor performance on </a:t>
            </a:r>
            <a:r>
              <a:rPr lang="en-US" sz="1400" b="1" dirty="0"/>
              <a:t>test data</a:t>
            </a:r>
            <a:endParaRPr lang="en-US" sz="1400" dirty="0"/>
          </a:p>
          <a:p>
            <a:pPr>
              <a:buFont typeface="Arial" panose="020B0604020202020204" pitchFamily="34" charset="0"/>
              <a:buChar char="•"/>
            </a:pPr>
            <a:r>
              <a:rPr lang="en-US" sz="1400" dirty="0"/>
              <a:t>Example: Linear regression used for a highly non-linear banking churn problem</a:t>
            </a:r>
          </a:p>
          <a:p>
            <a:endParaRPr lang="en-US" dirty="0"/>
          </a:p>
        </p:txBody>
      </p:sp>
      <p:sp>
        <p:nvSpPr>
          <p:cNvPr id="4" name="Slide Number Placeholder 3">
            <a:extLst>
              <a:ext uri="{FF2B5EF4-FFF2-40B4-BE49-F238E27FC236}">
                <a16:creationId xmlns:a16="http://schemas.microsoft.com/office/drawing/2014/main" id="{D6325AD8-C6D2-402D-A35C-69E7256A2A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graphicFrame>
        <p:nvGraphicFramePr>
          <p:cNvPr id="5" name="Table 4">
            <a:extLst>
              <a:ext uri="{FF2B5EF4-FFF2-40B4-BE49-F238E27FC236}">
                <a16:creationId xmlns:a16="http://schemas.microsoft.com/office/drawing/2014/main" id="{E4CE5CAB-476B-4002-84EE-18C9A3328832}"/>
              </a:ext>
            </a:extLst>
          </p:cNvPr>
          <p:cNvGraphicFramePr>
            <a:graphicFrameLocks noGrp="1"/>
          </p:cNvGraphicFramePr>
          <p:nvPr>
            <p:extLst>
              <p:ext uri="{D42A27DB-BD31-4B8C-83A1-F6EECF244321}">
                <p14:modId xmlns:p14="http://schemas.microsoft.com/office/powerpoint/2010/main" val="1402275978"/>
              </p:ext>
            </p:extLst>
          </p:nvPr>
        </p:nvGraphicFramePr>
        <p:xfrm>
          <a:off x="311700" y="3363156"/>
          <a:ext cx="8521701" cy="1341120"/>
        </p:xfrm>
        <a:graphic>
          <a:graphicData uri="http://schemas.openxmlformats.org/drawingml/2006/table">
            <a:tbl>
              <a:tblPr/>
              <a:tblGrid>
                <a:gridCol w="2840567">
                  <a:extLst>
                    <a:ext uri="{9D8B030D-6E8A-4147-A177-3AD203B41FA5}">
                      <a16:colId xmlns:a16="http://schemas.microsoft.com/office/drawing/2014/main" val="2648367386"/>
                    </a:ext>
                  </a:extLst>
                </a:gridCol>
                <a:gridCol w="2840567">
                  <a:extLst>
                    <a:ext uri="{9D8B030D-6E8A-4147-A177-3AD203B41FA5}">
                      <a16:colId xmlns:a16="http://schemas.microsoft.com/office/drawing/2014/main" val="2307635507"/>
                    </a:ext>
                  </a:extLst>
                </a:gridCol>
                <a:gridCol w="2840567">
                  <a:extLst>
                    <a:ext uri="{9D8B030D-6E8A-4147-A177-3AD203B41FA5}">
                      <a16:colId xmlns:a16="http://schemas.microsoft.com/office/drawing/2014/main" val="2422671416"/>
                    </a:ext>
                  </a:extLst>
                </a:gridCol>
              </a:tblGrid>
              <a:tr h="304800">
                <a:tc>
                  <a:txBody>
                    <a:bodyPr/>
                    <a:lstStyle/>
                    <a:p>
                      <a:r>
                        <a:rPr lang="en-US" sz="1400"/>
                        <a:t>Model Type</a:t>
                      </a:r>
                    </a:p>
                  </a:txBody>
                  <a:tcPr anchor="ctr">
                    <a:lnL>
                      <a:noFill/>
                    </a:lnL>
                    <a:lnR>
                      <a:noFill/>
                    </a:lnR>
                    <a:lnT>
                      <a:noFill/>
                    </a:lnT>
                    <a:lnB>
                      <a:noFill/>
                    </a:lnB>
                  </a:tcPr>
                </a:tc>
                <a:tc>
                  <a:txBody>
                    <a:bodyPr/>
                    <a:lstStyle/>
                    <a:p>
                      <a:r>
                        <a:rPr lang="en-US" sz="1400" dirty="0"/>
                        <a:t>Bias</a:t>
                      </a:r>
                    </a:p>
                  </a:txBody>
                  <a:tcPr anchor="ctr">
                    <a:lnL>
                      <a:noFill/>
                    </a:lnL>
                    <a:lnR>
                      <a:noFill/>
                    </a:lnR>
                    <a:lnT>
                      <a:noFill/>
                    </a:lnT>
                    <a:lnB>
                      <a:noFill/>
                    </a:lnB>
                  </a:tcPr>
                </a:tc>
                <a:tc>
                  <a:txBody>
                    <a:bodyPr/>
                    <a:lstStyle/>
                    <a:p>
                      <a:r>
                        <a:rPr lang="en-US" sz="1400"/>
                        <a:t>Variance</a:t>
                      </a:r>
                    </a:p>
                  </a:txBody>
                  <a:tcPr anchor="ctr">
                    <a:lnL>
                      <a:noFill/>
                    </a:lnL>
                    <a:lnR>
                      <a:noFill/>
                    </a:lnR>
                    <a:lnT>
                      <a:noFill/>
                    </a:lnT>
                    <a:lnB>
                      <a:noFill/>
                    </a:lnB>
                  </a:tcPr>
                </a:tc>
                <a:extLst>
                  <a:ext uri="{0D108BD9-81ED-4DB2-BD59-A6C34878D82A}">
                    <a16:rowId xmlns:a16="http://schemas.microsoft.com/office/drawing/2014/main" val="2673767406"/>
                  </a:ext>
                </a:extLst>
              </a:tr>
              <a:tr h="518160">
                <a:tc>
                  <a:txBody>
                    <a:bodyPr/>
                    <a:lstStyle/>
                    <a:p>
                      <a:r>
                        <a:rPr lang="en-US" sz="1400"/>
                        <a:t>Simple models (Linear, Naive Bayes)</a:t>
                      </a:r>
                    </a:p>
                  </a:txBody>
                  <a:tcPr anchor="ctr">
                    <a:lnL>
                      <a:noFill/>
                    </a:lnL>
                    <a:lnR>
                      <a:noFill/>
                    </a:lnR>
                    <a:lnT>
                      <a:noFill/>
                    </a:lnT>
                    <a:lnB>
                      <a:noFill/>
                    </a:lnB>
                  </a:tcPr>
                </a:tc>
                <a:tc>
                  <a:txBody>
                    <a:bodyPr/>
                    <a:lstStyle/>
                    <a:p>
                      <a:r>
                        <a:rPr lang="en-US" sz="1400"/>
                        <a:t>High</a:t>
                      </a:r>
                    </a:p>
                  </a:txBody>
                  <a:tcPr anchor="ctr">
                    <a:lnL>
                      <a:noFill/>
                    </a:lnL>
                    <a:lnR>
                      <a:noFill/>
                    </a:lnR>
                    <a:lnT>
                      <a:noFill/>
                    </a:lnT>
                    <a:lnB>
                      <a:noFill/>
                    </a:lnB>
                  </a:tcPr>
                </a:tc>
                <a:tc>
                  <a:txBody>
                    <a:bodyPr/>
                    <a:lstStyle/>
                    <a:p>
                      <a:r>
                        <a:rPr lang="en-US" sz="1400"/>
                        <a:t>Low</a:t>
                      </a:r>
                    </a:p>
                  </a:txBody>
                  <a:tcPr anchor="ctr">
                    <a:lnL>
                      <a:noFill/>
                    </a:lnL>
                    <a:lnR>
                      <a:noFill/>
                    </a:lnR>
                    <a:lnT>
                      <a:noFill/>
                    </a:lnT>
                    <a:lnB>
                      <a:noFill/>
                    </a:lnB>
                  </a:tcPr>
                </a:tc>
                <a:extLst>
                  <a:ext uri="{0D108BD9-81ED-4DB2-BD59-A6C34878D82A}">
                    <a16:rowId xmlns:a16="http://schemas.microsoft.com/office/drawing/2014/main" val="957971177"/>
                  </a:ext>
                </a:extLst>
              </a:tr>
              <a:tr h="518160">
                <a:tc>
                  <a:txBody>
                    <a:bodyPr/>
                    <a:lstStyle/>
                    <a:p>
                      <a:r>
                        <a:rPr lang="en-US" sz="1400"/>
                        <a:t>Complex models (Deep Trees, kNN small k)</a:t>
                      </a:r>
                    </a:p>
                  </a:txBody>
                  <a:tcPr anchor="ctr">
                    <a:lnL>
                      <a:noFill/>
                    </a:lnL>
                    <a:lnR>
                      <a:noFill/>
                    </a:lnR>
                    <a:lnT>
                      <a:noFill/>
                    </a:lnT>
                    <a:lnB>
                      <a:noFill/>
                    </a:lnB>
                  </a:tcPr>
                </a:tc>
                <a:tc>
                  <a:txBody>
                    <a:bodyPr/>
                    <a:lstStyle/>
                    <a:p>
                      <a:r>
                        <a:rPr lang="en-US" sz="1400"/>
                        <a:t>Low</a:t>
                      </a:r>
                    </a:p>
                  </a:txBody>
                  <a:tcPr anchor="ctr">
                    <a:lnL>
                      <a:noFill/>
                    </a:lnL>
                    <a:lnR>
                      <a:noFill/>
                    </a:lnR>
                    <a:lnT>
                      <a:noFill/>
                    </a:lnT>
                    <a:lnB>
                      <a:noFill/>
                    </a:lnB>
                  </a:tcPr>
                </a:tc>
                <a:tc>
                  <a:txBody>
                    <a:bodyPr/>
                    <a:lstStyle/>
                    <a:p>
                      <a:r>
                        <a:rPr lang="en-US" sz="1400" dirty="0"/>
                        <a:t>High</a:t>
                      </a:r>
                    </a:p>
                  </a:txBody>
                  <a:tcPr anchor="ctr">
                    <a:lnL>
                      <a:noFill/>
                    </a:lnL>
                    <a:lnR>
                      <a:noFill/>
                    </a:lnR>
                    <a:lnT>
                      <a:noFill/>
                    </a:lnT>
                    <a:lnB>
                      <a:noFill/>
                    </a:lnB>
                  </a:tcPr>
                </a:tc>
                <a:extLst>
                  <a:ext uri="{0D108BD9-81ED-4DB2-BD59-A6C34878D82A}">
                    <a16:rowId xmlns:a16="http://schemas.microsoft.com/office/drawing/2014/main" val="1664315520"/>
                  </a:ext>
                </a:extLst>
              </a:tr>
            </a:tbl>
          </a:graphicData>
        </a:graphic>
      </p:graphicFrame>
      <p:sp>
        <p:nvSpPr>
          <p:cNvPr id="7" name="TextBox 6">
            <a:extLst>
              <a:ext uri="{FF2B5EF4-FFF2-40B4-BE49-F238E27FC236}">
                <a16:creationId xmlns:a16="http://schemas.microsoft.com/office/drawing/2014/main" id="{A4CA45D6-3B38-47A4-AE84-AF51707B2E3D}"/>
              </a:ext>
            </a:extLst>
          </p:cNvPr>
          <p:cNvSpPr txBox="1"/>
          <p:nvPr/>
        </p:nvSpPr>
        <p:spPr>
          <a:xfrm>
            <a:off x="4795631" y="1201918"/>
            <a:ext cx="4572000" cy="1169551"/>
          </a:xfrm>
          <a:prstGeom prst="rect">
            <a:avLst/>
          </a:prstGeom>
          <a:noFill/>
        </p:spPr>
        <p:txBody>
          <a:bodyPr wrap="square">
            <a:spAutoFit/>
          </a:bodyPr>
          <a:lstStyle/>
          <a:p>
            <a:r>
              <a:rPr lang="en-US" b="1" dirty="0"/>
              <a:t>Symptoms of High Variance</a:t>
            </a:r>
          </a:p>
          <a:p>
            <a:pPr>
              <a:buFont typeface="Arial" panose="020B0604020202020204" pitchFamily="34" charset="0"/>
              <a:buChar char="•"/>
            </a:pPr>
            <a:r>
              <a:rPr lang="en-US" dirty="0"/>
              <a:t>Very high training accuracy</a:t>
            </a:r>
          </a:p>
          <a:p>
            <a:pPr>
              <a:buFont typeface="Arial" panose="020B0604020202020204" pitchFamily="34" charset="0"/>
              <a:buChar char="•"/>
            </a:pPr>
            <a:r>
              <a:rPr lang="en-US" dirty="0"/>
              <a:t>Very low test accuracy</a:t>
            </a:r>
          </a:p>
          <a:p>
            <a:pPr>
              <a:buFont typeface="Arial" panose="020B0604020202020204" pitchFamily="34" charset="0"/>
              <a:buChar char="•"/>
            </a:pPr>
            <a:r>
              <a:rPr lang="en-US" dirty="0"/>
              <a:t>Example: A deep decision tree memorizing customer data</a:t>
            </a:r>
          </a:p>
        </p:txBody>
      </p:sp>
    </p:spTree>
    <p:extLst>
      <p:ext uri="{BB962C8B-B14F-4D97-AF65-F5344CB8AC3E}">
        <p14:creationId xmlns:p14="http://schemas.microsoft.com/office/powerpoint/2010/main" val="2968360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404D3-4B58-46E1-B32F-5128FBBB6ED4}"/>
              </a:ext>
            </a:extLst>
          </p:cNvPr>
          <p:cNvSpPr>
            <a:spLocks noGrp="1"/>
          </p:cNvSpPr>
          <p:nvPr>
            <p:ph type="title"/>
          </p:nvPr>
        </p:nvSpPr>
        <p:spPr/>
        <p:txBody>
          <a:bodyPr>
            <a:normAutofit fontScale="90000"/>
          </a:bodyPr>
          <a:lstStyle/>
          <a:p>
            <a:r>
              <a:rPr lang="en-US" b="0" i="0" u="sng" dirty="0">
                <a:solidFill>
                  <a:srgbClr val="357960"/>
                </a:solidFill>
                <a:effectLst/>
                <a:latin typeface="Nunito" pitchFamily="2" charset="0"/>
                <a:hlinkClick r:id="rId2"/>
              </a:rPr>
              <a:t>Ensemble Learning</a:t>
            </a:r>
            <a:r>
              <a:rPr lang="en-US" b="0" i="0" dirty="0">
                <a:solidFill>
                  <a:srgbClr val="273239"/>
                </a:solidFill>
                <a:effectLst/>
                <a:latin typeface="Nunito" pitchFamily="2" charset="0"/>
              </a:rPr>
              <a:t> </a:t>
            </a:r>
            <a:endParaRPr lang="en-US" dirty="0"/>
          </a:p>
        </p:txBody>
      </p:sp>
      <p:sp>
        <p:nvSpPr>
          <p:cNvPr id="3" name="Text Placeholder 2">
            <a:extLst>
              <a:ext uri="{FF2B5EF4-FFF2-40B4-BE49-F238E27FC236}">
                <a16:creationId xmlns:a16="http://schemas.microsoft.com/office/drawing/2014/main" id="{275E7C75-A81E-4F54-8190-21C51D6AECA1}"/>
              </a:ext>
            </a:extLst>
          </p:cNvPr>
          <p:cNvSpPr>
            <a:spLocks noGrp="1"/>
          </p:cNvSpPr>
          <p:nvPr>
            <p:ph type="body" idx="1"/>
          </p:nvPr>
        </p:nvSpPr>
        <p:spPr>
          <a:xfrm>
            <a:off x="311700" y="1153898"/>
            <a:ext cx="8520600" cy="3995952"/>
          </a:xfrm>
        </p:spPr>
        <p:txBody>
          <a:bodyPr>
            <a:normAutofit/>
          </a:bodyPr>
          <a:lstStyle/>
          <a:p>
            <a:pPr fontAlgn="base">
              <a:buFont typeface="Arial" panose="020B0604020202020204" pitchFamily="34" charset="0"/>
              <a:buChar char="•"/>
            </a:pPr>
            <a:r>
              <a:rPr lang="en-US" b="0" i="0" u="sng" dirty="0">
                <a:solidFill>
                  <a:srgbClr val="357960"/>
                </a:solidFill>
                <a:effectLst/>
                <a:latin typeface="Nunito" pitchFamily="2" charset="0"/>
              </a:rPr>
              <a:t>Ensemble Learning</a:t>
            </a:r>
            <a:r>
              <a:rPr lang="en-US" b="0" i="0" dirty="0">
                <a:solidFill>
                  <a:srgbClr val="273239"/>
                </a:solidFill>
                <a:effectLst/>
                <a:latin typeface="Nunito" pitchFamily="2" charset="0"/>
              </a:rPr>
              <a:t> in machine learning that integrates multiple models called as weak learners to create a single effective model for prediction. This technique is used to </a:t>
            </a:r>
            <a:r>
              <a:rPr lang="en-US" b="0" i="0" dirty="0">
                <a:solidFill>
                  <a:srgbClr val="273239"/>
                </a:solidFill>
                <a:effectLst/>
                <a:highlight>
                  <a:srgbClr val="FFFF00"/>
                </a:highlight>
                <a:latin typeface="Nunito" pitchFamily="2" charset="0"/>
              </a:rPr>
              <a:t>enhance accuracy, minimizing variance and removing overfitting</a:t>
            </a:r>
            <a:endParaRPr lang="en-US" dirty="0">
              <a:highlight>
                <a:srgbClr val="FFFF00"/>
              </a:highlight>
            </a:endParaRPr>
          </a:p>
          <a:p>
            <a:pPr algn="l" fontAlgn="base">
              <a:buFont typeface="Arial" panose="020B0604020202020204" pitchFamily="34" charset="0"/>
              <a:buChar char="•"/>
            </a:pPr>
            <a:endParaRPr lang="en-US" b="0" i="0" dirty="0">
              <a:solidFill>
                <a:srgbClr val="3C4043"/>
              </a:solidFill>
              <a:effectLst/>
              <a:latin typeface="Inter"/>
            </a:endParaRPr>
          </a:p>
          <a:p>
            <a:pPr algn="l" fontAlgn="base">
              <a:buFont typeface="Arial" panose="020B0604020202020204" pitchFamily="34" charset="0"/>
              <a:buChar char="•"/>
            </a:pPr>
            <a:r>
              <a:rPr lang="en-US" b="0" i="0" dirty="0">
                <a:solidFill>
                  <a:srgbClr val="3C4043"/>
                </a:solidFill>
                <a:effectLst/>
                <a:latin typeface="Inter"/>
              </a:rPr>
              <a:t>Here, individual classifiers vote and final prediction label returned that performs majority voting.</a:t>
            </a:r>
          </a:p>
          <a:p>
            <a:pPr algn="l" fontAlgn="base">
              <a:buFont typeface="Arial" panose="020B0604020202020204" pitchFamily="34" charset="0"/>
              <a:buChar char="•"/>
            </a:pPr>
            <a:r>
              <a:rPr lang="en-US" b="0" i="0" dirty="0">
                <a:solidFill>
                  <a:srgbClr val="3C4043"/>
                </a:solidFill>
                <a:effectLst/>
                <a:latin typeface="Inter"/>
              </a:rPr>
              <a:t>These models can parallelize by allocating each base learner to different mechanisms.</a:t>
            </a:r>
          </a:p>
          <a:p>
            <a:pPr algn="l" fontAlgn="base">
              <a:buFont typeface="Arial" panose="020B0604020202020204" pitchFamily="34" charset="0"/>
              <a:buChar char="•"/>
            </a:pPr>
            <a:r>
              <a:rPr lang="en-US" b="0" i="0" dirty="0">
                <a:solidFill>
                  <a:srgbClr val="3C4043"/>
                </a:solidFill>
                <a:effectLst/>
                <a:latin typeface="Inter"/>
              </a:rPr>
              <a:t>So, we can say that ensemble learning methods are meta-algorithms that combine several machine learning algorithms into a single predictive model to increase performance.</a:t>
            </a:r>
          </a:p>
          <a:p>
            <a:endParaRPr lang="en-US" dirty="0"/>
          </a:p>
        </p:txBody>
      </p:sp>
      <p:sp>
        <p:nvSpPr>
          <p:cNvPr id="4" name="Slide Number Placeholder 3">
            <a:extLst>
              <a:ext uri="{FF2B5EF4-FFF2-40B4-BE49-F238E27FC236}">
                <a16:creationId xmlns:a16="http://schemas.microsoft.com/office/drawing/2014/main" id="{DBFCF2B1-F13A-4D21-A088-DCF6BD4D55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1146471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70"/>
          <p:cNvSpPr txBox="1">
            <a:spLocks noGrp="1"/>
          </p:cNvSpPr>
          <p:nvPr>
            <p:ph type="title"/>
          </p:nvPr>
        </p:nvSpPr>
        <p:spPr>
          <a:xfrm>
            <a:off x="193950" y="1816711"/>
            <a:ext cx="8520600" cy="629700"/>
          </a:xfrm>
          <a:prstGeom prst="rect">
            <a:avLst/>
          </a:prstGeom>
          <a:noFill/>
          <a:ln>
            <a:noFill/>
          </a:ln>
        </p:spPr>
        <p:txBody>
          <a:bodyPr spcFirstLastPara="1" wrap="square" lIns="0" tIns="13950" rIns="0" bIns="0" anchor="ctr" anchorCtr="0">
            <a:noAutofit/>
          </a:bodyPr>
          <a:lstStyle/>
          <a:p>
            <a:pPr marL="12700" lvl="0" indent="0" algn="ctr" rtl="0">
              <a:lnSpc>
                <a:spcPct val="100000"/>
              </a:lnSpc>
              <a:spcBef>
                <a:spcPts val="0"/>
              </a:spcBef>
              <a:spcAft>
                <a:spcPts val="0"/>
              </a:spcAft>
              <a:buSzPts val="1400"/>
              <a:buNone/>
            </a:pPr>
            <a:r>
              <a:rPr lang="en-US" sz="4000"/>
              <a:t>Ensemble Learning</a:t>
            </a:r>
            <a:endParaRPr sz="4000"/>
          </a:p>
        </p:txBody>
      </p:sp>
      <p:sp>
        <p:nvSpPr>
          <p:cNvPr id="68" name="Google Shape;68;p70"/>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5</a:t>
            </a:fld>
            <a:endParaRPr sz="1000" b="0">
              <a:solidFill>
                <a:schemeClr val="dk2"/>
              </a:solidFill>
              <a:latin typeface="Arial"/>
              <a:ea typeface="Arial"/>
              <a:cs typeface="Arial"/>
              <a:sym typeface="Arial"/>
            </a:endParaRPr>
          </a:p>
        </p:txBody>
      </p:sp>
      <p:pic>
        <p:nvPicPr>
          <p:cNvPr id="2" name="Picture 1">
            <a:extLst>
              <a:ext uri="{FF2B5EF4-FFF2-40B4-BE49-F238E27FC236}">
                <a16:creationId xmlns:a16="http://schemas.microsoft.com/office/drawing/2014/main" id="{A19C6BBD-7126-440E-8F03-C0EB00269512}"/>
              </a:ext>
            </a:extLst>
          </p:cNvPr>
          <p:cNvPicPr>
            <a:picLocks noChangeAspect="1"/>
          </p:cNvPicPr>
          <p:nvPr/>
        </p:nvPicPr>
        <p:blipFill>
          <a:blip r:embed="rId3"/>
          <a:stretch>
            <a:fillRect/>
          </a:stretch>
        </p:blipFill>
        <p:spPr>
          <a:xfrm>
            <a:off x="842962" y="617537"/>
            <a:ext cx="7458075" cy="39147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DA97F-0735-BD4C-352C-1E9A4D1D5F03}"/>
              </a:ext>
            </a:extLst>
          </p:cNvPr>
          <p:cNvSpPr>
            <a:spLocks noGrp="1"/>
          </p:cNvSpPr>
          <p:nvPr>
            <p:ph type="title"/>
          </p:nvPr>
        </p:nvSpPr>
        <p:spPr>
          <a:xfrm>
            <a:off x="628650" y="277020"/>
            <a:ext cx="7886700" cy="614022"/>
          </a:xfrm>
        </p:spPr>
        <p:txBody>
          <a:bodyPr>
            <a:normAutofit/>
          </a:bodyPr>
          <a:lstStyle/>
          <a:p>
            <a:r>
              <a:rPr lang="en-US" dirty="0">
                <a:latin typeface="Agency FB" panose="020B0503020202020204" pitchFamily="34" charset="0"/>
              </a:rPr>
              <a:t>Boosting</a:t>
            </a:r>
          </a:p>
        </p:txBody>
      </p:sp>
      <p:pic>
        <p:nvPicPr>
          <p:cNvPr id="5" name="Content Placeholder 4">
            <a:extLst>
              <a:ext uri="{FF2B5EF4-FFF2-40B4-BE49-F238E27FC236}">
                <a16:creationId xmlns:a16="http://schemas.microsoft.com/office/drawing/2014/main" id="{878BFA05-30C3-4A8F-B1CF-2C16E117705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255259" y="940026"/>
            <a:ext cx="6557963" cy="3770264"/>
          </a:xfrm>
        </p:spPr>
      </p:pic>
      <p:sp>
        <p:nvSpPr>
          <p:cNvPr id="6" name="TextBox 5">
            <a:extLst>
              <a:ext uri="{FF2B5EF4-FFF2-40B4-BE49-F238E27FC236}">
                <a16:creationId xmlns:a16="http://schemas.microsoft.com/office/drawing/2014/main" id="{35C0E9C0-37B6-2890-49CA-3433082B8251}"/>
              </a:ext>
            </a:extLst>
          </p:cNvPr>
          <p:cNvSpPr txBox="1"/>
          <p:nvPr/>
        </p:nvSpPr>
        <p:spPr>
          <a:xfrm>
            <a:off x="-50619" y="4892901"/>
            <a:ext cx="4371710" cy="253916"/>
          </a:xfrm>
          <a:prstGeom prst="rect">
            <a:avLst/>
          </a:prstGeom>
          <a:noFill/>
        </p:spPr>
        <p:txBody>
          <a:bodyPr wrap="none" rtlCol="0">
            <a:spAutoFit/>
          </a:bodyPr>
          <a:lstStyle/>
          <a:p>
            <a:r>
              <a:rPr lang="en-US" sz="1050" dirty="0">
                <a:latin typeface="Agency FB" panose="020B0503020202020204" pitchFamily="34" charset="0"/>
              </a:rPr>
              <a:t>Image source: https://www.pluralsight.com/guides/ensemble-methods:-bagging-versus-boosting</a:t>
            </a:r>
          </a:p>
        </p:txBody>
      </p:sp>
      <p:sp>
        <p:nvSpPr>
          <p:cNvPr id="3" name="Slide Number Placeholder 2">
            <a:extLst>
              <a:ext uri="{FF2B5EF4-FFF2-40B4-BE49-F238E27FC236}">
                <a16:creationId xmlns:a16="http://schemas.microsoft.com/office/drawing/2014/main" id="{6DCEA50A-E23B-53DC-16AE-C40FD1B12E7B}"/>
              </a:ext>
            </a:extLst>
          </p:cNvPr>
          <p:cNvSpPr>
            <a:spLocks noGrp="1"/>
          </p:cNvSpPr>
          <p:nvPr>
            <p:ph type="sldNum" sz="quarter" idx="12"/>
          </p:nvPr>
        </p:nvSpPr>
        <p:spPr/>
        <p:txBody>
          <a:bodyPr/>
          <a:lstStyle/>
          <a:p>
            <a:fld id="{68D39248-1E33-4EA9-B603-9679B7CEB55B}" type="slidenum">
              <a:rPr lang="en-US" smtClean="0"/>
              <a:t>6</a:t>
            </a:fld>
            <a:endParaRPr lang="en-US"/>
          </a:p>
        </p:txBody>
      </p:sp>
    </p:spTree>
    <p:extLst>
      <p:ext uri="{BB962C8B-B14F-4D97-AF65-F5344CB8AC3E}">
        <p14:creationId xmlns:p14="http://schemas.microsoft.com/office/powerpoint/2010/main" val="810249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3EF0F-7C96-41D3-BB1C-DBE82B1D2506}"/>
              </a:ext>
            </a:extLst>
          </p:cNvPr>
          <p:cNvSpPr>
            <a:spLocks noGrp="1"/>
          </p:cNvSpPr>
          <p:nvPr>
            <p:ph type="title"/>
          </p:nvPr>
        </p:nvSpPr>
        <p:spPr/>
        <p:txBody>
          <a:bodyPr>
            <a:normAutofit fontScale="90000"/>
          </a:bodyPr>
          <a:lstStyle/>
          <a:p>
            <a:endParaRPr lang="en-US"/>
          </a:p>
        </p:txBody>
      </p:sp>
      <p:pic>
        <p:nvPicPr>
          <p:cNvPr id="5" name="Picture 4">
            <a:extLst>
              <a:ext uri="{FF2B5EF4-FFF2-40B4-BE49-F238E27FC236}">
                <a16:creationId xmlns:a16="http://schemas.microsoft.com/office/drawing/2014/main" id="{62733C14-8443-449B-85AF-DC33F8287F44}"/>
              </a:ext>
            </a:extLst>
          </p:cNvPr>
          <p:cNvPicPr>
            <a:picLocks noChangeAspect="1"/>
          </p:cNvPicPr>
          <p:nvPr/>
        </p:nvPicPr>
        <p:blipFill>
          <a:blip r:embed="rId2"/>
          <a:stretch>
            <a:fillRect/>
          </a:stretch>
        </p:blipFill>
        <p:spPr>
          <a:xfrm>
            <a:off x="2133808" y="445574"/>
            <a:ext cx="3601444" cy="1444211"/>
          </a:xfrm>
          <a:prstGeom prst="rect">
            <a:avLst/>
          </a:prstGeom>
        </p:spPr>
      </p:pic>
      <p:sp>
        <p:nvSpPr>
          <p:cNvPr id="4" name="Slide Number Placeholder 3">
            <a:extLst>
              <a:ext uri="{FF2B5EF4-FFF2-40B4-BE49-F238E27FC236}">
                <a16:creationId xmlns:a16="http://schemas.microsoft.com/office/drawing/2014/main" id="{FD003D26-4868-4562-B51B-E4A62C8D51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6" name="Picture 5">
            <a:extLst>
              <a:ext uri="{FF2B5EF4-FFF2-40B4-BE49-F238E27FC236}">
                <a16:creationId xmlns:a16="http://schemas.microsoft.com/office/drawing/2014/main" id="{B5BEF4B3-A945-4BB3-8816-64908A5FF3A1}"/>
              </a:ext>
            </a:extLst>
          </p:cNvPr>
          <p:cNvPicPr>
            <a:picLocks noChangeAspect="1"/>
          </p:cNvPicPr>
          <p:nvPr/>
        </p:nvPicPr>
        <p:blipFill>
          <a:blip r:embed="rId3"/>
          <a:stretch>
            <a:fillRect/>
          </a:stretch>
        </p:blipFill>
        <p:spPr>
          <a:xfrm>
            <a:off x="1464366" y="2083988"/>
            <a:ext cx="5950943" cy="2979186"/>
          </a:xfrm>
          <a:prstGeom prst="rect">
            <a:avLst/>
          </a:prstGeom>
        </p:spPr>
      </p:pic>
    </p:spTree>
    <p:extLst>
      <p:ext uri="{BB962C8B-B14F-4D97-AF65-F5344CB8AC3E}">
        <p14:creationId xmlns:p14="http://schemas.microsoft.com/office/powerpoint/2010/main" val="3944340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29569-8428-45BE-A260-E0444876525F}"/>
              </a:ext>
            </a:extLst>
          </p:cNvPr>
          <p:cNvSpPr>
            <a:spLocks noGrp="1"/>
          </p:cNvSpPr>
          <p:nvPr>
            <p:ph type="title"/>
          </p:nvPr>
        </p:nvSpPr>
        <p:spPr/>
        <p:txBody>
          <a:bodyPr>
            <a:normAutofit fontScale="90000"/>
          </a:bodyPr>
          <a:lstStyle/>
          <a:p>
            <a:endParaRPr lang="en-US"/>
          </a:p>
        </p:txBody>
      </p:sp>
      <p:pic>
        <p:nvPicPr>
          <p:cNvPr id="6" name="Picture 5">
            <a:extLst>
              <a:ext uri="{FF2B5EF4-FFF2-40B4-BE49-F238E27FC236}">
                <a16:creationId xmlns:a16="http://schemas.microsoft.com/office/drawing/2014/main" id="{B51245BB-8C08-4AC6-A0F5-884BACD8A2D0}"/>
              </a:ext>
            </a:extLst>
          </p:cNvPr>
          <p:cNvPicPr>
            <a:picLocks noChangeAspect="1"/>
          </p:cNvPicPr>
          <p:nvPr/>
        </p:nvPicPr>
        <p:blipFill>
          <a:blip r:embed="rId2"/>
          <a:stretch>
            <a:fillRect/>
          </a:stretch>
        </p:blipFill>
        <p:spPr>
          <a:xfrm>
            <a:off x="3825115" y="2487087"/>
            <a:ext cx="5318885" cy="2662763"/>
          </a:xfrm>
          <a:prstGeom prst="rect">
            <a:avLst/>
          </a:prstGeom>
        </p:spPr>
      </p:pic>
      <p:pic>
        <p:nvPicPr>
          <p:cNvPr id="7" name="Picture 6">
            <a:extLst>
              <a:ext uri="{FF2B5EF4-FFF2-40B4-BE49-F238E27FC236}">
                <a16:creationId xmlns:a16="http://schemas.microsoft.com/office/drawing/2014/main" id="{BF42995E-9ED0-4635-BD43-557147423056}"/>
              </a:ext>
            </a:extLst>
          </p:cNvPr>
          <p:cNvPicPr>
            <a:picLocks noChangeAspect="1"/>
          </p:cNvPicPr>
          <p:nvPr/>
        </p:nvPicPr>
        <p:blipFill>
          <a:blip r:embed="rId3"/>
          <a:stretch>
            <a:fillRect/>
          </a:stretch>
        </p:blipFill>
        <p:spPr>
          <a:xfrm>
            <a:off x="-53008" y="-65378"/>
            <a:ext cx="5759659" cy="2887029"/>
          </a:xfrm>
          <a:prstGeom prst="rect">
            <a:avLst/>
          </a:prstGeom>
        </p:spPr>
      </p:pic>
      <p:sp>
        <p:nvSpPr>
          <p:cNvPr id="4" name="Slide Number Placeholder 3">
            <a:extLst>
              <a:ext uri="{FF2B5EF4-FFF2-40B4-BE49-F238E27FC236}">
                <a16:creationId xmlns:a16="http://schemas.microsoft.com/office/drawing/2014/main" id="{6866434C-6512-4F07-9714-0487269AB4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640521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C55ED-C303-49E1-8479-97B83B34F22B}"/>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Bagging (Bootstrap Aggregating)</a:t>
            </a:r>
            <a:br>
              <a:rPr lang="en-US" b="1" i="0" dirty="0">
                <a:solidFill>
                  <a:srgbClr val="273239"/>
                </a:solidFill>
                <a:effectLst/>
                <a:latin typeface="Nunito" pitchFamily="2" charset="0"/>
              </a:rPr>
            </a:br>
            <a:endParaRPr lang="en-US" dirty="0"/>
          </a:p>
        </p:txBody>
      </p:sp>
      <p:sp>
        <p:nvSpPr>
          <p:cNvPr id="3" name="Text Placeholder 2">
            <a:extLst>
              <a:ext uri="{FF2B5EF4-FFF2-40B4-BE49-F238E27FC236}">
                <a16:creationId xmlns:a16="http://schemas.microsoft.com/office/drawing/2014/main" id="{188CF91E-FDFA-4BC6-8292-16071F0B9E78}"/>
              </a:ext>
            </a:extLst>
          </p:cNvPr>
          <p:cNvSpPr>
            <a:spLocks noGrp="1"/>
          </p:cNvSpPr>
          <p:nvPr>
            <p:ph type="body" idx="1"/>
          </p:nvPr>
        </p:nvSpPr>
        <p:spPr>
          <a:xfrm>
            <a:off x="311700" y="1018874"/>
            <a:ext cx="8520600" cy="4130976"/>
          </a:xfrm>
        </p:spPr>
        <p:txBody>
          <a:bodyPr>
            <a:normAutofit fontScale="92500" lnSpcReduction="20000"/>
          </a:bodyPr>
          <a:lstStyle/>
          <a:p>
            <a:pPr algn="l" rtl="0" fontAlgn="base"/>
            <a:r>
              <a:rPr lang="en-US" b="0" i="0" dirty="0">
                <a:solidFill>
                  <a:srgbClr val="273239"/>
                </a:solidFill>
                <a:effectLst/>
                <a:latin typeface="Nunito" pitchFamily="2" charset="0"/>
              </a:rPr>
              <a:t>Bagging is a technique that involves creating multiple versions of a model and combining their outputs to improve overall performance.</a:t>
            </a:r>
          </a:p>
          <a:p>
            <a:pPr algn="l" rtl="0" fontAlgn="base"/>
            <a:endParaRPr lang="en-US" b="0" i="0" dirty="0">
              <a:solidFill>
                <a:srgbClr val="273239"/>
              </a:solidFill>
              <a:effectLst/>
              <a:latin typeface="Nunito" pitchFamily="2" charset="0"/>
            </a:endParaRPr>
          </a:p>
          <a:p>
            <a:pPr algn="l" rtl="0" fontAlgn="base"/>
            <a:r>
              <a:rPr lang="en-US" b="0" i="0" dirty="0">
                <a:solidFill>
                  <a:srgbClr val="273239"/>
                </a:solidFill>
                <a:effectLst/>
                <a:latin typeface="Nunito" pitchFamily="2" charset="0"/>
              </a:rPr>
              <a:t>In bagging several base models are trained on different subsets of the training data, then aggregate their predictions to make the final decision. </a:t>
            </a:r>
          </a:p>
          <a:p>
            <a:pPr algn="l" rtl="0" fontAlgn="base"/>
            <a:endParaRPr lang="en-US" dirty="0">
              <a:solidFill>
                <a:srgbClr val="273239"/>
              </a:solidFill>
              <a:latin typeface="Nunito" pitchFamily="2" charset="0"/>
            </a:endParaRPr>
          </a:p>
          <a:p>
            <a:pPr algn="l" rtl="0" fontAlgn="base"/>
            <a:r>
              <a:rPr lang="en-US" b="0" i="0" dirty="0">
                <a:solidFill>
                  <a:srgbClr val="273239"/>
                </a:solidFill>
                <a:effectLst/>
                <a:latin typeface="Nunito" pitchFamily="2" charset="0"/>
              </a:rPr>
              <a:t>The subsets of the data are created using </a:t>
            </a:r>
            <a:r>
              <a:rPr lang="en-US" b="1" i="0" dirty="0">
                <a:solidFill>
                  <a:srgbClr val="273239"/>
                </a:solidFill>
                <a:effectLst/>
                <a:highlight>
                  <a:srgbClr val="FFFF00"/>
                </a:highlight>
                <a:latin typeface="Nunito" pitchFamily="2" charset="0"/>
              </a:rPr>
              <a:t>bootstrapping</a:t>
            </a:r>
            <a:r>
              <a:rPr lang="en-US" b="0" i="0" dirty="0">
                <a:solidFill>
                  <a:srgbClr val="273239"/>
                </a:solidFill>
                <a:effectLst/>
                <a:latin typeface="Nunito" pitchFamily="2" charset="0"/>
              </a:rPr>
              <a:t>, a statistical technique where samples are drawn with replacement, meaning some data points can appear more than once in a subset.</a:t>
            </a:r>
          </a:p>
          <a:p>
            <a:pPr marL="114300" indent="0" algn="l" rtl="0" fontAlgn="base">
              <a:buNone/>
            </a:pPr>
            <a:endParaRPr lang="en-US" b="0" i="0" dirty="0">
              <a:solidFill>
                <a:srgbClr val="273239"/>
              </a:solidFill>
              <a:effectLst/>
              <a:latin typeface="Nunito" pitchFamily="2" charset="0"/>
            </a:endParaRPr>
          </a:p>
          <a:p>
            <a:pPr marL="114300" indent="0" algn="l" rtl="0" fontAlgn="base">
              <a:buNone/>
            </a:pPr>
            <a:r>
              <a:rPr lang="en-US" b="0" i="0" dirty="0">
                <a:solidFill>
                  <a:srgbClr val="273239"/>
                </a:solidFill>
                <a:effectLst/>
                <a:latin typeface="Nunito" pitchFamily="2" charset="0"/>
              </a:rPr>
              <a:t>The final prediction from the ensemble is typically made by either:</a:t>
            </a:r>
          </a:p>
          <a:p>
            <a:pPr algn="l" fontAlgn="base">
              <a:buFont typeface="Arial" panose="020B0604020202020204" pitchFamily="34" charset="0"/>
              <a:buChar char="•"/>
            </a:pPr>
            <a:r>
              <a:rPr lang="en-US" b="1" i="0" dirty="0">
                <a:solidFill>
                  <a:srgbClr val="273239"/>
                </a:solidFill>
                <a:effectLst/>
                <a:latin typeface="Nunito" pitchFamily="2" charset="0"/>
              </a:rPr>
              <a:t>Averaging</a:t>
            </a:r>
            <a:r>
              <a:rPr lang="en-US" b="0" i="0" dirty="0">
                <a:solidFill>
                  <a:srgbClr val="273239"/>
                </a:solidFill>
                <a:effectLst/>
                <a:latin typeface="Nunito" pitchFamily="2" charset="0"/>
              </a:rPr>
              <a:t> the predictions (for regression problems), or</a:t>
            </a:r>
          </a:p>
          <a:p>
            <a:pPr algn="l" fontAlgn="base">
              <a:buFont typeface="Arial" panose="020B0604020202020204" pitchFamily="34" charset="0"/>
              <a:buChar char="•"/>
            </a:pPr>
            <a:r>
              <a:rPr lang="en-US" b="1" i="0" dirty="0">
                <a:solidFill>
                  <a:srgbClr val="273239"/>
                </a:solidFill>
                <a:effectLst/>
                <a:latin typeface="Nunito" pitchFamily="2" charset="0"/>
              </a:rPr>
              <a:t>Majority voting</a:t>
            </a:r>
            <a:r>
              <a:rPr lang="en-US" b="0" i="0" dirty="0">
                <a:solidFill>
                  <a:srgbClr val="273239"/>
                </a:solidFill>
                <a:effectLst/>
                <a:latin typeface="Nunito" pitchFamily="2" charset="0"/>
              </a:rPr>
              <a:t> (for classification problems).</a:t>
            </a:r>
          </a:p>
          <a:p>
            <a:pPr algn="l" rtl="0" fontAlgn="base"/>
            <a:r>
              <a:rPr lang="en-US" b="0" i="0" dirty="0">
                <a:solidFill>
                  <a:srgbClr val="273239"/>
                </a:solidFill>
                <a:effectLst/>
                <a:latin typeface="Nunito" pitchFamily="2" charset="0"/>
              </a:rPr>
              <a:t>This approach helps to </a:t>
            </a:r>
            <a:r>
              <a:rPr lang="en-US" b="0" i="0" dirty="0">
                <a:solidFill>
                  <a:srgbClr val="273239"/>
                </a:solidFill>
                <a:effectLst/>
                <a:highlight>
                  <a:srgbClr val="FFFF00"/>
                </a:highlight>
                <a:latin typeface="Nunito" pitchFamily="2" charset="0"/>
              </a:rPr>
              <a:t>reduce variance</a:t>
            </a:r>
            <a:r>
              <a:rPr lang="en-US" b="0" i="0" dirty="0">
                <a:solidFill>
                  <a:srgbClr val="273239"/>
                </a:solidFill>
                <a:effectLst/>
                <a:latin typeface="Nunito" pitchFamily="2" charset="0"/>
              </a:rPr>
              <a:t>, especially with models that are </a:t>
            </a:r>
            <a:r>
              <a:rPr lang="en-US" b="0" i="0" dirty="0">
                <a:solidFill>
                  <a:srgbClr val="273239"/>
                </a:solidFill>
                <a:effectLst/>
                <a:highlight>
                  <a:srgbClr val="FFFF00"/>
                </a:highlight>
                <a:latin typeface="Nunito" pitchFamily="2" charset="0"/>
              </a:rPr>
              <a:t>prone to overfitting, such as decision trees</a:t>
            </a:r>
            <a:r>
              <a:rPr lang="en-US" b="0" i="0" dirty="0">
                <a:solidFill>
                  <a:srgbClr val="273239"/>
                </a:solidFill>
                <a:effectLst/>
                <a:latin typeface="Nunito" pitchFamily="2" charset="0"/>
              </a:rPr>
              <a:t>.</a:t>
            </a:r>
          </a:p>
          <a:p>
            <a:pPr marL="114300" indent="0" algn="l" fontAlgn="base">
              <a:buNone/>
            </a:pPr>
            <a:endParaRPr lang="en-US" b="1" i="0" dirty="0">
              <a:solidFill>
                <a:srgbClr val="273239"/>
              </a:solidFill>
              <a:effectLst/>
              <a:latin typeface="Nunito" pitchFamily="2" charset="0"/>
            </a:endParaRPr>
          </a:p>
          <a:p>
            <a:endParaRPr lang="en-US" dirty="0"/>
          </a:p>
        </p:txBody>
      </p:sp>
      <p:sp>
        <p:nvSpPr>
          <p:cNvPr id="4" name="Slide Number Placeholder 3">
            <a:extLst>
              <a:ext uri="{FF2B5EF4-FFF2-40B4-BE49-F238E27FC236}">
                <a16:creationId xmlns:a16="http://schemas.microsoft.com/office/drawing/2014/main" id="{198FD7E4-B3B8-498D-A96F-9C632FC3492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4123097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AAA45-DE7A-472C-BCD1-4FB3F39C7FCC}"/>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Common Algorithms Using Bagging</a:t>
            </a:r>
            <a:br>
              <a:rPr lang="en-US" b="1" i="0" dirty="0">
                <a:solidFill>
                  <a:srgbClr val="273239"/>
                </a:solidFill>
                <a:effectLst/>
                <a:latin typeface="Nunito" pitchFamily="2" charset="0"/>
              </a:rPr>
            </a:br>
            <a:endParaRPr lang="en-US" dirty="0"/>
          </a:p>
        </p:txBody>
      </p:sp>
      <p:sp>
        <p:nvSpPr>
          <p:cNvPr id="3" name="Text Placeholder 2">
            <a:extLst>
              <a:ext uri="{FF2B5EF4-FFF2-40B4-BE49-F238E27FC236}">
                <a16:creationId xmlns:a16="http://schemas.microsoft.com/office/drawing/2014/main" id="{ADAAF8C3-BFFA-44B3-93A8-ADE1721AC1C0}"/>
              </a:ext>
            </a:extLst>
          </p:cNvPr>
          <p:cNvSpPr>
            <a:spLocks noGrp="1"/>
          </p:cNvSpPr>
          <p:nvPr>
            <p:ph type="body" idx="1"/>
          </p:nvPr>
        </p:nvSpPr>
        <p:spPr/>
        <p:txBody>
          <a:bodyPr>
            <a:normAutofit fontScale="92500" lnSpcReduction="20000"/>
          </a:bodyPr>
          <a:lstStyle/>
          <a:p>
            <a:pPr marL="114300" indent="0" algn="l" rtl="0" fontAlgn="base">
              <a:buNone/>
            </a:pPr>
            <a:endParaRPr lang="en-US" b="1" i="0" dirty="0">
              <a:solidFill>
                <a:srgbClr val="273239"/>
              </a:solidFill>
              <a:effectLst/>
              <a:latin typeface="Nunito" pitchFamily="2" charset="0"/>
            </a:endParaRPr>
          </a:p>
          <a:p>
            <a:pPr marL="114300" indent="0" algn="l" rtl="0" fontAlgn="base">
              <a:buNone/>
            </a:pPr>
            <a:r>
              <a:rPr lang="en-US" b="1" i="0" dirty="0">
                <a:solidFill>
                  <a:srgbClr val="273239"/>
                </a:solidFill>
                <a:effectLst/>
                <a:latin typeface="Nunito" pitchFamily="2" charset="0"/>
              </a:rPr>
              <a:t>1. Random Forest</a:t>
            </a:r>
            <a:endParaRPr lang="en-US" b="0" i="0" dirty="0">
              <a:solidFill>
                <a:srgbClr val="273239"/>
              </a:solidFill>
              <a:effectLst/>
              <a:latin typeface="Nunito" pitchFamily="2" charset="0"/>
            </a:endParaRPr>
          </a:p>
          <a:p>
            <a:pPr marL="114300" indent="0" algn="l" fontAlgn="base">
              <a:buNone/>
            </a:pPr>
            <a:r>
              <a:rPr lang="en-US" b="0" i="0" u="sng" dirty="0">
                <a:solidFill>
                  <a:srgbClr val="357960"/>
                </a:solidFill>
                <a:effectLst/>
                <a:latin typeface="Nunito" pitchFamily="2" charset="0"/>
                <a:hlinkClick r:id="rId2"/>
              </a:rPr>
              <a:t>Random forest</a:t>
            </a:r>
            <a:r>
              <a:rPr lang="en-US" b="0" i="0" dirty="0">
                <a:solidFill>
                  <a:srgbClr val="273239"/>
                </a:solidFill>
                <a:effectLst/>
                <a:latin typeface="Nunito" pitchFamily="2" charset="0"/>
              </a:rPr>
              <a:t> is an ensemble method based on decision trees. Multiple decision trees are trained using different bootstrapped samples of the data.</a:t>
            </a:r>
          </a:p>
          <a:p>
            <a:pPr marL="114300" indent="0" algn="l" fontAlgn="base">
              <a:buNone/>
            </a:pPr>
            <a:endParaRPr lang="en-US" b="0" i="0" dirty="0">
              <a:solidFill>
                <a:srgbClr val="273239"/>
              </a:solidFill>
              <a:effectLst/>
              <a:latin typeface="Nunito" pitchFamily="2" charset="0"/>
            </a:endParaRPr>
          </a:p>
          <a:p>
            <a:pPr marL="114300" indent="0" algn="l" fontAlgn="base">
              <a:buNone/>
            </a:pPr>
            <a:r>
              <a:rPr lang="en-US" b="0" i="0" dirty="0">
                <a:solidFill>
                  <a:srgbClr val="273239"/>
                </a:solidFill>
                <a:effectLst/>
                <a:latin typeface="Nunito" pitchFamily="2" charset="0"/>
              </a:rPr>
              <a:t>In addition to bagging, Random Forest also introduces randomness by selecting a random subset of features at each node, further reducing variance and overfitting.</a:t>
            </a:r>
          </a:p>
          <a:p>
            <a:pPr marL="114300" indent="0" algn="l" rtl="0" fontAlgn="base">
              <a:buNone/>
            </a:pPr>
            <a:endParaRPr lang="en-US" b="1" i="0" dirty="0">
              <a:solidFill>
                <a:srgbClr val="273239"/>
              </a:solidFill>
              <a:effectLst/>
              <a:latin typeface="Nunito" pitchFamily="2" charset="0"/>
            </a:endParaRPr>
          </a:p>
          <a:p>
            <a:pPr marL="114300" indent="0" algn="l" rtl="0" fontAlgn="base">
              <a:buNone/>
            </a:pPr>
            <a:r>
              <a:rPr lang="en-US" b="1" i="0" dirty="0">
                <a:solidFill>
                  <a:srgbClr val="273239"/>
                </a:solidFill>
                <a:effectLst/>
                <a:latin typeface="Nunito" pitchFamily="2" charset="0"/>
              </a:rPr>
              <a:t>2. Bagged Decision Trees</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In </a:t>
            </a:r>
            <a:r>
              <a:rPr lang="en-US" b="1" i="0" u="sng" dirty="0">
                <a:solidFill>
                  <a:srgbClr val="357960"/>
                </a:solidFill>
                <a:effectLst/>
                <a:latin typeface="Nunito" pitchFamily="2" charset="0"/>
                <a:hlinkClick r:id="rId3"/>
              </a:rPr>
              <a:t>Bagged Decision Trees</a:t>
            </a:r>
            <a:r>
              <a:rPr lang="en-US" b="0" i="0" dirty="0">
                <a:solidFill>
                  <a:srgbClr val="273239"/>
                </a:solidFill>
                <a:effectLst/>
                <a:latin typeface="Nunito" pitchFamily="2" charset="0"/>
              </a:rPr>
              <a:t>, multiple decision trees are trained using bootstrapped samples of the data.</a:t>
            </a:r>
          </a:p>
          <a:p>
            <a:pPr algn="l" fontAlgn="base">
              <a:buFont typeface="Arial" panose="020B0604020202020204" pitchFamily="34" charset="0"/>
              <a:buChar char="•"/>
            </a:pPr>
            <a:r>
              <a:rPr lang="en-US" b="0" i="0" dirty="0">
                <a:solidFill>
                  <a:srgbClr val="273239"/>
                </a:solidFill>
                <a:effectLst/>
                <a:latin typeface="Nunito" pitchFamily="2" charset="0"/>
              </a:rPr>
              <a:t>Each tree is trained independently and the final prediction is made by averaging the predictions of all the trees in the ensemble.</a:t>
            </a:r>
          </a:p>
          <a:p>
            <a:endParaRPr lang="en-US" dirty="0"/>
          </a:p>
        </p:txBody>
      </p:sp>
      <p:sp>
        <p:nvSpPr>
          <p:cNvPr id="4" name="Slide Number Placeholder 3">
            <a:extLst>
              <a:ext uri="{FF2B5EF4-FFF2-40B4-BE49-F238E27FC236}">
                <a16:creationId xmlns:a16="http://schemas.microsoft.com/office/drawing/2014/main" id="{6386338E-8C68-4058-B70F-DFBBF810B1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3303953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941E1-F27F-487E-8514-FE9B74E59088}"/>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Boosting</a:t>
            </a:r>
            <a:br>
              <a:rPr lang="en-US" b="1" i="0" dirty="0">
                <a:solidFill>
                  <a:srgbClr val="273239"/>
                </a:solidFill>
                <a:effectLst/>
                <a:latin typeface="Nunito" pitchFamily="2" charset="0"/>
              </a:rPr>
            </a:br>
            <a:endParaRPr lang="en-US" dirty="0"/>
          </a:p>
        </p:txBody>
      </p:sp>
      <p:sp>
        <p:nvSpPr>
          <p:cNvPr id="3" name="Text Placeholder 2">
            <a:extLst>
              <a:ext uri="{FF2B5EF4-FFF2-40B4-BE49-F238E27FC236}">
                <a16:creationId xmlns:a16="http://schemas.microsoft.com/office/drawing/2014/main" id="{D3BFDE5C-6FAF-4517-A5D8-69360E9CC514}"/>
              </a:ext>
            </a:extLst>
          </p:cNvPr>
          <p:cNvSpPr>
            <a:spLocks noGrp="1"/>
          </p:cNvSpPr>
          <p:nvPr>
            <p:ph type="body" idx="1"/>
          </p:nvPr>
        </p:nvSpPr>
        <p:spPr>
          <a:xfrm>
            <a:off x="311700" y="914400"/>
            <a:ext cx="8520600" cy="4095750"/>
          </a:xfrm>
        </p:spPr>
        <p:txBody>
          <a:bodyPr>
            <a:normAutofit fontScale="92500" lnSpcReduction="20000"/>
          </a:bodyPr>
          <a:lstStyle/>
          <a:p>
            <a:pPr algn="l" rtl="0" fontAlgn="base"/>
            <a:r>
              <a:rPr lang="en-US" b="1" i="0" dirty="0">
                <a:solidFill>
                  <a:srgbClr val="273239"/>
                </a:solidFill>
                <a:effectLst/>
                <a:latin typeface="Nunito" pitchFamily="2" charset="0"/>
              </a:rPr>
              <a:t>Boosting</a:t>
            </a:r>
            <a:r>
              <a:rPr lang="en-US" b="0" i="0" dirty="0">
                <a:solidFill>
                  <a:srgbClr val="273239"/>
                </a:solidFill>
                <a:effectLst/>
                <a:latin typeface="Nunito" pitchFamily="2" charset="0"/>
              </a:rPr>
              <a:t> is an ensemble technique where </a:t>
            </a:r>
            <a:r>
              <a:rPr lang="en-US" b="0" i="0" dirty="0">
                <a:solidFill>
                  <a:srgbClr val="273239"/>
                </a:solidFill>
                <a:effectLst/>
                <a:highlight>
                  <a:srgbClr val="FFFF00"/>
                </a:highlight>
                <a:latin typeface="Nunito" pitchFamily="2" charset="0"/>
              </a:rPr>
              <a:t>multiple models are trained sequentially</a:t>
            </a:r>
            <a:r>
              <a:rPr lang="en-US" b="0" i="0" dirty="0">
                <a:solidFill>
                  <a:srgbClr val="273239"/>
                </a:solidFill>
                <a:effectLst/>
                <a:latin typeface="Nunito" pitchFamily="2" charset="0"/>
              </a:rPr>
              <a:t>, with each new model attempting to correct the errors made by the previous ones.</a:t>
            </a:r>
          </a:p>
          <a:p>
            <a:pPr algn="l" rtl="0" fontAlgn="base"/>
            <a:endParaRPr lang="en-US" b="0" i="0" dirty="0">
              <a:solidFill>
                <a:srgbClr val="273239"/>
              </a:solidFill>
              <a:effectLst/>
              <a:latin typeface="Nunito" pitchFamily="2" charset="0"/>
            </a:endParaRPr>
          </a:p>
          <a:p>
            <a:pPr algn="l" rtl="0" fontAlgn="base"/>
            <a:r>
              <a:rPr lang="en-US" b="0" i="0" dirty="0">
                <a:solidFill>
                  <a:srgbClr val="273239"/>
                </a:solidFill>
                <a:effectLst/>
                <a:latin typeface="Nunito" pitchFamily="2" charset="0"/>
              </a:rPr>
              <a:t>Boosting focuses on </a:t>
            </a:r>
            <a:r>
              <a:rPr lang="en-US" b="0" i="0" dirty="0">
                <a:solidFill>
                  <a:srgbClr val="273239"/>
                </a:solidFill>
                <a:effectLst/>
                <a:highlight>
                  <a:srgbClr val="FFFF00"/>
                </a:highlight>
                <a:latin typeface="Nunito" pitchFamily="2" charset="0"/>
              </a:rPr>
              <a:t>adjusting the weights of incorrectly classified data points</a:t>
            </a:r>
            <a:r>
              <a:rPr lang="en-US" b="0" i="0" dirty="0">
                <a:solidFill>
                  <a:srgbClr val="273239"/>
                </a:solidFill>
                <a:effectLst/>
                <a:latin typeface="Nunito" pitchFamily="2" charset="0"/>
              </a:rPr>
              <a:t>, so the next model pays more attention to those difficult cases. By combining the outputs of these models, boosting typically improves the accuracy of the final prediction.</a:t>
            </a:r>
          </a:p>
          <a:p>
            <a:pPr algn="l" rtl="0" fontAlgn="base"/>
            <a:endParaRPr lang="en-US" b="0" i="0" dirty="0">
              <a:solidFill>
                <a:srgbClr val="273239"/>
              </a:solidFill>
              <a:effectLst/>
              <a:latin typeface="Nunito" pitchFamily="2" charset="0"/>
            </a:endParaRPr>
          </a:p>
          <a:p>
            <a:pPr marL="114300" indent="0" algn="l" rtl="0" fontAlgn="base">
              <a:buNone/>
            </a:pPr>
            <a:endParaRPr lang="en-US" dirty="0">
              <a:solidFill>
                <a:srgbClr val="273239"/>
              </a:solidFill>
              <a:latin typeface="Nunito" pitchFamily="2" charset="0"/>
            </a:endParaRPr>
          </a:p>
          <a:p>
            <a:pPr marL="114300" indent="0" algn="l" rtl="0" fontAlgn="base">
              <a:buNone/>
            </a:pPr>
            <a:r>
              <a:rPr lang="en-US" b="0" i="0" dirty="0">
                <a:solidFill>
                  <a:srgbClr val="273239"/>
                </a:solidFill>
                <a:effectLst/>
                <a:latin typeface="Nunito" pitchFamily="2" charset="0"/>
              </a:rPr>
              <a:t>The final prediction from the ensemble is typically made by:</a:t>
            </a:r>
          </a:p>
          <a:p>
            <a:pPr algn="l" fontAlgn="base">
              <a:buFont typeface="Arial" panose="020B0604020202020204" pitchFamily="34" charset="0"/>
              <a:buChar char="•"/>
            </a:pPr>
            <a:r>
              <a:rPr lang="en-US" b="1" i="0" dirty="0">
                <a:solidFill>
                  <a:srgbClr val="273239"/>
                </a:solidFill>
                <a:effectLst/>
                <a:latin typeface="Nunito" pitchFamily="2" charset="0"/>
              </a:rPr>
              <a:t>Weighted sum</a:t>
            </a:r>
            <a:r>
              <a:rPr lang="en-US" b="0" i="0" dirty="0">
                <a:solidFill>
                  <a:srgbClr val="273239"/>
                </a:solidFill>
                <a:effectLst/>
                <a:latin typeface="Nunito" pitchFamily="2" charset="0"/>
              </a:rPr>
              <a:t> (for regression problems), or</a:t>
            </a:r>
          </a:p>
          <a:p>
            <a:pPr algn="l" fontAlgn="base">
              <a:buFont typeface="Arial" panose="020B0604020202020204" pitchFamily="34" charset="0"/>
              <a:buChar char="•"/>
            </a:pPr>
            <a:r>
              <a:rPr lang="en-US" b="1" i="0" dirty="0">
                <a:solidFill>
                  <a:srgbClr val="273239"/>
                </a:solidFill>
                <a:effectLst/>
                <a:latin typeface="Nunito" pitchFamily="2" charset="0"/>
              </a:rPr>
              <a:t>Weighted majority vote</a:t>
            </a:r>
            <a:r>
              <a:rPr lang="en-US" b="0" i="0" dirty="0">
                <a:solidFill>
                  <a:srgbClr val="273239"/>
                </a:solidFill>
                <a:effectLst/>
                <a:latin typeface="Nunito" pitchFamily="2" charset="0"/>
              </a:rPr>
              <a:t> (for classification problems).</a:t>
            </a:r>
          </a:p>
          <a:p>
            <a:pPr algn="r" rtl="0" fontAlgn="base"/>
            <a:r>
              <a:rPr lang="en-US" b="0" i="0" dirty="0">
                <a:solidFill>
                  <a:srgbClr val="273239"/>
                </a:solidFill>
                <a:effectLst/>
                <a:latin typeface="Nunito" pitchFamily="2" charset="0"/>
              </a:rPr>
              <a:t>This approach helps to </a:t>
            </a:r>
            <a:r>
              <a:rPr lang="en-US" b="0" i="0" dirty="0">
                <a:solidFill>
                  <a:srgbClr val="273239"/>
                </a:solidFill>
                <a:effectLst/>
                <a:highlight>
                  <a:srgbClr val="FFFF00"/>
                </a:highlight>
                <a:latin typeface="Nunito" pitchFamily="2" charset="0"/>
              </a:rPr>
              <a:t>reduce bias, </a:t>
            </a:r>
            <a:r>
              <a:rPr lang="en-US" b="0" i="0" dirty="0">
                <a:solidFill>
                  <a:srgbClr val="273239"/>
                </a:solidFill>
                <a:effectLst/>
                <a:latin typeface="Nunito" pitchFamily="2" charset="0"/>
              </a:rPr>
              <a:t>especially when using weak learners, by focusing on the misclassified points.</a:t>
            </a:r>
          </a:p>
          <a:p>
            <a:endParaRPr lang="en-US" dirty="0"/>
          </a:p>
        </p:txBody>
      </p:sp>
      <p:sp>
        <p:nvSpPr>
          <p:cNvPr id="4" name="Slide Number Placeholder 3">
            <a:extLst>
              <a:ext uri="{FF2B5EF4-FFF2-40B4-BE49-F238E27FC236}">
                <a16:creationId xmlns:a16="http://schemas.microsoft.com/office/drawing/2014/main" id="{61CEED91-588D-44DE-AA0B-E6B931DF66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252367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B9A9A-BE34-47A2-8D67-DA9362FDBC9F}"/>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Common Algorithms Using Boosting</a:t>
            </a:r>
            <a:br>
              <a:rPr lang="en-US" b="1" i="0" dirty="0">
                <a:solidFill>
                  <a:srgbClr val="273239"/>
                </a:solidFill>
                <a:effectLst/>
                <a:latin typeface="Nunito" pitchFamily="2" charset="0"/>
              </a:rPr>
            </a:br>
            <a:endParaRPr lang="en-US" dirty="0"/>
          </a:p>
        </p:txBody>
      </p:sp>
      <p:sp>
        <p:nvSpPr>
          <p:cNvPr id="3" name="Text Placeholder 2">
            <a:extLst>
              <a:ext uri="{FF2B5EF4-FFF2-40B4-BE49-F238E27FC236}">
                <a16:creationId xmlns:a16="http://schemas.microsoft.com/office/drawing/2014/main" id="{D9692598-FA27-4F05-B1D7-F2DBF2374802}"/>
              </a:ext>
            </a:extLst>
          </p:cNvPr>
          <p:cNvSpPr>
            <a:spLocks noGrp="1"/>
          </p:cNvSpPr>
          <p:nvPr>
            <p:ph type="body" idx="1"/>
          </p:nvPr>
        </p:nvSpPr>
        <p:spPr>
          <a:xfrm>
            <a:off x="226208" y="1211776"/>
            <a:ext cx="8520600" cy="3492500"/>
          </a:xfrm>
        </p:spPr>
        <p:txBody>
          <a:bodyPr>
            <a:normAutofit fontScale="62500" lnSpcReduction="20000"/>
          </a:bodyPr>
          <a:lstStyle/>
          <a:p>
            <a:pPr algn="l" rtl="0" fontAlgn="base">
              <a:lnSpc>
                <a:spcPct val="170000"/>
              </a:lnSpc>
            </a:pPr>
            <a:r>
              <a:rPr lang="en-US" b="1" i="0" dirty="0">
                <a:solidFill>
                  <a:srgbClr val="273239"/>
                </a:solidFill>
                <a:effectLst/>
                <a:latin typeface="Nunito" pitchFamily="2" charset="0"/>
              </a:rPr>
              <a:t>1. AdaBoost (Adaptive Boosting)</a:t>
            </a:r>
            <a:endParaRPr lang="en-US" b="0" i="0" dirty="0">
              <a:solidFill>
                <a:srgbClr val="273239"/>
              </a:solidFill>
              <a:effectLst/>
              <a:latin typeface="Nunito" pitchFamily="2" charset="0"/>
            </a:endParaRPr>
          </a:p>
          <a:p>
            <a:pPr algn="l" fontAlgn="base">
              <a:lnSpc>
                <a:spcPct val="170000"/>
              </a:lnSpc>
              <a:buFont typeface="Arial" panose="020B0604020202020204" pitchFamily="34" charset="0"/>
              <a:buChar char="•"/>
            </a:pPr>
            <a:r>
              <a:rPr lang="en-US" b="0" i="0" u="sng" dirty="0">
                <a:solidFill>
                  <a:srgbClr val="357960"/>
                </a:solidFill>
                <a:effectLst/>
                <a:latin typeface="Nunito" pitchFamily="2" charset="0"/>
              </a:rPr>
              <a:t>AdaBoost</a:t>
            </a:r>
            <a:r>
              <a:rPr lang="en-US" b="0" i="0" dirty="0">
                <a:solidFill>
                  <a:srgbClr val="273239"/>
                </a:solidFill>
                <a:effectLst/>
                <a:latin typeface="Nunito" pitchFamily="2" charset="0"/>
              </a:rPr>
              <a:t> works by adjusting the weights of misclassified instances and combining the predictions of weak learners (usually decision trees). Each subsequent model is trained to correct the mistakes of the previous model.</a:t>
            </a:r>
          </a:p>
          <a:p>
            <a:pPr algn="l" fontAlgn="base">
              <a:lnSpc>
                <a:spcPct val="170000"/>
              </a:lnSpc>
              <a:buFont typeface="Arial" panose="020B0604020202020204" pitchFamily="34" charset="0"/>
              <a:buChar char="•"/>
            </a:pPr>
            <a:r>
              <a:rPr lang="en-US" b="0" i="0" dirty="0">
                <a:solidFill>
                  <a:srgbClr val="273239"/>
                </a:solidFill>
                <a:effectLst/>
                <a:latin typeface="Nunito" pitchFamily="2" charset="0"/>
              </a:rPr>
              <a:t>AdaBoost can significantly improve the performance of weak models, especially when used for classification problems.</a:t>
            </a:r>
          </a:p>
          <a:p>
            <a:pPr algn="l" rtl="0" fontAlgn="base">
              <a:lnSpc>
                <a:spcPct val="170000"/>
              </a:lnSpc>
            </a:pPr>
            <a:r>
              <a:rPr lang="en-US" b="1" i="0" dirty="0">
                <a:solidFill>
                  <a:srgbClr val="273239"/>
                </a:solidFill>
                <a:effectLst/>
                <a:latin typeface="Nunito" pitchFamily="2" charset="0"/>
              </a:rPr>
              <a:t>2. Gradient Boosting</a:t>
            </a:r>
            <a:endParaRPr lang="en-US" b="0" i="0" dirty="0">
              <a:solidFill>
                <a:srgbClr val="273239"/>
              </a:solidFill>
              <a:effectLst/>
              <a:latin typeface="Nunito" pitchFamily="2" charset="0"/>
            </a:endParaRPr>
          </a:p>
          <a:p>
            <a:pPr algn="l" fontAlgn="base">
              <a:lnSpc>
                <a:spcPct val="170000"/>
              </a:lnSpc>
              <a:buFont typeface="Arial" panose="020B0604020202020204" pitchFamily="34" charset="0"/>
              <a:buChar char="•"/>
            </a:pPr>
            <a:r>
              <a:rPr lang="en-US" b="0" i="0" u="sng" dirty="0">
                <a:solidFill>
                  <a:srgbClr val="357960"/>
                </a:solidFill>
                <a:effectLst/>
                <a:latin typeface="Nunito" pitchFamily="2" charset="0"/>
              </a:rPr>
              <a:t>Gradient Boosting </a:t>
            </a:r>
            <a:r>
              <a:rPr lang="en-US" b="0" i="0" dirty="0">
                <a:solidFill>
                  <a:srgbClr val="273239"/>
                </a:solidFill>
                <a:effectLst/>
                <a:latin typeface="Nunito" pitchFamily="2" charset="0"/>
              </a:rPr>
              <a:t>is a more general approach to boosting that builds models sequentially, with each new model fitting the residual errors of the previous model.</a:t>
            </a:r>
          </a:p>
          <a:p>
            <a:pPr algn="l" fontAlgn="base">
              <a:lnSpc>
                <a:spcPct val="170000"/>
              </a:lnSpc>
              <a:buFont typeface="Arial" panose="020B0604020202020204" pitchFamily="34" charset="0"/>
              <a:buChar char="•"/>
            </a:pPr>
            <a:r>
              <a:rPr lang="en-US" b="0" i="0" dirty="0">
                <a:solidFill>
                  <a:srgbClr val="273239"/>
                </a:solidFill>
                <a:effectLst/>
                <a:latin typeface="Nunito" pitchFamily="2" charset="0"/>
              </a:rPr>
              <a:t>The models are trained to minimize a loss function, which can be customized based on the specific task.</a:t>
            </a:r>
          </a:p>
          <a:p>
            <a:pPr algn="l" fontAlgn="base">
              <a:lnSpc>
                <a:spcPct val="170000"/>
              </a:lnSpc>
              <a:buFont typeface="Arial" panose="020B0604020202020204" pitchFamily="34" charset="0"/>
              <a:buChar char="•"/>
            </a:pPr>
            <a:r>
              <a:rPr lang="en-US" b="0" i="0" dirty="0">
                <a:solidFill>
                  <a:srgbClr val="273239"/>
                </a:solidFill>
                <a:effectLst/>
                <a:latin typeface="Nunito" pitchFamily="2" charset="0"/>
              </a:rPr>
              <a:t>We can perform </a:t>
            </a:r>
            <a:r>
              <a:rPr lang="en-US" b="0" i="0" dirty="0">
                <a:solidFill>
                  <a:srgbClr val="273239"/>
                </a:solidFill>
                <a:effectLst/>
                <a:highlight>
                  <a:srgbClr val="FFFF00"/>
                </a:highlight>
                <a:latin typeface="Nunito" pitchFamily="2" charset="0"/>
              </a:rPr>
              <a:t>regression and classification tasks using Gradient Boosting.</a:t>
            </a:r>
          </a:p>
          <a:p>
            <a:pPr algn="l" rtl="0" fontAlgn="base">
              <a:lnSpc>
                <a:spcPct val="170000"/>
              </a:lnSpc>
            </a:pPr>
            <a:r>
              <a:rPr lang="en-US" b="1" i="0" dirty="0">
                <a:solidFill>
                  <a:srgbClr val="273239"/>
                </a:solidFill>
                <a:effectLst/>
                <a:latin typeface="Nunito" pitchFamily="2" charset="0"/>
              </a:rPr>
              <a:t>3. XGBoost (Extreme Gradient Boosting)</a:t>
            </a:r>
            <a:endParaRPr lang="en-US" b="0" i="0" dirty="0">
              <a:solidFill>
                <a:srgbClr val="273239"/>
              </a:solidFill>
              <a:effectLst/>
              <a:latin typeface="Nunito" pitchFamily="2" charset="0"/>
            </a:endParaRPr>
          </a:p>
          <a:p>
            <a:pPr algn="l" fontAlgn="base">
              <a:lnSpc>
                <a:spcPct val="170000"/>
              </a:lnSpc>
              <a:buFont typeface="Arial" panose="020B0604020202020204" pitchFamily="34" charset="0"/>
              <a:buChar char="•"/>
            </a:pPr>
            <a:r>
              <a:rPr lang="en-US" b="0" i="0" u="sng" dirty="0">
                <a:solidFill>
                  <a:srgbClr val="357960"/>
                </a:solidFill>
                <a:effectLst/>
                <a:latin typeface="Nunito" pitchFamily="2" charset="0"/>
              </a:rPr>
              <a:t>XGBoost</a:t>
            </a:r>
            <a:r>
              <a:rPr lang="en-US" b="0" i="0" dirty="0">
                <a:solidFill>
                  <a:srgbClr val="273239"/>
                </a:solidFill>
                <a:effectLst/>
                <a:latin typeface="Nunito" pitchFamily="2" charset="0"/>
              </a:rPr>
              <a:t> is an optimized version of gradient boosting. It includes regularization to prevent overfitting and supports parallelization to speed up training.</a:t>
            </a:r>
          </a:p>
          <a:p>
            <a:pPr algn="l" fontAlgn="base">
              <a:lnSpc>
                <a:spcPct val="170000"/>
              </a:lnSpc>
              <a:buFont typeface="Arial" panose="020B0604020202020204" pitchFamily="34" charset="0"/>
              <a:buChar char="•"/>
            </a:pPr>
            <a:r>
              <a:rPr lang="en-US" b="0" i="0" dirty="0">
                <a:solidFill>
                  <a:srgbClr val="273239"/>
                </a:solidFill>
                <a:effectLst/>
                <a:latin typeface="Nunito" pitchFamily="2" charset="0"/>
              </a:rPr>
              <a:t>XGBoost has become a popular choice in machine learning competitions due to its high performance.</a:t>
            </a:r>
            <a:endParaRPr lang="en-US" dirty="0"/>
          </a:p>
        </p:txBody>
      </p:sp>
      <p:sp>
        <p:nvSpPr>
          <p:cNvPr id="4" name="Slide Number Placeholder 3">
            <a:extLst>
              <a:ext uri="{FF2B5EF4-FFF2-40B4-BE49-F238E27FC236}">
                <a16:creationId xmlns:a16="http://schemas.microsoft.com/office/drawing/2014/main" id="{C7103340-2E17-484A-AB49-8643C8B6F4F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1546892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40134-AFAE-42AF-87CB-AE70FCBD0528}"/>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Stacking</a:t>
            </a:r>
            <a:br>
              <a:rPr lang="en-US" b="1" i="0" dirty="0">
                <a:solidFill>
                  <a:srgbClr val="273239"/>
                </a:solidFill>
                <a:effectLst/>
                <a:latin typeface="Nunito" pitchFamily="2" charset="0"/>
              </a:rPr>
            </a:br>
            <a:endParaRPr lang="en-US" dirty="0"/>
          </a:p>
        </p:txBody>
      </p:sp>
      <p:sp>
        <p:nvSpPr>
          <p:cNvPr id="3" name="Text Placeholder 2">
            <a:extLst>
              <a:ext uri="{FF2B5EF4-FFF2-40B4-BE49-F238E27FC236}">
                <a16:creationId xmlns:a16="http://schemas.microsoft.com/office/drawing/2014/main" id="{FE0DD1CB-0CB7-42D8-B9D0-7584F284D077}"/>
              </a:ext>
            </a:extLst>
          </p:cNvPr>
          <p:cNvSpPr>
            <a:spLocks noGrp="1"/>
          </p:cNvSpPr>
          <p:nvPr>
            <p:ph type="body" idx="1"/>
          </p:nvPr>
        </p:nvSpPr>
        <p:spPr>
          <a:xfrm>
            <a:off x="311700" y="1153898"/>
            <a:ext cx="8520600" cy="3761002"/>
          </a:xfrm>
        </p:spPr>
        <p:txBody>
          <a:bodyPr>
            <a:normAutofit/>
          </a:bodyPr>
          <a:lstStyle/>
          <a:p>
            <a:pPr algn="l" rtl="0" fontAlgn="base"/>
            <a:r>
              <a:rPr lang="en-US" b="1" i="0" dirty="0">
                <a:solidFill>
                  <a:srgbClr val="273239"/>
                </a:solidFill>
                <a:effectLst/>
                <a:latin typeface="Nunito" pitchFamily="2" charset="0"/>
              </a:rPr>
              <a:t>Stacking</a:t>
            </a:r>
            <a:r>
              <a:rPr lang="en-US" b="0" i="0" dirty="0">
                <a:solidFill>
                  <a:srgbClr val="273239"/>
                </a:solidFill>
                <a:effectLst/>
                <a:latin typeface="Nunito" pitchFamily="2" charset="0"/>
              </a:rPr>
              <a:t> (</a:t>
            </a:r>
            <a:r>
              <a:rPr lang="en-US" b="1" i="0" dirty="0">
                <a:solidFill>
                  <a:srgbClr val="273239"/>
                </a:solidFill>
                <a:effectLst/>
                <a:latin typeface="Nunito" pitchFamily="2" charset="0"/>
              </a:rPr>
              <a:t>Stacked Generalization</a:t>
            </a:r>
            <a:r>
              <a:rPr lang="en-US" b="0" i="0" dirty="0">
                <a:solidFill>
                  <a:srgbClr val="273239"/>
                </a:solidFill>
                <a:effectLst/>
                <a:latin typeface="Nunito" pitchFamily="2" charset="0"/>
              </a:rPr>
              <a:t>) combines multiple models (base learners) of different types, where each model makes independent predictions and a meta-model is trained to combine these predictions.</a:t>
            </a:r>
          </a:p>
          <a:p>
            <a:pPr algn="l" rtl="0" fontAlgn="base"/>
            <a:r>
              <a:rPr lang="en-US" b="0" i="0" dirty="0">
                <a:solidFill>
                  <a:srgbClr val="273239"/>
                </a:solidFill>
                <a:effectLst/>
                <a:latin typeface="Nunito" pitchFamily="2" charset="0"/>
              </a:rPr>
              <a:t> Instead of simply averaging or voting, as in bagging and boosting, stacking trains a higher-level model (meta-model) to learn how to best combine the predictions of the base models.</a:t>
            </a:r>
          </a:p>
          <a:p>
            <a:pPr algn="l" rtl="0" fontAlgn="base"/>
            <a:endParaRPr lang="en-US" b="0" i="0" dirty="0">
              <a:solidFill>
                <a:srgbClr val="273239"/>
              </a:solidFill>
              <a:effectLst/>
              <a:latin typeface="Nunito" pitchFamily="2" charset="0"/>
            </a:endParaRPr>
          </a:p>
          <a:p>
            <a:pPr algn="l" rtl="0" fontAlgn="base"/>
            <a:r>
              <a:rPr lang="en-US" b="0" i="0" dirty="0">
                <a:solidFill>
                  <a:srgbClr val="273239"/>
                </a:solidFill>
                <a:effectLst/>
                <a:latin typeface="Nunito" pitchFamily="2" charset="0"/>
              </a:rPr>
              <a:t>In stacking, the base models are trained on the original data and their predictions are then used as features for the meta-model, which learns how to combine them effectively. The final prediction is made by the meta-model based on the combined outputs of all the base models.</a:t>
            </a:r>
          </a:p>
          <a:p>
            <a:pPr algn="l" fontAlgn="base"/>
            <a:endParaRPr lang="en-US" b="1" i="0" dirty="0">
              <a:solidFill>
                <a:srgbClr val="0E0E12"/>
              </a:solidFill>
              <a:effectLst/>
              <a:latin typeface="Source Sans 3"/>
            </a:endParaRPr>
          </a:p>
        </p:txBody>
      </p:sp>
      <p:sp>
        <p:nvSpPr>
          <p:cNvPr id="4" name="Slide Number Placeholder 3">
            <a:extLst>
              <a:ext uri="{FF2B5EF4-FFF2-40B4-BE49-F238E27FC236}">
                <a16:creationId xmlns:a16="http://schemas.microsoft.com/office/drawing/2014/main" id="{80703455-910E-4432-BC3C-E08F1299DB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4012478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68DD3-1564-48C6-9C73-944D62F6CB52}"/>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Common Algorithms Using Stacking</a:t>
            </a:r>
            <a:br>
              <a:rPr lang="en-US" b="1" i="0" dirty="0">
                <a:solidFill>
                  <a:srgbClr val="273239"/>
                </a:solidFill>
                <a:effectLst/>
                <a:latin typeface="Nunito" pitchFamily="2" charset="0"/>
              </a:rPr>
            </a:br>
            <a:endParaRPr lang="en-US" dirty="0"/>
          </a:p>
        </p:txBody>
      </p:sp>
      <p:sp>
        <p:nvSpPr>
          <p:cNvPr id="3" name="Text Placeholder 2">
            <a:extLst>
              <a:ext uri="{FF2B5EF4-FFF2-40B4-BE49-F238E27FC236}">
                <a16:creationId xmlns:a16="http://schemas.microsoft.com/office/drawing/2014/main" id="{33AA4E81-763A-464E-BFC7-6BBE05A77491}"/>
              </a:ext>
            </a:extLst>
          </p:cNvPr>
          <p:cNvSpPr>
            <a:spLocks noGrp="1"/>
          </p:cNvSpPr>
          <p:nvPr>
            <p:ph type="body" idx="1"/>
          </p:nvPr>
        </p:nvSpPr>
        <p:spPr>
          <a:xfrm>
            <a:off x="311700" y="1018874"/>
            <a:ext cx="8520600" cy="4044300"/>
          </a:xfrm>
        </p:spPr>
        <p:txBody>
          <a:bodyPr>
            <a:normAutofit fontScale="55000" lnSpcReduction="20000"/>
          </a:bodyPr>
          <a:lstStyle/>
          <a:p>
            <a:pPr algn="l" rtl="0" fontAlgn="base">
              <a:lnSpc>
                <a:spcPct val="170000"/>
              </a:lnSpc>
            </a:pPr>
            <a:r>
              <a:rPr lang="en-US" b="1" i="0" dirty="0">
                <a:solidFill>
                  <a:srgbClr val="273239"/>
                </a:solidFill>
                <a:effectLst/>
                <a:latin typeface="Nunito" pitchFamily="2" charset="0"/>
              </a:rPr>
              <a:t>1. Generalized Stacking</a:t>
            </a:r>
            <a:endParaRPr lang="en-US" b="0" i="0" dirty="0">
              <a:solidFill>
                <a:srgbClr val="273239"/>
              </a:solidFill>
              <a:effectLst/>
              <a:latin typeface="Nunito" pitchFamily="2" charset="0"/>
            </a:endParaRPr>
          </a:p>
          <a:p>
            <a:pPr algn="l" fontAlgn="base">
              <a:lnSpc>
                <a:spcPct val="170000"/>
              </a:lnSpc>
              <a:buFont typeface="Arial" panose="020B0604020202020204" pitchFamily="34" charset="0"/>
              <a:buChar char="•"/>
            </a:pPr>
            <a:r>
              <a:rPr lang="en-US" b="0" i="0" dirty="0">
                <a:solidFill>
                  <a:srgbClr val="273239"/>
                </a:solidFill>
                <a:effectLst/>
                <a:latin typeface="Nunito" pitchFamily="2" charset="0"/>
              </a:rPr>
              <a:t>In </a:t>
            </a:r>
            <a:r>
              <a:rPr lang="en-US" b="0" i="0" u="sng" dirty="0">
                <a:solidFill>
                  <a:srgbClr val="357960"/>
                </a:solidFill>
                <a:effectLst/>
                <a:latin typeface="Nunito" pitchFamily="2" charset="0"/>
              </a:rPr>
              <a:t>Generalized Stacking,</a:t>
            </a:r>
            <a:r>
              <a:rPr lang="en-US" b="0" i="0" dirty="0">
                <a:solidFill>
                  <a:srgbClr val="273239"/>
                </a:solidFill>
                <a:effectLst/>
                <a:latin typeface="Nunito" pitchFamily="2" charset="0"/>
              </a:rPr>
              <a:t> multiple different models (e.g., decision trees, logistic regression, neural networks) are trained on the same dataset.</a:t>
            </a:r>
          </a:p>
          <a:p>
            <a:pPr algn="l" fontAlgn="base">
              <a:lnSpc>
                <a:spcPct val="170000"/>
              </a:lnSpc>
              <a:buFont typeface="Arial" panose="020B0604020202020204" pitchFamily="34" charset="0"/>
              <a:buChar char="•"/>
            </a:pPr>
            <a:r>
              <a:rPr lang="en-US" b="0" i="0" dirty="0">
                <a:solidFill>
                  <a:srgbClr val="273239"/>
                </a:solidFill>
                <a:effectLst/>
                <a:latin typeface="Nunito" pitchFamily="2" charset="0"/>
              </a:rPr>
              <a:t>And a meta-model (such as a logistic regression or another decision tree) is trained on the predictions made by the base models.</a:t>
            </a:r>
          </a:p>
          <a:p>
            <a:pPr algn="l" fontAlgn="base">
              <a:lnSpc>
                <a:spcPct val="170000"/>
              </a:lnSpc>
              <a:buFont typeface="Arial" panose="020B0604020202020204" pitchFamily="34" charset="0"/>
              <a:buChar char="•"/>
            </a:pPr>
            <a:r>
              <a:rPr lang="en-US" b="0" i="0" dirty="0">
                <a:solidFill>
                  <a:srgbClr val="273239"/>
                </a:solidFill>
                <a:effectLst/>
                <a:latin typeface="Nunito" pitchFamily="2" charset="0"/>
              </a:rPr>
              <a:t>The meta-model learns how to combine the predictions of the base models to make the final prediction.</a:t>
            </a:r>
          </a:p>
          <a:p>
            <a:pPr algn="l" rtl="0" fontAlgn="base">
              <a:lnSpc>
                <a:spcPct val="170000"/>
              </a:lnSpc>
            </a:pPr>
            <a:endParaRPr lang="en-US" b="1" i="0" dirty="0">
              <a:solidFill>
                <a:srgbClr val="273239"/>
              </a:solidFill>
              <a:effectLst/>
              <a:latin typeface="Nunito" pitchFamily="2" charset="0"/>
            </a:endParaRPr>
          </a:p>
          <a:p>
            <a:pPr algn="l" rtl="0" fontAlgn="base">
              <a:lnSpc>
                <a:spcPct val="170000"/>
              </a:lnSpc>
            </a:pPr>
            <a:r>
              <a:rPr lang="en-US" b="1" i="0" dirty="0">
                <a:solidFill>
                  <a:srgbClr val="273239"/>
                </a:solidFill>
                <a:effectLst/>
                <a:latin typeface="Nunito" pitchFamily="2" charset="0"/>
              </a:rPr>
              <a:t>2. Stacking with Cross-Validation</a:t>
            </a:r>
            <a:endParaRPr lang="en-US" b="0" i="0" dirty="0">
              <a:solidFill>
                <a:srgbClr val="273239"/>
              </a:solidFill>
              <a:effectLst/>
              <a:latin typeface="Nunito" pitchFamily="2" charset="0"/>
            </a:endParaRPr>
          </a:p>
          <a:p>
            <a:pPr algn="l" fontAlgn="base">
              <a:lnSpc>
                <a:spcPct val="170000"/>
              </a:lnSpc>
              <a:buFont typeface="Arial" panose="020B0604020202020204" pitchFamily="34" charset="0"/>
              <a:buChar char="•"/>
            </a:pPr>
            <a:r>
              <a:rPr lang="en-US" b="0" i="0" dirty="0">
                <a:solidFill>
                  <a:srgbClr val="273239"/>
                </a:solidFill>
                <a:effectLst/>
                <a:latin typeface="Nunito" pitchFamily="2" charset="0"/>
              </a:rPr>
              <a:t>In stacking with cross-validation, the base models are trained using cross-validation and their predictions on the validation set are used to train the meta-model.</a:t>
            </a:r>
          </a:p>
          <a:p>
            <a:pPr algn="l" fontAlgn="base">
              <a:lnSpc>
                <a:spcPct val="170000"/>
              </a:lnSpc>
              <a:buFont typeface="Arial" panose="020B0604020202020204" pitchFamily="34" charset="0"/>
              <a:buChar char="•"/>
            </a:pPr>
            <a:r>
              <a:rPr lang="en-US" b="0" i="0" dirty="0">
                <a:solidFill>
                  <a:srgbClr val="273239"/>
                </a:solidFill>
                <a:effectLst/>
                <a:latin typeface="Nunito" pitchFamily="2" charset="0"/>
              </a:rPr>
              <a:t>This prevents overfitting and ensures that the meta-model is trained on unbiased data.</a:t>
            </a:r>
          </a:p>
          <a:p>
            <a:pPr algn="l" rtl="0" fontAlgn="base">
              <a:lnSpc>
                <a:spcPct val="170000"/>
              </a:lnSpc>
            </a:pPr>
            <a:endParaRPr lang="en-US" b="1" i="0" dirty="0">
              <a:solidFill>
                <a:srgbClr val="273239"/>
              </a:solidFill>
              <a:effectLst/>
              <a:latin typeface="Nunito" pitchFamily="2" charset="0"/>
            </a:endParaRPr>
          </a:p>
          <a:p>
            <a:pPr algn="l" rtl="0" fontAlgn="base">
              <a:lnSpc>
                <a:spcPct val="170000"/>
              </a:lnSpc>
            </a:pPr>
            <a:r>
              <a:rPr lang="en-US" b="1" i="0" dirty="0">
                <a:solidFill>
                  <a:srgbClr val="273239"/>
                </a:solidFill>
                <a:effectLst/>
                <a:latin typeface="Nunito" pitchFamily="2" charset="0"/>
              </a:rPr>
              <a:t>3. Multi-Layer Stacking</a:t>
            </a:r>
            <a:endParaRPr lang="en-US" b="0" i="0" dirty="0">
              <a:solidFill>
                <a:srgbClr val="273239"/>
              </a:solidFill>
              <a:effectLst/>
              <a:latin typeface="Nunito" pitchFamily="2" charset="0"/>
            </a:endParaRPr>
          </a:p>
          <a:p>
            <a:pPr algn="l" fontAlgn="base">
              <a:lnSpc>
                <a:spcPct val="170000"/>
              </a:lnSpc>
              <a:buFont typeface="Arial" panose="020B0604020202020204" pitchFamily="34" charset="0"/>
              <a:buChar char="•"/>
            </a:pPr>
            <a:r>
              <a:rPr lang="en-US" b="0" i="0" dirty="0">
                <a:solidFill>
                  <a:srgbClr val="273239"/>
                </a:solidFill>
                <a:effectLst/>
                <a:latin typeface="Nunito" pitchFamily="2" charset="0"/>
              </a:rPr>
              <a:t>Multi-layer stacking involves multiple levels of base models, where the outputs of the first level of models are fed into a second level of base models and so on, before reaching the meta-model.</a:t>
            </a:r>
          </a:p>
          <a:p>
            <a:pPr algn="l" fontAlgn="base">
              <a:lnSpc>
                <a:spcPct val="170000"/>
              </a:lnSpc>
              <a:buFont typeface="Arial" panose="020B0604020202020204" pitchFamily="34" charset="0"/>
              <a:buChar char="•"/>
            </a:pPr>
            <a:r>
              <a:rPr lang="en-US" b="0" i="0" dirty="0">
                <a:solidFill>
                  <a:srgbClr val="273239"/>
                </a:solidFill>
                <a:effectLst/>
                <a:latin typeface="Nunito" pitchFamily="2" charset="0"/>
              </a:rPr>
              <a:t>This approach creates a more complex ensemble that can capture a wider variety of patterns in the data.</a:t>
            </a:r>
          </a:p>
          <a:p>
            <a:endParaRPr lang="en-US" dirty="0"/>
          </a:p>
        </p:txBody>
      </p:sp>
      <p:sp>
        <p:nvSpPr>
          <p:cNvPr id="4" name="Slide Number Placeholder 3">
            <a:extLst>
              <a:ext uri="{FF2B5EF4-FFF2-40B4-BE49-F238E27FC236}">
                <a16:creationId xmlns:a16="http://schemas.microsoft.com/office/drawing/2014/main" id="{76BBE433-03A6-4215-B1D2-55A67993EA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2758752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74"/>
          <p:cNvSpPr txBox="1"/>
          <p:nvPr/>
        </p:nvSpPr>
        <p:spPr>
          <a:xfrm>
            <a:off x="3130852" y="2591867"/>
            <a:ext cx="1538100" cy="444600"/>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400" b="0" i="0" u="none" strike="noStrike" cap="none">
                <a:solidFill>
                  <a:srgbClr val="000000"/>
                </a:solidFill>
                <a:latin typeface="Arial"/>
                <a:ea typeface="Arial"/>
                <a:cs typeface="Arial"/>
                <a:sym typeface="Arial"/>
              </a:rPr>
              <a:t>Forest of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5"/>
              </a:spcBef>
              <a:spcAft>
                <a:spcPts val="0"/>
              </a:spcAft>
              <a:buClr>
                <a:srgbClr val="000000"/>
              </a:buClr>
              <a:buSzPts val="1700"/>
              <a:buFont typeface="Arial"/>
              <a:buNone/>
            </a:pPr>
            <a:r>
              <a:rPr lang="en-US" sz="1400" b="0" i="0" u="none" strike="noStrike" cap="none">
                <a:solidFill>
                  <a:srgbClr val="000000"/>
                </a:solidFill>
                <a:latin typeface="Arial"/>
                <a:ea typeface="Arial"/>
                <a:cs typeface="Arial"/>
                <a:sym typeface="Arial"/>
              </a:rPr>
              <a:t>“Decision” trees</a:t>
            </a:r>
            <a:endParaRPr sz="1400" b="0" i="0" u="none" strike="noStrike" cap="none">
              <a:solidFill>
                <a:srgbClr val="000000"/>
              </a:solidFill>
              <a:latin typeface="Arial"/>
              <a:ea typeface="Arial"/>
              <a:cs typeface="Arial"/>
              <a:sym typeface="Arial"/>
            </a:endParaRPr>
          </a:p>
        </p:txBody>
      </p:sp>
      <p:sp>
        <p:nvSpPr>
          <p:cNvPr id="95" name="Google Shape;95;p74"/>
          <p:cNvSpPr txBox="1"/>
          <p:nvPr/>
        </p:nvSpPr>
        <p:spPr>
          <a:xfrm rot="-5400000">
            <a:off x="2317175" y="352950"/>
            <a:ext cx="966600" cy="3347700"/>
          </a:xfrm>
          <a:prstGeom prst="rect">
            <a:avLst/>
          </a:prstGeom>
          <a:noFill/>
          <a:ln>
            <a:noFill/>
          </a:ln>
        </p:spPr>
        <p:txBody>
          <a:bodyPr spcFirstLastPara="1" wrap="square" lIns="0" tIns="31750" rIns="0" bIns="0" anchor="t" anchorCtr="0">
            <a:spAutoFit/>
          </a:bodyPr>
          <a:lstStyle/>
          <a:p>
            <a:pPr marL="12700" marR="0" lvl="0" indent="0" algn="l" rtl="0">
              <a:lnSpc>
                <a:spcPct val="100000"/>
              </a:lnSpc>
              <a:spcBef>
                <a:spcPts val="0"/>
              </a:spcBef>
              <a:spcAft>
                <a:spcPts val="0"/>
              </a:spcAft>
              <a:buClr>
                <a:srgbClr val="000000"/>
              </a:buClr>
              <a:buSzPts val="8800"/>
              <a:buFont typeface="Arial"/>
              <a:buNone/>
            </a:pPr>
            <a:r>
              <a:rPr lang="en-US" sz="8800" b="0" i="0" u="none" strike="noStrike" cap="none">
                <a:solidFill>
                  <a:srgbClr val="000000"/>
                </a:solidFill>
                <a:latin typeface="Arial"/>
                <a:ea typeface="Arial"/>
                <a:cs typeface="Arial"/>
                <a:sym typeface="Arial"/>
              </a:rPr>
              <a:t>{</a:t>
            </a:r>
            <a:endParaRPr sz="8800" b="0" i="0" u="none" strike="noStrike" cap="none">
              <a:solidFill>
                <a:srgbClr val="000000"/>
              </a:solidFill>
              <a:latin typeface="Arial"/>
              <a:ea typeface="Arial"/>
              <a:cs typeface="Arial"/>
              <a:sym typeface="Arial"/>
            </a:endParaRPr>
          </a:p>
          <a:p>
            <a:pPr marL="12700" marR="0" lvl="0" indent="0" algn="l" rtl="0">
              <a:lnSpc>
                <a:spcPct val="100000"/>
              </a:lnSpc>
              <a:spcBef>
                <a:spcPts val="4730"/>
              </a:spcBef>
              <a:spcAft>
                <a:spcPts val="0"/>
              </a:spcAft>
              <a:buClr>
                <a:srgbClr val="000000"/>
              </a:buClr>
              <a:buSzPts val="8800"/>
              <a:buFont typeface="Arial"/>
              <a:buNone/>
            </a:pPr>
            <a:r>
              <a:rPr lang="en-US" sz="8800" b="0" i="0" u="none" strike="noStrike" cap="none">
                <a:solidFill>
                  <a:srgbClr val="000000"/>
                </a:solidFill>
                <a:latin typeface="Arial"/>
                <a:ea typeface="Arial"/>
                <a:cs typeface="Arial"/>
                <a:sym typeface="Arial"/>
              </a:rPr>
              <a:t>{</a:t>
            </a:r>
            <a:endParaRPr sz="8800" b="0" i="0" u="none" strike="noStrike" cap="none">
              <a:solidFill>
                <a:srgbClr val="000000"/>
              </a:solidFill>
              <a:latin typeface="Arial"/>
              <a:ea typeface="Arial"/>
              <a:cs typeface="Arial"/>
              <a:sym typeface="Arial"/>
            </a:endParaRPr>
          </a:p>
        </p:txBody>
      </p:sp>
      <p:sp>
        <p:nvSpPr>
          <p:cNvPr id="96" name="Google Shape;96;p74"/>
          <p:cNvSpPr txBox="1"/>
          <p:nvPr/>
        </p:nvSpPr>
        <p:spPr>
          <a:xfrm>
            <a:off x="1227072" y="2591867"/>
            <a:ext cx="1579200" cy="1090200"/>
          </a:xfrm>
          <a:prstGeom prst="rect">
            <a:avLst/>
          </a:prstGeom>
          <a:noFill/>
          <a:ln>
            <a:noFill/>
          </a:ln>
        </p:spPr>
        <p:txBody>
          <a:bodyPr spcFirstLastPara="1" wrap="square" lIns="0" tIns="12700" rIns="0" bIns="0" anchor="t" anchorCtr="0">
            <a:spAutoFit/>
          </a:bodyPr>
          <a:lstStyle/>
          <a:p>
            <a:pPr marL="12065" marR="5080" lvl="0" indent="-6350" algn="ctr" rtl="0">
              <a:lnSpc>
                <a:spcPct val="100000"/>
              </a:lnSpc>
              <a:spcBef>
                <a:spcPts val="0"/>
              </a:spcBef>
              <a:spcAft>
                <a:spcPts val="0"/>
              </a:spcAft>
              <a:buClr>
                <a:srgbClr val="000000"/>
              </a:buClr>
              <a:buSzPts val="1800"/>
              <a:buFont typeface="Arial"/>
              <a:buNone/>
            </a:pPr>
            <a:r>
              <a:rPr lang="en-US" sz="1400" b="0" i="0" u="none" strike="noStrike" cap="none">
                <a:solidFill>
                  <a:srgbClr val="000000"/>
                </a:solidFill>
                <a:latin typeface="Arial"/>
                <a:ea typeface="Arial"/>
                <a:cs typeface="Arial"/>
                <a:sym typeface="Arial"/>
              </a:rPr>
              <a:t>The subsets of  variables are  selected at  random to build  a decision tree</a:t>
            </a:r>
            <a:endParaRPr sz="1400" b="0" i="0" u="none" strike="noStrike" cap="none">
              <a:solidFill>
                <a:srgbClr val="000000"/>
              </a:solidFill>
              <a:latin typeface="Arial"/>
              <a:ea typeface="Arial"/>
              <a:cs typeface="Arial"/>
              <a:sym typeface="Arial"/>
            </a:endParaRPr>
          </a:p>
        </p:txBody>
      </p:sp>
      <p:sp>
        <p:nvSpPr>
          <p:cNvPr id="97" name="Google Shape;97;p74"/>
          <p:cNvSpPr txBox="1">
            <a:spLocks noGrp="1"/>
          </p:cNvSpPr>
          <p:nvPr>
            <p:ph type="title"/>
          </p:nvPr>
        </p:nvSpPr>
        <p:spPr>
          <a:xfrm>
            <a:off x="1040750" y="1204036"/>
            <a:ext cx="8520600" cy="6297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sz="4000"/>
              <a:t>Random Forest Classifier</a:t>
            </a:r>
            <a:endParaRPr sz="4000"/>
          </a:p>
        </p:txBody>
      </p:sp>
      <p:sp>
        <p:nvSpPr>
          <p:cNvPr id="98" name="Google Shape;98;p74"/>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15</a:t>
            </a:fld>
            <a:endParaRPr sz="1000" b="0">
              <a:solidFill>
                <a:schemeClr val="dk2"/>
              </a:solidFill>
              <a:latin typeface="Arial"/>
              <a:ea typeface="Arial"/>
              <a:cs typeface="Arial"/>
              <a:sym typeface="Arial"/>
            </a:endParaRPr>
          </a:p>
        </p:txBody>
      </p:sp>
      <p:sp>
        <p:nvSpPr>
          <p:cNvPr id="99" name="Google Shape;99;p74"/>
          <p:cNvSpPr txBox="1">
            <a:spLocks noGrp="1"/>
          </p:cNvSpPr>
          <p:nvPr>
            <p:ph type="body" idx="1"/>
          </p:nvPr>
        </p:nvSpPr>
        <p:spPr>
          <a:xfrm>
            <a:off x="311700" y="1153898"/>
            <a:ext cx="8520600" cy="3420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US"/>
              <a:t>		</a:t>
            </a:r>
            <a:endParaRPr/>
          </a:p>
          <a:p>
            <a:pPr marL="0" lvl="0" indent="0" algn="l" rtl="0">
              <a:lnSpc>
                <a:spcPct val="115000"/>
              </a:lnSpc>
              <a:spcBef>
                <a:spcPts val="0"/>
              </a:spcBef>
              <a:spcAft>
                <a:spcPts val="0"/>
              </a:spcAft>
              <a:buSzPts val="1100"/>
              <a:buNone/>
            </a:pPr>
            <a:endParaRPr/>
          </a:p>
          <a:p>
            <a:pPr marL="0" lvl="0" indent="0" algn="l" rtl="0">
              <a:lnSpc>
                <a:spcPct val="115000"/>
              </a:lnSpc>
              <a:spcBef>
                <a:spcPts val="0"/>
              </a:spcBef>
              <a:spcAft>
                <a:spcPts val="0"/>
              </a:spcAft>
              <a:buSzPts val="1100"/>
              <a:buNone/>
            </a:pPr>
            <a:endParaRPr/>
          </a:p>
          <a:p>
            <a:pPr marL="0" lvl="0" indent="0" algn="l" rtl="0">
              <a:lnSpc>
                <a:spcPct val="115000"/>
              </a:lnSpc>
              <a:spcBef>
                <a:spcPts val="0"/>
              </a:spcBef>
              <a:spcAft>
                <a:spcPts val="0"/>
              </a:spcAft>
              <a:buSzPts val="1100"/>
              <a:buNone/>
            </a:pPr>
            <a:endParaRPr/>
          </a:p>
          <a:p>
            <a:pPr marL="0" lvl="0" indent="0" algn="l" rtl="0">
              <a:lnSpc>
                <a:spcPct val="115000"/>
              </a:lnSpc>
              <a:spcBef>
                <a:spcPts val="0"/>
              </a:spcBef>
              <a:spcAft>
                <a:spcPts val="0"/>
              </a:spcAft>
              <a:buSzPts val="1100"/>
              <a:buNone/>
            </a:pPr>
            <a:endParaRPr/>
          </a:p>
          <a:p>
            <a:pPr marL="0" lvl="0" indent="0" algn="l" rtl="0">
              <a:lnSpc>
                <a:spcPct val="115000"/>
              </a:lnSpc>
              <a:spcBef>
                <a:spcPts val="0"/>
              </a:spcBef>
              <a:spcAft>
                <a:spcPts val="0"/>
              </a:spcAft>
              <a:buSzPts val="1100"/>
              <a:buNone/>
            </a:pPr>
            <a:r>
              <a:rPr lang="en-US"/>
              <a:t>			</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0894C-A46D-4E0D-8A7B-380314C597AE}"/>
              </a:ext>
            </a:extLst>
          </p:cNvPr>
          <p:cNvSpPr>
            <a:spLocks noGrp="1"/>
          </p:cNvSpPr>
          <p:nvPr>
            <p:ph type="title"/>
          </p:nvPr>
        </p:nvSpPr>
        <p:spPr/>
        <p:txBody>
          <a:bodyPr>
            <a:normAutofit fontScale="90000"/>
          </a:bodyPr>
          <a:lstStyle/>
          <a:p>
            <a:r>
              <a:rPr lang="en-US" b="1" i="0" dirty="0">
                <a:solidFill>
                  <a:srgbClr val="05192D"/>
                </a:solidFill>
                <a:effectLst/>
                <a:latin typeface="Studio-Feixen-Sans"/>
              </a:rPr>
              <a:t>Random Forest</a:t>
            </a:r>
            <a:br>
              <a:rPr lang="en-US" b="1" i="0" dirty="0">
                <a:solidFill>
                  <a:srgbClr val="05192D"/>
                </a:solidFill>
                <a:effectLst/>
                <a:latin typeface="Studio-Feixen-Sans"/>
              </a:rPr>
            </a:br>
            <a:endParaRPr lang="en-US" dirty="0"/>
          </a:p>
        </p:txBody>
      </p:sp>
      <p:sp>
        <p:nvSpPr>
          <p:cNvPr id="3" name="Text Placeholder 2">
            <a:extLst>
              <a:ext uri="{FF2B5EF4-FFF2-40B4-BE49-F238E27FC236}">
                <a16:creationId xmlns:a16="http://schemas.microsoft.com/office/drawing/2014/main" id="{6E9E8CFC-A24E-46D3-ACA6-F4A5D902D070}"/>
              </a:ext>
            </a:extLst>
          </p:cNvPr>
          <p:cNvSpPr>
            <a:spLocks noGrp="1"/>
          </p:cNvSpPr>
          <p:nvPr>
            <p:ph type="body" idx="1"/>
          </p:nvPr>
        </p:nvSpPr>
        <p:spPr/>
        <p:txBody>
          <a:bodyPr>
            <a:normAutofit fontScale="92500" lnSpcReduction="20000"/>
          </a:bodyPr>
          <a:lstStyle/>
          <a:p>
            <a:pPr algn="l"/>
            <a:r>
              <a:rPr lang="en-US" b="0" i="0" dirty="0">
                <a:solidFill>
                  <a:srgbClr val="05192D"/>
                </a:solidFill>
                <a:effectLst/>
                <a:latin typeface="Studio-Feixen-Sans"/>
              </a:rPr>
              <a:t>Random Forest is a commonly used model that can solve both classification and regression problems.</a:t>
            </a:r>
          </a:p>
          <a:p>
            <a:pPr algn="l"/>
            <a:r>
              <a:rPr lang="en-US" b="0" i="0" dirty="0">
                <a:solidFill>
                  <a:srgbClr val="05192D"/>
                </a:solidFill>
                <a:effectLst/>
                <a:latin typeface="Studio-Feixen-Sans"/>
              </a:rPr>
              <a:t> A random forest is made up of many decision trees that are trained using bagging. Its outcome is determined by taking the average of the prediction of individual trees. </a:t>
            </a:r>
          </a:p>
          <a:p>
            <a:pPr algn="l"/>
            <a:endParaRPr lang="en-US" b="0" i="0" dirty="0">
              <a:solidFill>
                <a:srgbClr val="05192D"/>
              </a:solidFill>
              <a:effectLst/>
              <a:latin typeface="Studio-Feixen-Sans"/>
            </a:endParaRPr>
          </a:p>
          <a:p>
            <a:pPr algn="l"/>
            <a:r>
              <a:rPr lang="en-US" b="0" i="0" dirty="0">
                <a:solidFill>
                  <a:srgbClr val="05192D"/>
                </a:solidFill>
                <a:effectLst/>
                <a:latin typeface="Studio-Feixen-Sans"/>
              </a:rPr>
              <a:t>The node size, the number of trees, and number of features sampled are the three main hyperparameters that need to be set before training the random forest. </a:t>
            </a:r>
          </a:p>
          <a:p>
            <a:pPr algn="l"/>
            <a:endParaRPr lang="en-US" b="0" i="0" dirty="0">
              <a:solidFill>
                <a:srgbClr val="05192D"/>
              </a:solidFill>
              <a:effectLst/>
              <a:latin typeface="Studio-Feixen-Sans"/>
            </a:endParaRPr>
          </a:p>
          <a:p>
            <a:pPr algn="ctr"/>
            <a:r>
              <a:rPr lang="en-US" b="1" i="0" dirty="0">
                <a:solidFill>
                  <a:srgbClr val="05192D"/>
                </a:solidFill>
                <a:effectLst/>
                <a:latin typeface="Studio-Feixen-Sans"/>
              </a:rPr>
              <a:t>What about randomness in a random forest?</a:t>
            </a:r>
            <a:endParaRPr lang="en-US" b="0" i="0" dirty="0">
              <a:solidFill>
                <a:srgbClr val="05192D"/>
              </a:solidFill>
              <a:effectLst/>
              <a:latin typeface="Studio-Feixen-Sans"/>
            </a:endParaRPr>
          </a:p>
          <a:p>
            <a:pPr algn="l"/>
            <a:r>
              <a:rPr lang="en-US" b="0" i="0" dirty="0">
                <a:solidFill>
                  <a:srgbClr val="05192D"/>
                </a:solidFill>
                <a:effectLst/>
                <a:latin typeface="Studio-Feixen-Sans"/>
              </a:rPr>
              <a:t>Feature bagging, also known as feature randomness, creates a random sample of features to ensure low correlation among decision trees. </a:t>
            </a:r>
          </a:p>
          <a:p>
            <a:pPr algn="l"/>
            <a:r>
              <a:rPr lang="en-US" b="0" i="0" dirty="0">
                <a:solidFill>
                  <a:srgbClr val="05192D"/>
                </a:solidFill>
                <a:effectLst/>
                <a:latin typeface="Studio-Feixen-Sans"/>
              </a:rPr>
              <a:t>This approach sets apart random forests from decision trees which consider all the possible feature splits, whereas random forests consider only a subset of those features.</a:t>
            </a:r>
          </a:p>
          <a:p>
            <a:endParaRPr lang="en-US" dirty="0"/>
          </a:p>
        </p:txBody>
      </p:sp>
      <p:sp>
        <p:nvSpPr>
          <p:cNvPr id="4" name="Slide Number Placeholder 3">
            <a:extLst>
              <a:ext uri="{FF2B5EF4-FFF2-40B4-BE49-F238E27FC236}">
                <a16:creationId xmlns:a16="http://schemas.microsoft.com/office/drawing/2014/main" id="{94D7D3D9-7618-45AC-8ABD-30C9F91294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3335474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A5308B-59D9-EBAC-13FE-8060EAE4022E}"/>
              </a:ext>
            </a:extLst>
          </p:cNvPr>
          <p:cNvSpPr>
            <a:spLocks noGrp="1"/>
          </p:cNvSpPr>
          <p:nvPr>
            <p:ph idx="1"/>
          </p:nvPr>
        </p:nvSpPr>
        <p:spPr/>
        <p:txBody>
          <a:bodyPr>
            <a:normAutofit/>
          </a:bodyPr>
          <a:lstStyle/>
          <a:p>
            <a:endParaRPr lang="en-US" dirty="0"/>
          </a:p>
          <a:p>
            <a:r>
              <a:rPr lang="en-US" dirty="0"/>
              <a:t>Random Forests can be regarded as ensemble learning with decision trees</a:t>
            </a:r>
          </a:p>
          <a:p>
            <a:pPr lvl="1"/>
            <a:r>
              <a:rPr lang="en-US" dirty="0"/>
              <a:t>Instead of building a single decision tree and use it to make predictions, build many slightly different trees </a:t>
            </a:r>
          </a:p>
          <a:p>
            <a:pPr lvl="1"/>
            <a:r>
              <a:rPr lang="en-US" dirty="0"/>
              <a:t>Combine their predictions using majority voting</a:t>
            </a:r>
          </a:p>
          <a:p>
            <a:r>
              <a:rPr lang="en-US" dirty="0"/>
              <a:t>The main two concepts behind random forests are:</a:t>
            </a:r>
          </a:p>
          <a:p>
            <a:pPr lvl="1"/>
            <a:r>
              <a:rPr lang="en-US" dirty="0"/>
              <a:t>The wisdom of the crowd — a large group of experts are collectively smarter than individual experts</a:t>
            </a:r>
          </a:p>
          <a:p>
            <a:pPr lvl="1"/>
            <a:r>
              <a:rPr lang="en-US" dirty="0"/>
              <a:t>Diversification — a set of uncorrelated tress</a:t>
            </a:r>
          </a:p>
          <a:p>
            <a:r>
              <a:rPr lang="en-US" dirty="0"/>
              <a:t>A supervised machine learning algorithm </a:t>
            </a:r>
          </a:p>
          <a:p>
            <a:pPr lvl="1"/>
            <a:r>
              <a:rPr lang="en-US" dirty="0"/>
              <a:t>Classification (predicts a discrete-valued output, i.e. a class) </a:t>
            </a:r>
          </a:p>
          <a:p>
            <a:pPr lvl="1"/>
            <a:r>
              <a:rPr lang="en-US" dirty="0"/>
              <a:t>Regression (predicts a continuous-valued output) tasks.</a:t>
            </a:r>
          </a:p>
          <a:p>
            <a:endParaRPr lang="en-US" dirty="0"/>
          </a:p>
        </p:txBody>
      </p:sp>
      <p:sp>
        <p:nvSpPr>
          <p:cNvPr id="2" name="Title 1">
            <a:extLst>
              <a:ext uri="{FF2B5EF4-FFF2-40B4-BE49-F238E27FC236}">
                <a16:creationId xmlns:a16="http://schemas.microsoft.com/office/drawing/2014/main" id="{15320A0E-BC07-89D0-4EDB-987B0F599761}"/>
              </a:ext>
            </a:extLst>
          </p:cNvPr>
          <p:cNvSpPr>
            <a:spLocks noGrp="1"/>
          </p:cNvSpPr>
          <p:nvPr>
            <p:ph type="title"/>
          </p:nvPr>
        </p:nvSpPr>
        <p:spPr/>
        <p:txBody>
          <a:bodyPr>
            <a:normAutofit fontScale="90000"/>
          </a:bodyPr>
          <a:lstStyle/>
          <a:p>
            <a:r>
              <a:rPr lang="en-US" dirty="0"/>
              <a:t>Introduction</a:t>
            </a:r>
          </a:p>
        </p:txBody>
      </p:sp>
    </p:spTree>
    <p:extLst>
      <p:ext uri="{BB962C8B-B14F-4D97-AF65-F5344CB8AC3E}">
        <p14:creationId xmlns:p14="http://schemas.microsoft.com/office/powerpoint/2010/main" val="3391759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75"/>
          <p:cNvSpPr txBox="1">
            <a:spLocks noGrp="1"/>
          </p:cNvSpPr>
          <p:nvPr>
            <p:ph type="title"/>
          </p:nvPr>
        </p:nvSpPr>
        <p:spPr>
          <a:xfrm>
            <a:off x="202550" y="289636"/>
            <a:ext cx="8520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Random Forest</a:t>
            </a:r>
            <a:endParaRPr sz="2800"/>
          </a:p>
        </p:txBody>
      </p:sp>
      <p:sp>
        <p:nvSpPr>
          <p:cNvPr id="105" name="Google Shape;105;p75"/>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18</a:t>
            </a:fld>
            <a:endParaRPr sz="1000" b="0">
              <a:solidFill>
                <a:schemeClr val="dk2"/>
              </a:solidFill>
              <a:latin typeface="Arial"/>
              <a:ea typeface="Arial"/>
              <a:cs typeface="Arial"/>
              <a:sym typeface="Arial"/>
            </a:endParaRPr>
          </a:p>
        </p:txBody>
      </p:sp>
      <p:sp>
        <p:nvSpPr>
          <p:cNvPr id="106" name="Google Shape;106;p75"/>
          <p:cNvSpPr txBox="1">
            <a:spLocks noGrp="1"/>
          </p:cNvSpPr>
          <p:nvPr>
            <p:ph type="body" idx="1"/>
          </p:nvPr>
        </p:nvSpPr>
        <p:spPr>
          <a:xfrm>
            <a:off x="202550" y="860689"/>
            <a:ext cx="8629800" cy="3711300"/>
          </a:xfrm>
          <a:prstGeom prst="rect">
            <a:avLst/>
          </a:prstGeom>
          <a:noFill/>
          <a:ln>
            <a:noFill/>
          </a:ln>
        </p:spPr>
        <p:txBody>
          <a:bodyPr spcFirstLastPara="1" wrap="square" lIns="91425" tIns="91425" rIns="91425" bIns="91425" anchor="t" anchorCtr="0">
            <a:noAutofit/>
          </a:bodyPr>
          <a:lstStyle/>
          <a:p>
            <a:pPr marL="341630" lvl="0" indent="-297815" algn="l" rtl="0">
              <a:lnSpc>
                <a:spcPct val="10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Random Forest consists of several independent decision trees that operate as an ensemble</a:t>
            </a:r>
            <a:endParaRPr>
              <a:solidFill>
                <a:schemeClr val="dk1"/>
              </a:solidFill>
              <a:latin typeface="Nunito Light"/>
              <a:ea typeface="Nunito Light"/>
              <a:cs typeface="Nunito Light"/>
              <a:sym typeface="Nunito Light"/>
            </a:endParaRPr>
          </a:p>
          <a:p>
            <a:pPr marL="0" lvl="0" indent="0" algn="l" rtl="0">
              <a:lnSpc>
                <a:spcPct val="100000"/>
              </a:lnSpc>
              <a:spcBef>
                <a:spcPts val="0"/>
              </a:spcBef>
              <a:spcAft>
                <a:spcPts val="0"/>
              </a:spcAft>
              <a:buSzPts val="1100"/>
              <a:buNone/>
            </a:pPr>
            <a:endParaRPr>
              <a:solidFill>
                <a:schemeClr val="dk1"/>
              </a:solidFill>
              <a:latin typeface="Nunito Light"/>
              <a:ea typeface="Nunito Light"/>
              <a:cs typeface="Nunito Light"/>
              <a:sym typeface="Nunito Light"/>
            </a:endParaRPr>
          </a:p>
          <a:p>
            <a:pPr marL="341630" lvl="0" indent="-297815" algn="l" rtl="0">
              <a:lnSpc>
                <a:spcPct val="100000"/>
              </a:lnSpc>
              <a:spcBef>
                <a:spcPts val="1125"/>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It is an ensemble learning algorithm based on bagging</a:t>
            </a:r>
            <a:endParaRPr>
              <a:solidFill>
                <a:schemeClr val="dk1"/>
              </a:solidFill>
              <a:latin typeface="Nunito Light"/>
              <a:ea typeface="Nunito Light"/>
              <a:cs typeface="Nunito Light"/>
              <a:sym typeface="Nunito Light"/>
            </a:endParaRPr>
          </a:p>
          <a:p>
            <a:pPr marL="0" lvl="0" indent="0" algn="l" rtl="0">
              <a:lnSpc>
                <a:spcPct val="100000"/>
              </a:lnSpc>
              <a:spcBef>
                <a:spcPts val="0"/>
              </a:spcBef>
              <a:spcAft>
                <a:spcPts val="0"/>
              </a:spcAft>
              <a:buSzPts val="1100"/>
              <a:buNone/>
            </a:pPr>
            <a:endParaRPr>
              <a:solidFill>
                <a:schemeClr val="dk1"/>
              </a:solidFill>
              <a:latin typeface="Nunito Light"/>
              <a:ea typeface="Nunito Light"/>
              <a:cs typeface="Nunito Light"/>
              <a:sym typeface="Nunito Light"/>
            </a:endParaRPr>
          </a:p>
          <a:p>
            <a:pPr marL="341630" lvl="0" indent="-297815" algn="l" rtl="0">
              <a:lnSpc>
                <a:spcPct val="100000"/>
              </a:lnSpc>
              <a:spcBef>
                <a:spcPts val="1125"/>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Train decision tree models on bootstrap samples where variables are selected at random. The aggregate output from these tree is considered as the final output</a:t>
            </a:r>
            <a:endParaRPr>
              <a:solidFill>
                <a:schemeClr val="dk1"/>
              </a:solidFill>
              <a:latin typeface="Nunito Light"/>
              <a:ea typeface="Nunito Light"/>
              <a:cs typeface="Nunito Light"/>
              <a:sym typeface="Nunito Light"/>
            </a:endParaRPr>
          </a:p>
          <a:p>
            <a:pPr marL="0" lvl="0" indent="0" algn="l" rtl="0">
              <a:lnSpc>
                <a:spcPct val="115000"/>
              </a:lnSpc>
              <a:spcBef>
                <a:spcPts val="0"/>
              </a:spcBef>
              <a:spcAft>
                <a:spcPts val="0"/>
              </a:spcAft>
              <a:buSzPts val="1100"/>
              <a:buNone/>
            </a:pPr>
            <a:endParaRPr>
              <a:latin typeface="Nunito Light"/>
              <a:ea typeface="Nunito Light"/>
              <a:cs typeface="Nunito Light"/>
              <a:sym typeface="Nunito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FBB25-7D88-4001-86B3-7434B841A1F7}"/>
              </a:ext>
            </a:extLst>
          </p:cNvPr>
          <p:cNvSpPr>
            <a:spLocks noGrp="1"/>
          </p:cNvSpPr>
          <p:nvPr>
            <p:ph type="title"/>
          </p:nvPr>
        </p:nvSpPr>
        <p:spPr/>
        <p:txBody>
          <a:bodyPr>
            <a:normAutofit fontScale="90000"/>
          </a:bodyPr>
          <a:lstStyle/>
          <a:p>
            <a:r>
              <a:rPr lang="en-US" b="1" i="0" dirty="0">
                <a:solidFill>
                  <a:srgbClr val="05192D"/>
                </a:solidFill>
                <a:effectLst/>
                <a:latin typeface="Studio-Feixen-Sans"/>
              </a:rPr>
              <a:t>Random Forest</a:t>
            </a:r>
            <a:br>
              <a:rPr lang="en-US" b="1" i="0" dirty="0">
                <a:solidFill>
                  <a:srgbClr val="05192D"/>
                </a:solidFill>
                <a:effectLst/>
                <a:latin typeface="Studio-Feixen-Sans"/>
              </a:rPr>
            </a:br>
            <a:endParaRPr lang="en-US" dirty="0"/>
          </a:p>
        </p:txBody>
      </p:sp>
      <p:sp>
        <p:nvSpPr>
          <p:cNvPr id="3" name="Text Placeholder 2">
            <a:extLst>
              <a:ext uri="{FF2B5EF4-FFF2-40B4-BE49-F238E27FC236}">
                <a16:creationId xmlns:a16="http://schemas.microsoft.com/office/drawing/2014/main" id="{D05F7EFC-C95F-41AA-AF12-BE2B64B56D81}"/>
              </a:ext>
            </a:extLst>
          </p:cNvPr>
          <p:cNvSpPr>
            <a:spLocks noGrp="1"/>
          </p:cNvSpPr>
          <p:nvPr>
            <p:ph type="body" idx="1"/>
          </p:nvPr>
        </p:nvSpPr>
        <p:spPr>
          <a:xfrm>
            <a:off x="311700" y="889516"/>
            <a:ext cx="8520600" cy="3420600"/>
          </a:xfrm>
        </p:spPr>
        <p:txBody>
          <a:bodyPr>
            <a:normAutofit/>
          </a:bodyPr>
          <a:lstStyle/>
          <a:p>
            <a:r>
              <a:rPr lang="en-US" sz="1400" b="0" i="0" dirty="0">
                <a:solidFill>
                  <a:srgbClr val="3C4043"/>
                </a:solidFill>
                <a:effectLst/>
                <a:latin typeface="Inter"/>
              </a:rPr>
              <a:t>Random Forest is a classifier that contains several decision trees on various subsets of the given dataset and takes the average to improve the predictive accuracy of that dataset.</a:t>
            </a:r>
          </a:p>
          <a:p>
            <a:r>
              <a:rPr lang="en-US" sz="1400" b="0" i="0" dirty="0">
                <a:solidFill>
                  <a:srgbClr val="3C4043"/>
                </a:solidFill>
                <a:effectLst/>
                <a:latin typeface="Inter"/>
              </a:rPr>
              <a:t> Instead of relying on one decision tree, the random forest takes the prediction from each tree and based on the majority votes of predictions, and it predicts the final output. </a:t>
            </a:r>
          </a:p>
          <a:p>
            <a:r>
              <a:rPr lang="en-US" sz="1400" b="0" i="0" dirty="0">
                <a:solidFill>
                  <a:srgbClr val="3C4043"/>
                </a:solidFill>
                <a:effectLst/>
                <a:latin typeface="Inter"/>
              </a:rPr>
              <a:t>The greater number of trees in the forest leads to higher accuracy and prevents the problem of overfitting.</a:t>
            </a:r>
            <a:endParaRPr lang="en-US" sz="1400" dirty="0"/>
          </a:p>
        </p:txBody>
      </p:sp>
      <p:sp>
        <p:nvSpPr>
          <p:cNvPr id="4" name="Slide Number Placeholder 3">
            <a:extLst>
              <a:ext uri="{FF2B5EF4-FFF2-40B4-BE49-F238E27FC236}">
                <a16:creationId xmlns:a16="http://schemas.microsoft.com/office/drawing/2014/main" id="{5A78998D-E62B-4BF3-A728-284EAE8FE7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5" name="Picture 4">
            <a:extLst>
              <a:ext uri="{FF2B5EF4-FFF2-40B4-BE49-F238E27FC236}">
                <a16:creationId xmlns:a16="http://schemas.microsoft.com/office/drawing/2014/main" id="{C39ABBD5-7B9D-40CE-B3CC-F9A8449AD5C8}"/>
              </a:ext>
            </a:extLst>
          </p:cNvPr>
          <p:cNvPicPr>
            <a:picLocks noChangeAspect="1"/>
          </p:cNvPicPr>
          <p:nvPr/>
        </p:nvPicPr>
        <p:blipFill>
          <a:blip r:embed="rId2"/>
          <a:stretch>
            <a:fillRect/>
          </a:stretch>
        </p:blipFill>
        <p:spPr>
          <a:xfrm>
            <a:off x="2859058" y="2339024"/>
            <a:ext cx="4705350" cy="2724150"/>
          </a:xfrm>
          <a:prstGeom prst="rect">
            <a:avLst/>
          </a:prstGeom>
        </p:spPr>
      </p:pic>
    </p:spTree>
    <p:extLst>
      <p:ext uri="{BB962C8B-B14F-4D97-AF65-F5344CB8AC3E}">
        <p14:creationId xmlns:p14="http://schemas.microsoft.com/office/powerpoint/2010/main" val="3035447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70C6F-BC4C-4A71-9857-6C5CC52A17DA}"/>
              </a:ext>
            </a:extLst>
          </p:cNvPr>
          <p:cNvSpPr>
            <a:spLocks noGrp="1"/>
          </p:cNvSpPr>
          <p:nvPr>
            <p:ph type="title"/>
          </p:nvPr>
        </p:nvSpPr>
        <p:spPr/>
        <p:txBody>
          <a:bodyPr>
            <a:normAutofit fontScale="90000"/>
          </a:bodyPr>
          <a:lstStyle/>
          <a:p>
            <a:r>
              <a:rPr lang="en-US" b="1" i="0" dirty="0">
                <a:solidFill>
                  <a:srgbClr val="05192D"/>
                </a:solidFill>
                <a:effectLst/>
                <a:latin typeface="Studio-Feixen-Sans"/>
              </a:rPr>
              <a:t>Random Forest</a:t>
            </a:r>
            <a:br>
              <a:rPr lang="en-US" b="1" i="0" dirty="0">
                <a:solidFill>
                  <a:srgbClr val="05192D"/>
                </a:solidFill>
                <a:effectLst/>
                <a:latin typeface="Studio-Feixen-Sans"/>
              </a:rPr>
            </a:br>
            <a:endParaRPr lang="en-US" dirty="0"/>
          </a:p>
        </p:txBody>
      </p:sp>
      <p:sp>
        <p:nvSpPr>
          <p:cNvPr id="3" name="Text Placeholder 2">
            <a:extLst>
              <a:ext uri="{FF2B5EF4-FFF2-40B4-BE49-F238E27FC236}">
                <a16:creationId xmlns:a16="http://schemas.microsoft.com/office/drawing/2014/main" id="{CAACD8D0-32ED-453B-8E77-40BD5E30FBF1}"/>
              </a:ext>
            </a:extLst>
          </p:cNvPr>
          <p:cNvSpPr>
            <a:spLocks noGrp="1"/>
          </p:cNvSpPr>
          <p:nvPr>
            <p:ph type="body" idx="1"/>
          </p:nvPr>
        </p:nvSpPr>
        <p:spPr/>
        <p:txBody>
          <a:bodyPr/>
          <a:lstStyle/>
          <a:p>
            <a:pPr algn="l" fontAlgn="base"/>
            <a:r>
              <a:rPr lang="en-US" b="0" i="0" dirty="0">
                <a:solidFill>
                  <a:srgbClr val="202214"/>
                </a:solidFill>
                <a:effectLst/>
                <a:latin typeface="Inter"/>
              </a:rPr>
              <a:t>Steps involved in random forest algorithm:</a:t>
            </a:r>
          </a:p>
          <a:p>
            <a:pPr algn="l" fontAlgn="base">
              <a:buFont typeface="Arial" panose="020B0604020202020204" pitchFamily="34" charset="0"/>
              <a:buChar char="•"/>
            </a:pPr>
            <a:r>
              <a:rPr lang="en-US" b="0" i="0" dirty="0">
                <a:solidFill>
                  <a:srgbClr val="3C4043"/>
                </a:solidFill>
                <a:effectLst/>
                <a:latin typeface="inherit"/>
              </a:rPr>
              <a:t>Step 1: In Random forest n number of random records are taken from the data set having k number of records.</a:t>
            </a:r>
          </a:p>
          <a:p>
            <a:pPr algn="l" fontAlgn="base">
              <a:buFont typeface="Arial" panose="020B0604020202020204" pitchFamily="34" charset="0"/>
              <a:buChar char="•"/>
            </a:pPr>
            <a:r>
              <a:rPr lang="en-US" b="0" i="0" dirty="0">
                <a:solidFill>
                  <a:srgbClr val="3C4043"/>
                </a:solidFill>
                <a:effectLst/>
                <a:latin typeface="inherit"/>
              </a:rPr>
              <a:t>Step 2: Individual decision trees are constructed for each sample.</a:t>
            </a:r>
          </a:p>
          <a:p>
            <a:pPr algn="l" fontAlgn="base">
              <a:buFont typeface="Arial" panose="020B0604020202020204" pitchFamily="34" charset="0"/>
              <a:buChar char="•"/>
            </a:pPr>
            <a:r>
              <a:rPr lang="en-US" b="0" i="0" dirty="0">
                <a:solidFill>
                  <a:srgbClr val="3C4043"/>
                </a:solidFill>
                <a:effectLst/>
                <a:latin typeface="inherit"/>
              </a:rPr>
              <a:t>Step 3: Each decision tree will generate an output.</a:t>
            </a:r>
          </a:p>
          <a:p>
            <a:pPr algn="l" fontAlgn="base">
              <a:buFont typeface="Arial" panose="020B0604020202020204" pitchFamily="34" charset="0"/>
              <a:buChar char="•"/>
            </a:pPr>
            <a:r>
              <a:rPr lang="en-US" b="0" i="0" dirty="0">
                <a:solidFill>
                  <a:srgbClr val="3C4043"/>
                </a:solidFill>
                <a:effectLst/>
                <a:latin typeface="inherit"/>
              </a:rPr>
              <a:t>Step 4: Final output is considered based on Majority Voting or Averaging for Classification and regression respectively.</a:t>
            </a:r>
          </a:p>
          <a:p>
            <a:endParaRPr lang="en-US" dirty="0"/>
          </a:p>
        </p:txBody>
      </p:sp>
      <p:sp>
        <p:nvSpPr>
          <p:cNvPr id="4" name="Slide Number Placeholder 3">
            <a:extLst>
              <a:ext uri="{FF2B5EF4-FFF2-40B4-BE49-F238E27FC236}">
                <a16:creationId xmlns:a16="http://schemas.microsoft.com/office/drawing/2014/main" id="{9908D97E-3654-4C71-9A2C-970CB1A8CB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pic>
        <p:nvPicPr>
          <p:cNvPr id="1026" name="Picture 2">
            <a:extLst>
              <a:ext uri="{FF2B5EF4-FFF2-40B4-BE49-F238E27FC236}">
                <a16:creationId xmlns:a16="http://schemas.microsoft.com/office/drawing/2014/main" id="{257F42F5-FCC3-4B29-98E8-E6FA576234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2577" y="3269283"/>
            <a:ext cx="2604227" cy="1971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302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2DA8-EAF7-4C84-B6D3-EE8671AEF66A}"/>
              </a:ext>
            </a:extLst>
          </p:cNvPr>
          <p:cNvSpPr>
            <a:spLocks noGrp="1"/>
          </p:cNvSpPr>
          <p:nvPr>
            <p:ph type="title"/>
          </p:nvPr>
        </p:nvSpPr>
        <p:spPr/>
        <p:txBody>
          <a:bodyPr>
            <a:normAutofit fontScale="90000"/>
          </a:bodyPr>
          <a:lstStyle/>
          <a:p>
            <a:r>
              <a:rPr lang="en-US" b="1" i="0" dirty="0">
                <a:solidFill>
                  <a:srgbClr val="05192D"/>
                </a:solidFill>
                <a:effectLst/>
                <a:latin typeface="Studio-Feixen-Sans"/>
              </a:rPr>
              <a:t>When to Use Random Forests (and When Not To)</a:t>
            </a:r>
            <a:br>
              <a:rPr lang="en-US" b="1" i="0" dirty="0">
                <a:solidFill>
                  <a:srgbClr val="05192D"/>
                </a:solidFill>
                <a:effectLst/>
                <a:latin typeface="Studio-Feixen-Sans"/>
              </a:rPr>
            </a:br>
            <a:endParaRPr lang="en-US" dirty="0"/>
          </a:p>
        </p:txBody>
      </p:sp>
      <p:sp>
        <p:nvSpPr>
          <p:cNvPr id="3" name="Text Placeholder 2">
            <a:extLst>
              <a:ext uri="{FF2B5EF4-FFF2-40B4-BE49-F238E27FC236}">
                <a16:creationId xmlns:a16="http://schemas.microsoft.com/office/drawing/2014/main" id="{E5CA24A2-9C1A-4B8B-938F-E8E767FE0D5B}"/>
              </a:ext>
            </a:extLst>
          </p:cNvPr>
          <p:cNvSpPr>
            <a:spLocks noGrp="1"/>
          </p:cNvSpPr>
          <p:nvPr>
            <p:ph type="body" idx="1"/>
          </p:nvPr>
        </p:nvSpPr>
        <p:spPr/>
        <p:txBody>
          <a:bodyPr>
            <a:normAutofit fontScale="77500" lnSpcReduction="20000"/>
          </a:bodyPr>
          <a:lstStyle/>
          <a:p>
            <a:pPr algn="l"/>
            <a:r>
              <a:rPr lang="en-US" b="0" i="0" dirty="0">
                <a:solidFill>
                  <a:srgbClr val="05192D"/>
                </a:solidFill>
                <a:effectLst/>
                <a:latin typeface="Studio-Feixen-Sans"/>
              </a:rPr>
              <a:t>Random Forests are a great choice when you need a </a:t>
            </a:r>
            <a:r>
              <a:rPr lang="en-US" b="1" i="0" dirty="0">
                <a:solidFill>
                  <a:srgbClr val="05192D"/>
                </a:solidFill>
                <a:effectLst/>
                <a:latin typeface="Studio-Feixen-Sans"/>
              </a:rPr>
              <a:t>strong baseline model</a:t>
            </a:r>
            <a:r>
              <a:rPr lang="en-US" b="0" i="0" dirty="0">
                <a:solidFill>
                  <a:srgbClr val="05192D"/>
                </a:solidFill>
                <a:effectLst/>
                <a:latin typeface="Studio-Feixen-Sans"/>
              </a:rPr>
              <a:t> that works well out of the box. They handle both numerical and categorical features, manage missing values gracefully, and are less prone to overfitting than single decision trees.</a:t>
            </a:r>
          </a:p>
          <a:p>
            <a:pPr algn="l"/>
            <a:endParaRPr lang="en-US" b="0" i="0" dirty="0">
              <a:solidFill>
                <a:srgbClr val="05192D"/>
              </a:solidFill>
              <a:effectLst/>
              <a:latin typeface="Studio-Feixen-Sans"/>
            </a:endParaRPr>
          </a:p>
          <a:p>
            <a:pPr algn="l"/>
            <a:r>
              <a:rPr lang="en-US" b="0" i="0" dirty="0">
                <a:solidFill>
                  <a:srgbClr val="05192D"/>
                </a:solidFill>
                <a:effectLst/>
                <a:latin typeface="Studio-Feixen-Sans"/>
              </a:rPr>
              <a:t>Use Random Forests when:</a:t>
            </a:r>
          </a:p>
          <a:p>
            <a:pPr algn="l">
              <a:buFont typeface="Arial" panose="020B0604020202020204" pitchFamily="34" charset="0"/>
              <a:buChar char="•"/>
            </a:pPr>
            <a:r>
              <a:rPr lang="en-US" b="0" i="0" dirty="0">
                <a:solidFill>
                  <a:srgbClr val="05192D"/>
                </a:solidFill>
                <a:effectLst/>
                <a:latin typeface="Studio-Feixen-Sans"/>
              </a:rPr>
              <a:t>You have </a:t>
            </a:r>
            <a:r>
              <a:rPr lang="en-US" b="1" i="0" dirty="0">
                <a:solidFill>
                  <a:srgbClr val="05192D"/>
                </a:solidFill>
                <a:effectLst/>
                <a:latin typeface="Studio-Feixen-Sans"/>
              </a:rPr>
              <a:t>tabular data</a:t>
            </a:r>
            <a:r>
              <a:rPr lang="en-US" b="0" i="0" dirty="0">
                <a:solidFill>
                  <a:srgbClr val="05192D"/>
                </a:solidFill>
                <a:effectLst/>
                <a:latin typeface="Studio-Feixen-Sans"/>
              </a:rPr>
              <a:t> with mixed feature types</a:t>
            </a:r>
          </a:p>
          <a:p>
            <a:pPr algn="l">
              <a:buFont typeface="Arial" panose="020B0604020202020204" pitchFamily="34" charset="0"/>
              <a:buChar char="•"/>
            </a:pPr>
            <a:r>
              <a:rPr lang="en-US" b="0" i="0" dirty="0">
                <a:solidFill>
                  <a:srgbClr val="05192D"/>
                </a:solidFill>
                <a:effectLst/>
                <a:latin typeface="Studio-Feixen-Sans"/>
              </a:rPr>
              <a:t>You want a </a:t>
            </a:r>
            <a:r>
              <a:rPr lang="en-US" b="1" i="0" dirty="0">
                <a:solidFill>
                  <a:srgbClr val="05192D"/>
                </a:solidFill>
                <a:effectLst/>
                <a:latin typeface="Studio-Feixen-Sans"/>
              </a:rPr>
              <a:t>robust model</a:t>
            </a:r>
            <a:r>
              <a:rPr lang="en-US" b="0" i="0" dirty="0">
                <a:solidFill>
                  <a:srgbClr val="05192D"/>
                </a:solidFill>
                <a:effectLst/>
                <a:latin typeface="Studio-Feixen-Sans"/>
              </a:rPr>
              <a:t> without heavy feature scaling or preprocessing</a:t>
            </a:r>
          </a:p>
          <a:p>
            <a:pPr algn="l">
              <a:buFont typeface="Arial" panose="020B0604020202020204" pitchFamily="34" charset="0"/>
              <a:buChar char="•"/>
            </a:pPr>
            <a:r>
              <a:rPr lang="en-US" b="1" i="0" dirty="0">
                <a:solidFill>
                  <a:srgbClr val="05192D"/>
                </a:solidFill>
                <a:effectLst/>
                <a:latin typeface="Studio-Feixen-Sans"/>
              </a:rPr>
              <a:t>Interpretability</a:t>
            </a:r>
            <a:r>
              <a:rPr lang="en-US" b="0" i="0" dirty="0">
                <a:solidFill>
                  <a:srgbClr val="05192D"/>
                </a:solidFill>
                <a:effectLst/>
                <a:latin typeface="Studio-Feixen-Sans"/>
              </a:rPr>
              <a:t> (via feature importance) matters for your application</a:t>
            </a:r>
          </a:p>
          <a:p>
            <a:pPr algn="l">
              <a:buFont typeface="Arial" panose="020B0604020202020204" pitchFamily="34" charset="0"/>
              <a:buChar char="•"/>
            </a:pPr>
            <a:endParaRPr lang="en-US" dirty="0">
              <a:solidFill>
                <a:srgbClr val="05192D"/>
              </a:solidFill>
              <a:latin typeface="Studio-Feixen-Sans"/>
            </a:endParaRPr>
          </a:p>
          <a:p>
            <a:pPr algn="l">
              <a:buFont typeface="Arial" panose="020B0604020202020204" pitchFamily="34" charset="0"/>
              <a:buChar char="•"/>
            </a:pPr>
            <a:endParaRPr lang="en-US" b="0" i="0" dirty="0">
              <a:solidFill>
                <a:srgbClr val="05192D"/>
              </a:solidFill>
              <a:effectLst/>
              <a:latin typeface="Studio-Feixen-Sans"/>
            </a:endParaRPr>
          </a:p>
          <a:p>
            <a:pPr algn="l"/>
            <a:r>
              <a:rPr lang="en-US" b="0" i="0" dirty="0">
                <a:solidFill>
                  <a:srgbClr val="05192D"/>
                </a:solidFill>
                <a:effectLst/>
                <a:latin typeface="Studio-Feixen-Sans"/>
              </a:rPr>
              <a:t>However, Random Forests may not be ideal when:</a:t>
            </a:r>
          </a:p>
          <a:p>
            <a:pPr algn="l">
              <a:buFont typeface="Arial" panose="020B0604020202020204" pitchFamily="34" charset="0"/>
              <a:buChar char="•"/>
            </a:pPr>
            <a:r>
              <a:rPr lang="en-US" b="0" i="0" dirty="0">
                <a:solidFill>
                  <a:srgbClr val="05192D"/>
                </a:solidFill>
                <a:effectLst/>
                <a:latin typeface="Studio-Feixen-Sans"/>
              </a:rPr>
              <a:t>You need </a:t>
            </a:r>
            <a:r>
              <a:rPr lang="en-US" b="1" i="0" dirty="0">
                <a:solidFill>
                  <a:srgbClr val="05192D"/>
                </a:solidFill>
                <a:effectLst/>
                <a:latin typeface="Studio-Feixen-Sans"/>
              </a:rPr>
              <a:t>real-time predictions;</a:t>
            </a:r>
            <a:r>
              <a:rPr lang="en-US" b="0" i="0" dirty="0">
                <a:solidFill>
                  <a:srgbClr val="05192D"/>
                </a:solidFill>
                <a:effectLst/>
                <a:latin typeface="Studio-Feixen-Sans"/>
              </a:rPr>
              <a:t> they can be slower than single models</a:t>
            </a:r>
          </a:p>
          <a:p>
            <a:pPr algn="l">
              <a:buFont typeface="Arial" panose="020B0604020202020204" pitchFamily="34" charset="0"/>
              <a:buChar char="•"/>
            </a:pPr>
            <a:r>
              <a:rPr lang="en-US" b="0" i="0" dirty="0">
                <a:solidFill>
                  <a:srgbClr val="05192D"/>
                </a:solidFill>
                <a:effectLst/>
                <a:latin typeface="Studio-Feixen-Sans"/>
              </a:rPr>
              <a:t>You’re dealing with </a:t>
            </a:r>
            <a:r>
              <a:rPr lang="en-US" b="1" i="0" dirty="0">
                <a:solidFill>
                  <a:srgbClr val="05192D"/>
                </a:solidFill>
                <a:effectLst/>
                <a:latin typeface="Studio-Feixen-Sans"/>
              </a:rPr>
              <a:t>very high-dimensional data</a:t>
            </a:r>
            <a:r>
              <a:rPr lang="en-US" b="0" i="0" dirty="0">
                <a:solidFill>
                  <a:srgbClr val="05192D"/>
                </a:solidFill>
                <a:effectLst/>
                <a:latin typeface="Studio-Feixen-Sans"/>
              </a:rPr>
              <a:t> (e.g., text or images)</a:t>
            </a:r>
          </a:p>
          <a:p>
            <a:pPr algn="l">
              <a:buFont typeface="Arial" panose="020B0604020202020204" pitchFamily="34" charset="0"/>
              <a:buChar char="•"/>
            </a:pPr>
            <a:r>
              <a:rPr lang="en-US" b="0" i="0" dirty="0">
                <a:solidFill>
                  <a:srgbClr val="05192D"/>
                </a:solidFill>
                <a:effectLst/>
                <a:latin typeface="Studio-Feixen-Sans"/>
              </a:rPr>
              <a:t>You want </a:t>
            </a:r>
            <a:r>
              <a:rPr lang="en-US" b="1" i="0" dirty="0">
                <a:solidFill>
                  <a:srgbClr val="05192D"/>
                </a:solidFill>
                <a:effectLst/>
                <a:latin typeface="Studio-Feixen-Sans"/>
              </a:rPr>
              <a:t>state-of-the-art accuracy</a:t>
            </a:r>
            <a:r>
              <a:rPr lang="en-US" b="0" i="0" dirty="0">
                <a:solidFill>
                  <a:srgbClr val="05192D"/>
                </a:solidFill>
                <a:effectLst/>
                <a:latin typeface="Studio-Feixen-Sans"/>
              </a:rPr>
              <a:t> on structured data, where </a:t>
            </a:r>
            <a:r>
              <a:rPr lang="en-US" b="1" i="0" dirty="0">
                <a:solidFill>
                  <a:srgbClr val="05192D"/>
                </a:solidFill>
                <a:effectLst/>
                <a:latin typeface="Studio-Feixen-Sans"/>
              </a:rPr>
              <a:t>gradient boosting methods</a:t>
            </a:r>
            <a:r>
              <a:rPr lang="en-US" b="0" i="0" dirty="0">
                <a:solidFill>
                  <a:srgbClr val="05192D"/>
                </a:solidFill>
                <a:effectLst/>
                <a:latin typeface="Studio-Feixen-Sans"/>
              </a:rPr>
              <a:t> like </a:t>
            </a:r>
            <a:r>
              <a:rPr lang="en-US" b="1" i="0" u="none" strike="noStrike" dirty="0">
                <a:solidFill>
                  <a:srgbClr val="0075AD"/>
                </a:solidFill>
                <a:effectLst/>
                <a:latin typeface="Studio-Feixen-Sans"/>
                <a:hlinkClick r:id="rId2"/>
              </a:rPr>
              <a:t>XGBoost</a:t>
            </a:r>
            <a:r>
              <a:rPr lang="en-US" b="0" i="0" dirty="0">
                <a:solidFill>
                  <a:srgbClr val="05192D"/>
                </a:solidFill>
                <a:effectLst/>
                <a:latin typeface="Studio-Feixen-Sans"/>
              </a:rPr>
              <a:t> or </a:t>
            </a:r>
            <a:r>
              <a:rPr lang="en-US" b="0" i="0" dirty="0" err="1">
                <a:solidFill>
                  <a:srgbClr val="05192D"/>
                </a:solidFill>
                <a:effectLst/>
                <a:latin typeface="Studio-Feixen-Sans"/>
              </a:rPr>
              <a:t>LightGBM</a:t>
            </a:r>
            <a:r>
              <a:rPr lang="en-US" b="0" i="0" dirty="0">
                <a:solidFill>
                  <a:srgbClr val="05192D"/>
                </a:solidFill>
                <a:effectLst/>
                <a:latin typeface="Studio-Feixen-Sans"/>
              </a:rPr>
              <a:t> often outperform them</a:t>
            </a:r>
          </a:p>
          <a:p>
            <a:endParaRPr lang="en-US" dirty="0"/>
          </a:p>
        </p:txBody>
      </p:sp>
      <p:sp>
        <p:nvSpPr>
          <p:cNvPr id="4" name="Slide Number Placeholder 3">
            <a:extLst>
              <a:ext uri="{FF2B5EF4-FFF2-40B4-BE49-F238E27FC236}">
                <a16:creationId xmlns:a16="http://schemas.microsoft.com/office/drawing/2014/main" id="{DDF23A99-0E2F-4DF6-8ED0-E1A0546FFF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4010186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921" y="550419"/>
            <a:ext cx="8272212" cy="446288"/>
          </a:xfrm>
        </p:spPr>
        <p:txBody>
          <a:bodyPr anchor="b">
            <a:normAutofit fontScale="90000"/>
          </a:bodyPr>
          <a:lstStyle/>
          <a:p>
            <a:r>
              <a:rPr lang="en-US" dirty="0"/>
              <a:t>Random Forests Algorithm </a:t>
            </a:r>
          </a:p>
        </p:txBody>
      </p:sp>
      <p:graphicFrame>
        <p:nvGraphicFramePr>
          <p:cNvPr id="7" name="Content Placeholder 2">
            <a:extLst>
              <a:ext uri="{FF2B5EF4-FFF2-40B4-BE49-F238E27FC236}">
                <a16:creationId xmlns:a16="http://schemas.microsoft.com/office/drawing/2014/main" id="{A526C64C-CC75-321E-0C6A-B51844003D20}"/>
              </a:ext>
            </a:extLst>
          </p:cNvPr>
          <p:cNvGraphicFramePr>
            <a:graphicFrameLocks noGrp="1"/>
          </p:cNvGraphicFramePr>
          <p:nvPr>
            <p:ph idx="1"/>
          </p:nvPr>
        </p:nvGraphicFramePr>
        <p:xfrm>
          <a:off x="435895" y="1638548"/>
          <a:ext cx="8272211" cy="27587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4281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004291-4629-4858-7590-4063D688C54A}"/>
              </a:ext>
            </a:extLst>
          </p:cNvPr>
          <p:cNvSpPr>
            <a:spLocks noGrp="1"/>
          </p:cNvSpPr>
          <p:nvPr>
            <p:ph idx="1"/>
          </p:nvPr>
        </p:nvSpPr>
        <p:spPr/>
        <p:txBody>
          <a:bodyPr>
            <a:normAutofit lnSpcReduction="10000"/>
          </a:bodyPr>
          <a:lstStyle/>
          <a:p>
            <a:r>
              <a:rPr lang="en-US" dirty="0"/>
              <a:t>Accurate predictions</a:t>
            </a:r>
          </a:p>
          <a:p>
            <a:pPr lvl="1"/>
            <a:r>
              <a:rPr lang="en-US" dirty="0"/>
              <a:t>Standard decision trees often have high variance and low bias</a:t>
            </a:r>
            <a:br>
              <a:rPr lang="en-US" dirty="0"/>
            </a:br>
            <a:r>
              <a:rPr lang="en-US" dirty="0"/>
              <a:t>High chance of overfitting (with ‘deep trees’, many nodes)</a:t>
            </a:r>
          </a:p>
          <a:p>
            <a:pPr lvl="1"/>
            <a:r>
              <a:rPr lang="en-US" dirty="0"/>
              <a:t>With a Random Forest, the bias remains low and the variance is reduced</a:t>
            </a:r>
            <a:br>
              <a:rPr lang="en-US" dirty="0"/>
            </a:br>
            <a:r>
              <a:rPr lang="en-US" dirty="0"/>
              <a:t>thus we decrease the chances of overfitting</a:t>
            </a:r>
          </a:p>
          <a:p>
            <a:pPr lvl="1"/>
            <a:endParaRPr lang="en-US" dirty="0"/>
          </a:p>
          <a:p>
            <a:r>
              <a:rPr lang="en-US" dirty="0"/>
              <a:t>Flexible</a:t>
            </a:r>
          </a:p>
          <a:p>
            <a:pPr lvl="1"/>
            <a:r>
              <a:rPr lang="en-US" dirty="0"/>
              <a:t>Can be used with many features</a:t>
            </a:r>
          </a:p>
          <a:p>
            <a:pPr lvl="1"/>
            <a:r>
              <a:rPr lang="en-US" dirty="0"/>
              <a:t>Can be used for classification but also for regression</a:t>
            </a:r>
          </a:p>
          <a:p>
            <a:pPr lvl="1"/>
            <a:endParaRPr lang="en-US" dirty="0"/>
          </a:p>
          <a:p>
            <a:r>
              <a:rPr lang="en-US" dirty="0"/>
              <a:t>Disadvantages:</a:t>
            </a:r>
          </a:p>
          <a:p>
            <a:pPr lvl="1"/>
            <a:r>
              <a:rPr lang="en-US" sz="1200" dirty="0"/>
              <a:t>When the number of variables is large, but the fraction of relevant variables is small, random forests are likely to perform poorly when </a:t>
            </a:r>
            <a:r>
              <a:rPr lang="en-US" sz="1200" i="1" dirty="0"/>
              <a:t>m </a:t>
            </a:r>
            <a:r>
              <a:rPr lang="en-US" sz="1200" dirty="0"/>
              <a:t>is small </a:t>
            </a:r>
          </a:p>
          <a:p>
            <a:pPr marL="243000" lvl="1" indent="0">
              <a:buNone/>
            </a:pPr>
            <a:endParaRPr lang="en-US" dirty="0"/>
          </a:p>
        </p:txBody>
      </p:sp>
      <p:sp>
        <p:nvSpPr>
          <p:cNvPr id="3" name="Title 2">
            <a:extLst>
              <a:ext uri="{FF2B5EF4-FFF2-40B4-BE49-F238E27FC236}">
                <a16:creationId xmlns:a16="http://schemas.microsoft.com/office/drawing/2014/main" id="{7F75EF54-0F87-5F5B-E70B-56DE890D74C9}"/>
              </a:ext>
            </a:extLst>
          </p:cNvPr>
          <p:cNvSpPr>
            <a:spLocks noGrp="1"/>
          </p:cNvSpPr>
          <p:nvPr>
            <p:ph type="title"/>
          </p:nvPr>
        </p:nvSpPr>
        <p:spPr/>
        <p:txBody>
          <a:bodyPr>
            <a:normAutofit fontScale="90000"/>
          </a:bodyPr>
          <a:lstStyle/>
          <a:p>
            <a:r>
              <a:rPr lang="en-US" dirty="0"/>
              <a:t>Why a Random Forest?</a:t>
            </a:r>
          </a:p>
        </p:txBody>
      </p:sp>
    </p:spTree>
    <p:extLst>
      <p:ext uri="{BB962C8B-B14F-4D97-AF65-F5344CB8AC3E}">
        <p14:creationId xmlns:p14="http://schemas.microsoft.com/office/powerpoint/2010/main" val="2569363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249a9029d07_0_35"/>
          <p:cNvSpPr txBox="1">
            <a:spLocks noGrp="1"/>
          </p:cNvSpPr>
          <p:nvPr>
            <p:ph type="title"/>
          </p:nvPr>
        </p:nvSpPr>
        <p:spPr>
          <a:xfrm>
            <a:off x="202550" y="289636"/>
            <a:ext cx="8520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Aggregation</a:t>
            </a:r>
            <a:endParaRPr sz="2800"/>
          </a:p>
        </p:txBody>
      </p:sp>
      <p:sp>
        <p:nvSpPr>
          <p:cNvPr id="148" name="Google Shape;148;g249a9029d07_0_35"/>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24</a:t>
            </a:fld>
            <a:endParaRPr sz="1000" b="0">
              <a:solidFill>
                <a:schemeClr val="dk2"/>
              </a:solidFill>
              <a:latin typeface="Arial"/>
              <a:ea typeface="Arial"/>
              <a:cs typeface="Arial"/>
              <a:sym typeface="Arial"/>
            </a:endParaRPr>
          </a:p>
        </p:txBody>
      </p:sp>
      <p:sp>
        <p:nvSpPr>
          <p:cNvPr id="149" name="Google Shape;149;g249a9029d07_0_35"/>
          <p:cNvSpPr txBox="1">
            <a:spLocks noGrp="1"/>
          </p:cNvSpPr>
          <p:nvPr>
            <p:ph type="body" idx="1"/>
          </p:nvPr>
        </p:nvSpPr>
        <p:spPr>
          <a:xfrm>
            <a:off x="202550" y="860689"/>
            <a:ext cx="8629800" cy="37113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Model predictions undergo aggregation to combine them for the final prediction to consider all the possible outcomes.</a:t>
            </a:r>
            <a:endParaRPr>
              <a:solidFill>
                <a:schemeClr val="dk1"/>
              </a:solidFill>
              <a:latin typeface="Nunito Light"/>
              <a:ea typeface="Nunito Light"/>
              <a:cs typeface="Nunito Light"/>
              <a:sym typeface="Nunito Light"/>
            </a:endParaRPr>
          </a:p>
          <a:p>
            <a:pPr marL="457200" lvl="0" indent="0" algn="l" rtl="0">
              <a:lnSpc>
                <a:spcPct val="100000"/>
              </a:lnSpc>
              <a:spcBef>
                <a:spcPts val="0"/>
              </a:spcBef>
              <a:spcAft>
                <a:spcPts val="0"/>
              </a:spcAft>
              <a:buClr>
                <a:schemeClr val="dk1"/>
              </a:buClr>
              <a:buSzPts val="1700"/>
              <a:buFont typeface="Arial"/>
              <a:buNone/>
            </a:pPr>
            <a:r>
              <a:rPr lang="en-US">
                <a:solidFill>
                  <a:schemeClr val="dk1"/>
                </a:solidFill>
                <a:latin typeface="Nunito Light"/>
                <a:ea typeface="Nunito Light"/>
                <a:cs typeface="Nunito Light"/>
                <a:sym typeface="Nunito Light"/>
              </a:rPr>
              <a:t> </a:t>
            </a:r>
            <a:endParaRPr>
              <a:solidFill>
                <a:schemeClr val="dk1"/>
              </a:solidFill>
              <a:latin typeface="Nunito Light"/>
              <a:ea typeface="Nunito Light"/>
              <a:cs typeface="Nunito Light"/>
              <a:sym typeface="Nunito Light"/>
            </a:endParaRPr>
          </a:p>
          <a:p>
            <a:pPr marL="457200" lvl="0" indent="-298450" algn="l" rtl="0">
              <a:lnSpc>
                <a:spcPct val="10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The aggregation can be done based on the total number of outcomes or the probability of predictions derived from the bootstrapping of every model in the procedure.</a:t>
            </a:r>
            <a:endParaRPr>
              <a:latin typeface="Nunito Light"/>
              <a:ea typeface="Nunito Light"/>
              <a:cs typeface="Nunito Light"/>
              <a:sym typeface="Nunito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8"/>
          <p:cNvSpPr txBox="1">
            <a:spLocks noGrp="1"/>
          </p:cNvSpPr>
          <p:nvPr>
            <p:ph type="title"/>
          </p:nvPr>
        </p:nvSpPr>
        <p:spPr>
          <a:xfrm>
            <a:off x="202550" y="289636"/>
            <a:ext cx="8520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Steps for prediction using random forest</a:t>
            </a:r>
            <a:endParaRPr sz="2800"/>
          </a:p>
        </p:txBody>
      </p:sp>
      <p:sp>
        <p:nvSpPr>
          <p:cNvPr id="155" name="Google Shape;155;p78"/>
          <p:cNvSpPr/>
          <p:nvPr/>
        </p:nvSpPr>
        <p:spPr>
          <a:xfrm>
            <a:off x="1790869" y="1208727"/>
            <a:ext cx="5129298" cy="306435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6" name="Google Shape;156;p78"/>
          <p:cNvSpPr txBox="1"/>
          <p:nvPr/>
        </p:nvSpPr>
        <p:spPr>
          <a:xfrm>
            <a:off x="306575" y="4425200"/>
            <a:ext cx="8416800" cy="350100"/>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100" b="0" i="0" u="none" strike="noStrike" cap="none">
                <a:solidFill>
                  <a:srgbClr val="24AAE1"/>
                </a:solidFill>
                <a:latin typeface="Nunito Light"/>
                <a:ea typeface="Nunito Light"/>
                <a:cs typeface="Nunito Light"/>
                <a:sym typeface="Nunito Light"/>
              </a:rPr>
              <a:t>For classification, the final prediction considers the mode of the predicted labels and for regression, it</a:t>
            </a:r>
            <a:r>
              <a:rPr lang="en-US" sz="1100" b="0" i="0" u="none" strike="noStrike" cap="none">
                <a:solidFill>
                  <a:srgbClr val="000000"/>
                </a:solidFill>
                <a:latin typeface="Nunito Light"/>
                <a:ea typeface="Nunito Light"/>
                <a:cs typeface="Nunito Light"/>
                <a:sym typeface="Nunito Light"/>
              </a:rPr>
              <a:t> </a:t>
            </a:r>
            <a:r>
              <a:rPr lang="en-US" sz="1100" b="0" i="0" u="none" strike="noStrike" cap="none">
                <a:solidFill>
                  <a:srgbClr val="24AAE1"/>
                </a:solidFill>
                <a:latin typeface="Nunito Light"/>
                <a:ea typeface="Nunito Light"/>
                <a:cs typeface="Nunito Light"/>
                <a:sym typeface="Nunito Light"/>
              </a:rPr>
              <a:t>considers the average of the predicted values.</a:t>
            </a:r>
            <a:endParaRPr sz="1100" b="0" i="0" u="none" strike="noStrike" cap="none">
              <a:solidFill>
                <a:srgbClr val="000000"/>
              </a:solidFill>
              <a:latin typeface="Nunito Light"/>
              <a:ea typeface="Nunito Light"/>
              <a:cs typeface="Nunito Light"/>
              <a:sym typeface="Nunito Light"/>
            </a:endParaRPr>
          </a:p>
        </p:txBody>
      </p:sp>
      <p:sp>
        <p:nvSpPr>
          <p:cNvPr id="157" name="Google Shape;157;p78"/>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25</a:t>
            </a:fld>
            <a:endParaRPr sz="1000" b="0">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80"/>
          <p:cNvSpPr txBox="1">
            <a:spLocks noGrp="1"/>
          </p:cNvSpPr>
          <p:nvPr>
            <p:ph type="title"/>
          </p:nvPr>
        </p:nvSpPr>
        <p:spPr>
          <a:xfrm>
            <a:off x="202550" y="289636"/>
            <a:ext cx="8520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Feature importance in random forest</a:t>
            </a:r>
            <a:endParaRPr sz="2800"/>
          </a:p>
        </p:txBody>
      </p:sp>
      <p:sp>
        <p:nvSpPr>
          <p:cNvPr id="171" name="Google Shape;171;p80"/>
          <p:cNvSpPr txBox="1">
            <a:spLocks noGrp="1"/>
          </p:cNvSpPr>
          <p:nvPr>
            <p:ph type="body" idx="1"/>
          </p:nvPr>
        </p:nvSpPr>
        <p:spPr>
          <a:xfrm>
            <a:off x="202550" y="863039"/>
            <a:ext cx="8629800" cy="2148019"/>
          </a:xfrm>
          <a:prstGeom prst="rect">
            <a:avLst/>
          </a:prstGeom>
          <a:noFill/>
          <a:ln>
            <a:noFill/>
          </a:ln>
        </p:spPr>
        <p:txBody>
          <a:bodyPr spcFirstLastPara="1" wrap="square" lIns="0" tIns="49525" rIns="0" bIns="0" anchor="t" anchorCtr="0">
            <a:spAutoFit/>
          </a:bodyPr>
          <a:lstStyle/>
          <a:p>
            <a:pPr marL="361950" lvl="0" indent="-297815" algn="l" rtl="0">
              <a:lnSpc>
                <a:spcPct val="100000"/>
              </a:lnSpc>
              <a:spcBef>
                <a:spcPts val="0"/>
              </a:spcBef>
              <a:spcAft>
                <a:spcPts val="0"/>
              </a:spcAft>
              <a:buClr>
                <a:schemeClr val="dk1"/>
              </a:buClr>
              <a:buSzPts val="1100"/>
              <a:buFont typeface="Nunito Light"/>
              <a:buChar char="●"/>
            </a:pPr>
            <a:r>
              <a:rPr lang="en-US" dirty="0">
                <a:latin typeface="Nunito Light"/>
                <a:ea typeface="Nunito Light"/>
                <a:cs typeface="Nunito Light"/>
                <a:sym typeface="Nunito Light"/>
              </a:rPr>
              <a:t>A technique that assigns a score to independent features based on its importance in predicting the target variable</a:t>
            </a:r>
            <a:endParaRPr dirty="0">
              <a:latin typeface="Nunito Light"/>
              <a:ea typeface="Nunito Light"/>
              <a:cs typeface="Nunito Light"/>
              <a:sym typeface="Nunito Light"/>
            </a:endParaRPr>
          </a:p>
          <a:p>
            <a:pPr marL="361950" lvl="0" indent="-297815" algn="l" rtl="0">
              <a:lnSpc>
                <a:spcPct val="100000"/>
              </a:lnSpc>
              <a:spcBef>
                <a:spcPts val="1125"/>
              </a:spcBef>
              <a:spcAft>
                <a:spcPts val="0"/>
              </a:spcAft>
              <a:buClr>
                <a:schemeClr val="dk1"/>
              </a:buClr>
              <a:buSzPts val="1100"/>
              <a:buFont typeface="Nunito Light"/>
              <a:buChar char="●"/>
            </a:pPr>
            <a:r>
              <a:rPr lang="en-US" dirty="0">
                <a:latin typeface="Nunito Light"/>
                <a:ea typeface="Nunito Light"/>
                <a:cs typeface="Nunito Light"/>
                <a:sym typeface="Nunito Light"/>
              </a:rPr>
              <a:t>These scores indicates the relative importance of the features</a:t>
            </a:r>
            <a:endParaRPr dirty="0">
              <a:latin typeface="Nunito Light"/>
              <a:ea typeface="Nunito Light"/>
              <a:cs typeface="Nunito Light"/>
              <a:sym typeface="Nunito Light"/>
            </a:endParaRPr>
          </a:p>
          <a:p>
            <a:pPr marL="361950" lvl="0" indent="-297815" algn="l" rtl="0">
              <a:lnSpc>
                <a:spcPct val="100000"/>
              </a:lnSpc>
              <a:spcBef>
                <a:spcPts val="1125"/>
              </a:spcBef>
              <a:spcAft>
                <a:spcPts val="0"/>
              </a:spcAft>
              <a:buClr>
                <a:schemeClr val="dk1"/>
              </a:buClr>
              <a:buSzPts val="1100"/>
              <a:buFont typeface="Nunito Light"/>
              <a:buChar char="●"/>
            </a:pPr>
            <a:r>
              <a:rPr lang="en-US" dirty="0">
                <a:latin typeface="Nunito Light"/>
                <a:ea typeface="Nunito Light"/>
                <a:cs typeface="Nunito Light"/>
                <a:sym typeface="Nunito Light"/>
              </a:rPr>
              <a:t>Two techniques that are used to find the feature importance in random forest:</a:t>
            </a:r>
            <a:endParaRPr dirty="0">
              <a:latin typeface="Nunito Light"/>
              <a:ea typeface="Nunito Light"/>
              <a:cs typeface="Nunito Light"/>
              <a:sym typeface="Nunito Light"/>
            </a:endParaRPr>
          </a:p>
          <a:p>
            <a:pPr marL="20320" lvl="0" indent="0" algn="l" rtl="0">
              <a:lnSpc>
                <a:spcPct val="100000"/>
              </a:lnSpc>
              <a:spcBef>
                <a:spcPts val="0"/>
              </a:spcBef>
              <a:spcAft>
                <a:spcPts val="0"/>
              </a:spcAft>
              <a:buClr>
                <a:schemeClr val="dk1"/>
              </a:buClr>
              <a:buSzPts val="1550"/>
              <a:buFont typeface="Arial"/>
              <a:buNone/>
            </a:pPr>
            <a:endParaRPr dirty="0">
              <a:latin typeface="Nunito Light"/>
              <a:ea typeface="Nunito Light"/>
              <a:cs typeface="Nunito Light"/>
              <a:sym typeface="Nunito Light"/>
            </a:endParaRPr>
          </a:p>
          <a:p>
            <a:pPr marL="819150" lvl="1" indent="-298450" algn="l" rtl="0">
              <a:lnSpc>
                <a:spcPct val="100000"/>
              </a:lnSpc>
              <a:spcBef>
                <a:spcPts val="5"/>
              </a:spcBef>
              <a:spcAft>
                <a:spcPts val="0"/>
              </a:spcAft>
              <a:buSzPts val="1100"/>
              <a:buFont typeface="Nunito Light"/>
              <a:buChar char="○"/>
            </a:pPr>
            <a:r>
              <a:rPr lang="en-US" dirty="0">
                <a:latin typeface="Nunito Light"/>
                <a:ea typeface="Nunito Light"/>
                <a:cs typeface="Nunito Light"/>
                <a:sym typeface="Nunito Light"/>
              </a:rPr>
              <a:t>Gini importance</a:t>
            </a:r>
            <a:endParaRPr dirty="0">
              <a:latin typeface="Nunito Light"/>
              <a:ea typeface="Nunito Light"/>
              <a:cs typeface="Nunito Light"/>
              <a:sym typeface="Nunito Light"/>
            </a:endParaRPr>
          </a:p>
          <a:p>
            <a:pPr marL="819150" lvl="1" indent="-298450" algn="l" rtl="0">
              <a:lnSpc>
                <a:spcPct val="100000"/>
              </a:lnSpc>
              <a:spcBef>
                <a:spcPts val="0"/>
              </a:spcBef>
              <a:spcAft>
                <a:spcPts val="0"/>
              </a:spcAft>
              <a:buSzPts val="1100"/>
              <a:buFont typeface="Nunito Light"/>
              <a:buChar char="○"/>
            </a:pPr>
            <a:r>
              <a:rPr lang="en-US" dirty="0">
                <a:latin typeface="Nunito Light"/>
                <a:ea typeface="Nunito Light"/>
                <a:cs typeface="Nunito Light"/>
                <a:sym typeface="Nunito Light"/>
              </a:rPr>
              <a:t>Mean decrease in accuracy</a:t>
            </a:r>
            <a:endParaRPr dirty="0">
              <a:latin typeface="Nunito Light"/>
              <a:ea typeface="Nunito Light"/>
              <a:cs typeface="Nunito Light"/>
              <a:sym typeface="Nunito Light"/>
            </a:endParaRPr>
          </a:p>
        </p:txBody>
      </p:sp>
      <p:sp>
        <p:nvSpPr>
          <p:cNvPr id="172" name="Google Shape;172;p80"/>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26</a:t>
            </a:fld>
            <a:endParaRPr sz="1000" b="0">
              <a:solidFill>
                <a:schemeClr val="dk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81"/>
          <p:cNvSpPr txBox="1">
            <a:spLocks noGrp="1"/>
          </p:cNvSpPr>
          <p:nvPr>
            <p:ph type="title"/>
          </p:nvPr>
        </p:nvSpPr>
        <p:spPr>
          <a:xfrm>
            <a:off x="202550" y="289636"/>
            <a:ext cx="8520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Gini importance</a:t>
            </a:r>
            <a:endParaRPr sz="2800"/>
          </a:p>
        </p:txBody>
      </p:sp>
      <p:sp>
        <p:nvSpPr>
          <p:cNvPr id="178" name="Google Shape;178;p81"/>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27</a:t>
            </a:fld>
            <a:endParaRPr sz="1000" b="0">
              <a:solidFill>
                <a:schemeClr val="dk2"/>
              </a:solidFill>
              <a:latin typeface="Arial"/>
              <a:ea typeface="Arial"/>
              <a:cs typeface="Arial"/>
              <a:sym typeface="Arial"/>
            </a:endParaRPr>
          </a:p>
        </p:txBody>
      </p:sp>
      <p:sp>
        <p:nvSpPr>
          <p:cNvPr id="179" name="Google Shape;179;p81"/>
          <p:cNvSpPr txBox="1">
            <a:spLocks noGrp="1"/>
          </p:cNvSpPr>
          <p:nvPr>
            <p:ph type="body" idx="1"/>
          </p:nvPr>
        </p:nvSpPr>
        <p:spPr>
          <a:xfrm>
            <a:off x="202550" y="799839"/>
            <a:ext cx="8629800" cy="3711300"/>
          </a:xfrm>
          <a:prstGeom prst="rect">
            <a:avLst/>
          </a:prstGeom>
          <a:noFill/>
          <a:ln>
            <a:noFill/>
          </a:ln>
        </p:spPr>
        <p:txBody>
          <a:bodyPr spcFirstLastPara="1" wrap="square" lIns="91425" tIns="91425" rIns="91425" bIns="91425" anchor="t" anchorCtr="0">
            <a:noAutofit/>
          </a:bodyPr>
          <a:lstStyle/>
          <a:p>
            <a:pPr marL="341630" lvl="0" indent="-297815" algn="l" rtl="0">
              <a:lnSpc>
                <a:spcPct val="10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Also known as mean decrease impurity</a:t>
            </a:r>
            <a:endParaRPr>
              <a:solidFill>
                <a:schemeClr val="dk1"/>
              </a:solidFill>
              <a:latin typeface="Nunito Light"/>
              <a:ea typeface="Nunito Light"/>
              <a:cs typeface="Nunito Light"/>
              <a:sym typeface="Nunito Light"/>
            </a:endParaRPr>
          </a:p>
          <a:p>
            <a:pPr marL="341630" lvl="0" indent="-297815" algn="l" rtl="0">
              <a:lnSpc>
                <a:spcPct val="100000"/>
              </a:lnSpc>
              <a:spcBef>
                <a:spcPts val="149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It is the average total decrease in the node impurity weighted by the probability of reaching it</a:t>
            </a:r>
            <a:endParaRPr>
              <a:solidFill>
                <a:schemeClr val="dk1"/>
              </a:solidFill>
              <a:latin typeface="Nunito Light"/>
              <a:ea typeface="Nunito Light"/>
              <a:cs typeface="Nunito Light"/>
              <a:sym typeface="Nunito Light"/>
            </a:endParaRPr>
          </a:p>
          <a:p>
            <a:pPr marL="341630" lvl="0" indent="-297815" algn="l" rtl="0">
              <a:lnSpc>
                <a:spcPct val="100000"/>
              </a:lnSpc>
              <a:spcBef>
                <a:spcPts val="1515"/>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The average is taken over all the trees in the random forest</a:t>
            </a:r>
            <a:endParaRPr>
              <a:solidFill>
                <a:schemeClr val="dk1"/>
              </a:solidFill>
              <a:latin typeface="Nunito Light"/>
              <a:ea typeface="Nunito Light"/>
              <a:cs typeface="Nunito Light"/>
              <a:sym typeface="Nunito Light"/>
            </a:endParaRPr>
          </a:p>
          <a:p>
            <a:pPr marL="341630" lvl="0" indent="-297815" algn="l" rtl="0">
              <a:lnSpc>
                <a:spcPct val="100000"/>
              </a:lnSpc>
              <a:spcBef>
                <a:spcPts val="149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The sklearn library in python considers this measure</a:t>
            </a:r>
            <a:endParaRPr>
              <a:solidFill>
                <a:schemeClr val="dk1"/>
              </a:solidFill>
              <a:latin typeface="Nunito Light"/>
              <a:ea typeface="Nunito Light"/>
              <a:cs typeface="Nunito Light"/>
              <a:sym typeface="Nunito Light"/>
            </a:endParaRPr>
          </a:p>
          <a:p>
            <a:pPr marL="341630" lvl="0" indent="-297815" algn="l" rtl="0">
              <a:lnSpc>
                <a:spcPct val="100000"/>
              </a:lnSpc>
              <a:spcBef>
                <a:spcPts val="1515"/>
              </a:spcBef>
              <a:spcAft>
                <a:spcPts val="0"/>
              </a:spcAft>
              <a:buClr>
                <a:schemeClr val="dk1"/>
              </a:buClr>
              <a:buSzPts val="1100"/>
              <a:buFont typeface="Nunito Light"/>
              <a:buChar char="●"/>
            </a:pPr>
            <a:r>
              <a:rPr lang="en-US">
                <a:solidFill>
                  <a:srgbClr val="24AAE1"/>
                </a:solidFill>
                <a:latin typeface="Nunito Light"/>
                <a:ea typeface="Nunito Light"/>
                <a:cs typeface="Nunito Light"/>
                <a:sym typeface="Nunito Light"/>
              </a:rPr>
              <a:t>‘rf_model.feature_importances_’ </a:t>
            </a:r>
            <a:r>
              <a:rPr lang="en-US">
                <a:solidFill>
                  <a:schemeClr val="dk1"/>
                </a:solidFill>
                <a:latin typeface="Nunito Light"/>
                <a:ea typeface="Nunito Light"/>
                <a:cs typeface="Nunito Light"/>
                <a:sym typeface="Nunito Light"/>
              </a:rPr>
              <a:t>returns the feature importance for each variable</a:t>
            </a:r>
            <a:endParaRPr>
              <a:solidFill>
                <a:schemeClr val="dk1"/>
              </a:solidFill>
              <a:latin typeface="Nunito Light"/>
              <a:ea typeface="Nunito Light"/>
              <a:cs typeface="Nunito Light"/>
              <a:sym typeface="Nunito Light"/>
            </a:endParaRPr>
          </a:p>
          <a:p>
            <a:pPr marL="0" lvl="0" indent="0" algn="l" rtl="0">
              <a:lnSpc>
                <a:spcPct val="115000"/>
              </a:lnSpc>
              <a:spcBef>
                <a:spcPts val="0"/>
              </a:spcBef>
              <a:spcAft>
                <a:spcPts val="0"/>
              </a:spcAft>
              <a:buSzPts val="1100"/>
              <a:buNone/>
            </a:pPr>
            <a:endParaRPr>
              <a:solidFill>
                <a:srgbClr val="000000"/>
              </a:solidFill>
              <a:latin typeface="Nunito Light"/>
              <a:ea typeface="Nunito Light"/>
              <a:cs typeface="Nunito Light"/>
              <a:sym typeface="Nunito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82"/>
          <p:cNvSpPr txBox="1">
            <a:spLocks noGrp="1"/>
          </p:cNvSpPr>
          <p:nvPr>
            <p:ph type="title"/>
          </p:nvPr>
        </p:nvSpPr>
        <p:spPr>
          <a:xfrm>
            <a:off x="202550" y="289636"/>
            <a:ext cx="8520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Mean decrease in accuracy</a:t>
            </a:r>
            <a:endParaRPr sz="2800"/>
          </a:p>
        </p:txBody>
      </p:sp>
      <p:sp>
        <p:nvSpPr>
          <p:cNvPr id="185" name="Google Shape;185;p82"/>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28</a:t>
            </a:fld>
            <a:endParaRPr sz="1000" b="0">
              <a:solidFill>
                <a:schemeClr val="dk2"/>
              </a:solidFill>
              <a:latin typeface="Arial"/>
              <a:ea typeface="Arial"/>
              <a:cs typeface="Arial"/>
              <a:sym typeface="Arial"/>
            </a:endParaRPr>
          </a:p>
        </p:txBody>
      </p:sp>
      <p:sp>
        <p:nvSpPr>
          <p:cNvPr id="186" name="Google Shape;186;p82"/>
          <p:cNvSpPr txBox="1">
            <a:spLocks noGrp="1"/>
          </p:cNvSpPr>
          <p:nvPr>
            <p:ph type="body" idx="1"/>
          </p:nvPr>
        </p:nvSpPr>
        <p:spPr>
          <a:xfrm>
            <a:off x="93350" y="619389"/>
            <a:ext cx="8629800" cy="3711300"/>
          </a:xfrm>
          <a:prstGeom prst="rect">
            <a:avLst/>
          </a:prstGeom>
          <a:noFill/>
          <a:ln>
            <a:noFill/>
          </a:ln>
        </p:spPr>
        <p:txBody>
          <a:bodyPr spcFirstLastPara="1" wrap="square" lIns="91425" tIns="91425" rIns="91425" bIns="91425" anchor="t" anchorCtr="0">
            <a:noAutofit/>
          </a:bodyPr>
          <a:lstStyle/>
          <a:p>
            <a:r>
              <a:rPr lang="en-US" sz="1600" dirty="0"/>
              <a:t>In machine learning, </a:t>
            </a:r>
            <a:r>
              <a:rPr lang="en-US" sz="1600" b="1" dirty="0"/>
              <a:t>feature selection</a:t>
            </a:r>
            <a:r>
              <a:rPr lang="en-US" sz="1600" dirty="0"/>
              <a:t> means finding which input variables are most useful for making predictions. </a:t>
            </a:r>
          </a:p>
          <a:p>
            <a:r>
              <a:rPr lang="en-US" sz="1600" dirty="0"/>
              <a:t>When a Random Forest model is trained, it builds many decision trees using different samples of the data. For each tree, some data points are left out; these are called </a:t>
            </a:r>
            <a:r>
              <a:rPr lang="en-US" sz="1600" b="1" dirty="0"/>
              <a:t>out-of-bag (OOB)</a:t>
            </a:r>
            <a:r>
              <a:rPr lang="en-US" sz="1600" dirty="0"/>
              <a:t> samples and are used to estimate prediction error.</a:t>
            </a:r>
          </a:p>
          <a:p>
            <a:r>
              <a:rPr lang="en-US" sz="1600" dirty="0">
                <a:highlight>
                  <a:srgbClr val="FFFF00"/>
                </a:highlight>
              </a:rPr>
              <a:t>To measure how important a feature is</a:t>
            </a:r>
            <a:r>
              <a:rPr lang="en-US" sz="1600" dirty="0"/>
              <a:t>:</a:t>
            </a:r>
          </a:p>
          <a:p>
            <a:pPr>
              <a:buFont typeface="+mj-lt"/>
              <a:buAutoNum type="arabicPeriod"/>
            </a:pPr>
            <a:r>
              <a:rPr lang="en-US" sz="1600" dirty="0"/>
              <a:t>The model first calculates the OOB error normally.</a:t>
            </a:r>
          </a:p>
          <a:p>
            <a:pPr>
              <a:buFont typeface="+mj-lt"/>
              <a:buAutoNum type="arabicPeriod"/>
            </a:pPr>
            <a:r>
              <a:rPr lang="en-US" sz="1600" dirty="0"/>
              <a:t>Then, the values of one feature are </a:t>
            </a:r>
            <a:r>
              <a:rPr lang="en-US" sz="1600" b="1" dirty="0"/>
              <a:t>shuffled (permuted)</a:t>
            </a:r>
            <a:r>
              <a:rPr lang="en-US" sz="1600" dirty="0"/>
              <a:t> randomly.</a:t>
            </a:r>
          </a:p>
          <a:p>
            <a:pPr>
              <a:buFont typeface="+mj-lt"/>
              <a:buAutoNum type="arabicPeriod"/>
            </a:pPr>
            <a:r>
              <a:rPr lang="en-US" sz="1600" dirty="0"/>
              <a:t>The OOB error is calculated again.</a:t>
            </a:r>
          </a:p>
          <a:p>
            <a:pPr>
              <a:buFont typeface="+mj-lt"/>
              <a:buAutoNum type="arabicPeriod"/>
            </a:pPr>
            <a:r>
              <a:rPr lang="en-US" sz="1600" dirty="0"/>
              <a:t>If the error increases a lot, that feature is important.</a:t>
            </a:r>
          </a:p>
          <a:p>
            <a:pPr>
              <a:buFont typeface="+mj-lt"/>
              <a:buAutoNum type="arabicPeriod"/>
            </a:pPr>
            <a:r>
              <a:rPr lang="en-US" sz="1600" dirty="0"/>
              <a:t>If the error barely changes, the feature is less useful.</a:t>
            </a:r>
          </a:p>
          <a:p>
            <a:r>
              <a:rPr lang="en-US" sz="1600" dirty="0"/>
              <a:t>Features that cause a </a:t>
            </a:r>
            <a:r>
              <a:rPr lang="en-US" sz="1600" b="1" dirty="0"/>
              <a:t>large increase in error</a:t>
            </a:r>
            <a:r>
              <a:rPr lang="en-US" sz="1600" dirty="0"/>
              <a:t> after permutation are ranked as </a:t>
            </a:r>
            <a:r>
              <a:rPr lang="en-US" sz="1600" b="1" dirty="0"/>
              <a:t>more important</a:t>
            </a:r>
            <a:r>
              <a:rPr lang="en-US" sz="1600" dirty="0"/>
              <a:t>. We can keep these important features and remove the less useful ones to build a simpler and better </a:t>
            </a:r>
            <a:r>
              <a:rPr lang="en-US" sz="1600" dirty="0" err="1"/>
              <a:t>model.</a:t>
            </a:r>
            <a:r>
              <a:rPr lang="en-US" sz="1600" dirty="0" err="1">
                <a:solidFill>
                  <a:schemeClr val="dk1"/>
                </a:solidFill>
                <a:highlight>
                  <a:srgbClr val="FFFF00"/>
                </a:highlight>
                <a:latin typeface="Nunito Light"/>
                <a:ea typeface="Nunito Light"/>
                <a:cs typeface="Nunito Light"/>
                <a:sym typeface="Nunito Light"/>
              </a:rPr>
              <a:t>Application</a:t>
            </a:r>
            <a:r>
              <a:rPr lang="en-US" sz="1600" dirty="0">
                <a:solidFill>
                  <a:schemeClr val="dk1"/>
                </a:solidFill>
                <a:highlight>
                  <a:srgbClr val="FFFF00"/>
                </a:highlight>
                <a:latin typeface="Nunito Light"/>
                <a:ea typeface="Nunito Light"/>
                <a:cs typeface="Nunito Light"/>
                <a:sym typeface="Nunito Light"/>
              </a:rPr>
              <a:t>: </a:t>
            </a:r>
            <a:r>
              <a:rPr lang="en-US" sz="1600" dirty="0">
                <a:solidFill>
                  <a:schemeClr val="dk1"/>
                </a:solidFill>
                <a:latin typeface="Nunito Light"/>
                <a:ea typeface="Nunito Light"/>
                <a:cs typeface="Nunito Light"/>
                <a:sym typeface="Nunito Light"/>
              </a:rPr>
              <a:t>Utilized for enhancing model interpretability and efficiency, by focusing on the most influential predictors.</a:t>
            </a:r>
            <a:endParaRPr sz="1600" dirty="0">
              <a:solidFill>
                <a:srgbClr val="0D0D0D"/>
              </a:solidFill>
              <a:highlight>
                <a:schemeClr val="lt1"/>
              </a:highlight>
              <a:latin typeface="Nunito Light"/>
              <a:ea typeface="Nunito Light"/>
              <a:cs typeface="Nunito Light"/>
              <a:sym typeface="Nunito Light"/>
            </a:endParaRPr>
          </a:p>
          <a:p>
            <a:pPr marL="0" lvl="0" indent="0" algn="l" rtl="0">
              <a:lnSpc>
                <a:spcPct val="115000"/>
              </a:lnSpc>
              <a:spcBef>
                <a:spcPts val="0"/>
              </a:spcBef>
              <a:spcAft>
                <a:spcPts val="0"/>
              </a:spcAft>
              <a:buSzPts val="1100"/>
              <a:buNone/>
            </a:pPr>
            <a:endParaRPr dirty="0">
              <a:latin typeface="Nunito Light"/>
              <a:ea typeface="Nunito Light"/>
              <a:cs typeface="Nunito Light"/>
              <a:sym typeface="Nunito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249a9029d07_0_0"/>
          <p:cNvSpPr txBox="1">
            <a:spLocks noGrp="1"/>
          </p:cNvSpPr>
          <p:nvPr>
            <p:ph type="title"/>
          </p:nvPr>
        </p:nvSpPr>
        <p:spPr>
          <a:xfrm>
            <a:off x="202550" y="289636"/>
            <a:ext cx="8520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Advantages of Random Forest:</a:t>
            </a:r>
            <a:endParaRPr sz="2800"/>
          </a:p>
        </p:txBody>
      </p:sp>
      <p:sp>
        <p:nvSpPr>
          <p:cNvPr id="192" name="Google Shape;192;g249a9029d07_0_0"/>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29</a:t>
            </a:fld>
            <a:endParaRPr sz="1000" b="0">
              <a:solidFill>
                <a:schemeClr val="dk2"/>
              </a:solidFill>
              <a:latin typeface="Arial"/>
              <a:ea typeface="Arial"/>
              <a:cs typeface="Arial"/>
              <a:sym typeface="Arial"/>
            </a:endParaRPr>
          </a:p>
        </p:txBody>
      </p:sp>
      <p:sp>
        <p:nvSpPr>
          <p:cNvPr id="193" name="Google Shape;193;g249a9029d07_0_0"/>
          <p:cNvSpPr txBox="1">
            <a:spLocks noGrp="1"/>
          </p:cNvSpPr>
          <p:nvPr>
            <p:ph type="body" idx="1"/>
          </p:nvPr>
        </p:nvSpPr>
        <p:spPr>
          <a:xfrm>
            <a:off x="202550" y="799864"/>
            <a:ext cx="8629800" cy="3711300"/>
          </a:xfrm>
          <a:prstGeom prst="rect">
            <a:avLst/>
          </a:prstGeom>
          <a:noFill/>
          <a:ln>
            <a:noFill/>
          </a:ln>
        </p:spPr>
        <p:txBody>
          <a:bodyPr spcFirstLastPara="1" wrap="square" lIns="91425" tIns="91425" rIns="91425" bIns="91425" anchor="t" anchorCtr="0">
            <a:noAutofit/>
          </a:bodyPr>
          <a:lstStyle/>
          <a:p>
            <a:pPr marL="457200" lvl="0" indent="-298450" algn="l" rtl="0">
              <a:lnSpc>
                <a:spcPct val="150000"/>
              </a:lnSpc>
              <a:spcBef>
                <a:spcPts val="1515"/>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Improved Accuracy - Random Forest often achieve higher accuracy compared to individual models. </a:t>
            </a:r>
            <a:endParaRPr>
              <a:solidFill>
                <a:schemeClr val="dk1"/>
              </a:solidFill>
              <a:latin typeface="Nunito Light"/>
              <a:ea typeface="Nunito Light"/>
              <a:cs typeface="Nunito Light"/>
              <a:sym typeface="Nunito Light"/>
            </a:endParaRPr>
          </a:p>
          <a:p>
            <a:pPr marL="457200" lvl="0" indent="-298450" algn="l" rtl="0">
              <a:lnSpc>
                <a:spcPct val="15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Increased Robustness - Random Forest more robust to outliers and noisy data. </a:t>
            </a:r>
            <a:endParaRPr>
              <a:solidFill>
                <a:schemeClr val="dk1"/>
              </a:solidFill>
              <a:latin typeface="Nunito Light"/>
              <a:ea typeface="Nunito Light"/>
              <a:cs typeface="Nunito Light"/>
              <a:sym typeface="Nunito Light"/>
            </a:endParaRPr>
          </a:p>
          <a:p>
            <a:pPr marL="457200" lvl="0" indent="-298450" algn="l" rtl="0">
              <a:lnSpc>
                <a:spcPct val="15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Reduced Variance - Random Forests reduce variance by taking many trees from n bootstrapped samples and averaging their prediction leading to lower variance.</a:t>
            </a:r>
            <a:endParaRPr>
              <a:solidFill>
                <a:schemeClr val="dk1"/>
              </a:solidFill>
              <a:latin typeface="Nunito Light"/>
              <a:ea typeface="Nunito Light"/>
              <a:cs typeface="Nunito Light"/>
              <a:sym typeface="Nunito Light"/>
            </a:endParaRPr>
          </a:p>
          <a:p>
            <a:pPr marL="0" lvl="0" indent="0" algn="l" rtl="0">
              <a:lnSpc>
                <a:spcPct val="115000"/>
              </a:lnSpc>
              <a:spcBef>
                <a:spcPts val="0"/>
              </a:spcBef>
              <a:spcAft>
                <a:spcPts val="0"/>
              </a:spcAft>
              <a:buSzPts val="1100"/>
              <a:buNone/>
            </a:pPr>
            <a:endParaRPr>
              <a:latin typeface="Nunito Light"/>
              <a:ea typeface="Nunito Light"/>
              <a:cs typeface="Nunito Light"/>
              <a:sym typeface="Nunito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249a9029d07_0_89"/>
          <p:cNvSpPr txBox="1">
            <a:spLocks noGrp="1"/>
          </p:cNvSpPr>
          <p:nvPr>
            <p:ph type="title"/>
          </p:nvPr>
        </p:nvSpPr>
        <p:spPr>
          <a:xfrm>
            <a:off x="202550" y="289636"/>
            <a:ext cx="8520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Advantages of Random Forest:</a:t>
            </a:r>
            <a:endParaRPr sz="2800"/>
          </a:p>
        </p:txBody>
      </p:sp>
      <p:sp>
        <p:nvSpPr>
          <p:cNvPr id="199" name="Google Shape;199;g249a9029d07_0_89"/>
          <p:cNvSpPr txBox="1"/>
          <p:nvPr/>
        </p:nvSpPr>
        <p:spPr>
          <a:xfrm>
            <a:off x="500875" y="1041350"/>
            <a:ext cx="8049000" cy="229500"/>
          </a:xfrm>
          <a:prstGeom prst="rect">
            <a:avLst/>
          </a:prstGeom>
          <a:noFill/>
          <a:ln>
            <a:noFill/>
          </a:ln>
        </p:spPr>
        <p:txBody>
          <a:bodyPr spcFirstLastPara="1" wrap="square" lIns="0" tIns="13950" rIns="0" bIns="0" anchor="t" anchorCtr="0">
            <a:spAutoFit/>
          </a:bodyPr>
          <a:lstStyle/>
          <a:p>
            <a:pPr marL="457200" marR="0" lvl="0" indent="0" algn="l"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g249a9029d07_0_89"/>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30</a:t>
            </a:fld>
            <a:endParaRPr sz="1000" b="0">
              <a:solidFill>
                <a:schemeClr val="dk2"/>
              </a:solidFill>
              <a:latin typeface="Arial"/>
              <a:ea typeface="Arial"/>
              <a:cs typeface="Arial"/>
              <a:sym typeface="Arial"/>
            </a:endParaRPr>
          </a:p>
        </p:txBody>
      </p:sp>
      <p:sp>
        <p:nvSpPr>
          <p:cNvPr id="201" name="Google Shape;201;g249a9029d07_0_89"/>
          <p:cNvSpPr txBox="1">
            <a:spLocks noGrp="1"/>
          </p:cNvSpPr>
          <p:nvPr>
            <p:ph type="body" idx="1"/>
          </p:nvPr>
        </p:nvSpPr>
        <p:spPr>
          <a:xfrm>
            <a:off x="311700" y="1153898"/>
            <a:ext cx="8520600" cy="3420600"/>
          </a:xfrm>
          <a:prstGeom prst="rect">
            <a:avLst/>
          </a:prstGeom>
          <a:noFill/>
          <a:ln>
            <a:noFill/>
          </a:ln>
        </p:spPr>
        <p:txBody>
          <a:bodyPr spcFirstLastPara="1" wrap="square" lIns="91425" tIns="91425" rIns="91425" bIns="91425" anchor="t" anchorCtr="0">
            <a:noAutofit/>
          </a:bodyPr>
          <a:lstStyle/>
          <a:p>
            <a:pPr marL="457200" lvl="0" indent="-298450" algn="l" rtl="0">
              <a:lnSpc>
                <a:spcPct val="150000"/>
              </a:lnSpc>
              <a:spcBef>
                <a:spcPts val="1515"/>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Reduced Bias - </a:t>
            </a:r>
            <a:endParaRPr>
              <a:solidFill>
                <a:schemeClr val="dk1"/>
              </a:solidFill>
              <a:latin typeface="Nunito Light"/>
              <a:ea typeface="Nunito Light"/>
              <a:cs typeface="Nunito Light"/>
              <a:sym typeface="Nunito Light"/>
            </a:endParaRPr>
          </a:p>
          <a:p>
            <a:pPr marL="914400" lvl="1" indent="-298450" algn="l" rtl="0">
              <a:lnSpc>
                <a:spcPct val="15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Random Forests reduce bias in the dataset by decorrelating the trees which is a problem with imbalanced datasets Random forests overcome this problem by forcing each split to consider only a subset of the predictors. </a:t>
            </a:r>
            <a:endParaRPr>
              <a:solidFill>
                <a:schemeClr val="dk1"/>
              </a:solidFill>
              <a:latin typeface="Nunito Light"/>
              <a:ea typeface="Nunito Light"/>
              <a:cs typeface="Nunito Light"/>
              <a:sym typeface="Nunito Light"/>
            </a:endParaRPr>
          </a:p>
          <a:p>
            <a:pPr marL="914400" lvl="1" indent="-298450" algn="l" rtl="0">
              <a:lnSpc>
                <a:spcPct val="15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p - Total number of predictors in dataset.</a:t>
            </a:r>
            <a:endParaRPr>
              <a:solidFill>
                <a:schemeClr val="dk1"/>
              </a:solidFill>
              <a:latin typeface="Nunito Light"/>
              <a:ea typeface="Nunito Light"/>
              <a:cs typeface="Nunito Light"/>
              <a:sym typeface="Nunito Light"/>
            </a:endParaRPr>
          </a:p>
          <a:p>
            <a:pPr marL="914400" lvl="1" indent="-298450" algn="l" rtl="0">
              <a:lnSpc>
                <a:spcPct val="15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m - Number of predictors considered at each split.</a:t>
            </a:r>
            <a:endParaRPr>
              <a:solidFill>
                <a:schemeClr val="dk1"/>
              </a:solidFill>
              <a:latin typeface="Nunito Light"/>
              <a:ea typeface="Nunito Light"/>
              <a:cs typeface="Nunito Light"/>
              <a:sym typeface="Nunito Light"/>
            </a:endParaRPr>
          </a:p>
          <a:p>
            <a:pPr marL="914400" lvl="1" indent="-298450" algn="l" rtl="0">
              <a:lnSpc>
                <a:spcPct val="150000"/>
              </a:lnSpc>
              <a:spcBef>
                <a:spcPts val="0"/>
              </a:spcBef>
              <a:spcAft>
                <a:spcPts val="0"/>
              </a:spcAft>
              <a:buClr>
                <a:schemeClr val="dk1"/>
              </a:buClr>
              <a:buSzPts val="1100"/>
              <a:buFont typeface="Arial"/>
              <a:buChar char="○"/>
            </a:pPr>
            <a:r>
              <a:rPr lang="en-US">
                <a:solidFill>
                  <a:schemeClr val="dk1"/>
                </a:solidFill>
                <a:latin typeface="Nunito Light"/>
                <a:ea typeface="Nunito Light"/>
                <a:cs typeface="Nunito Light"/>
                <a:sym typeface="Nunito Light"/>
              </a:rPr>
              <a:t>Therefore, on average (p − m)/p of the splits random Forests enhance model diversity and reduce over-reliance on dominant predictors by randomly selecting a subset of features for each split, allowing lesser-known features to play a more significant role in the decision-making process</a:t>
            </a:r>
            <a:r>
              <a:rPr lang="en-US">
                <a:solidFill>
                  <a:srgbClr val="0D0D0D"/>
                </a:solidFill>
                <a:highlight>
                  <a:schemeClr val="lt1"/>
                </a:highlight>
                <a:latin typeface="Nunito Light"/>
                <a:ea typeface="Nunito Light"/>
                <a:cs typeface="Nunito Light"/>
                <a:sym typeface="Nunito Light"/>
              </a:rPr>
              <a:t>.</a:t>
            </a:r>
            <a:r>
              <a:rPr lang="en-US">
                <a:solidFill>
                  <a:schemeClr val="dk1"/>
                </a:solidFill>
                <a:latin typeface="Nunito Light"/>
                <a:ea typeface="Nunito Light"/>
                <a:cs typeface="Nunito Light"/>
                <a:sym typeface="Nunito Light"/>
              </a:rPr>
              <a:t> We can think of this process as decorrelating the trees, thereby making the average of the resulting trees less variable and hence more reliable </a:t>
            </a:r>
            <a:endParaRPr>
              <a:latin typeface="Nunito Light"/>
              <a:ea typeface="Nunito Light"/>
              <a:cs typeface="Nunito Light"/>
              <a:sym typeface="Nunit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249a9029d07_0_94"/>
          <p:cNvSpPr txBox="1">
            <a:spLocks noGrp="1"/>
          </p:cNvSpPr>
          <p:nvPr>
            <p:ph type="title"/>
          </p:nvPr>
        </p:nvSpPr>
        <p:spPr>
          <a:xfrm>
            <a:off x="202550" y="289636"/>
            <a:ext cx="8520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Disadvantages of Random Forest:</a:t>
            </a:r>
            <a:endParaRPr sz="2800"/>
          </a:p>
        </p:txBody>
      </p:sp>
      <p:sp>
        <p:nvSpPr>
          <p:cNvPr id="207" name="Google Shape;207;g249a9029d07_0_94"/>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31</a:t>
            </a:fld>
            <a:endParaRPr sz="1000" b="0">
              <a:solidFill>
                <a:schemeClr val="dk2"/>
              </a:solidFill>
              <a:latin typeface="Arial"/>
              <a:ea typeface="Arial"/>
              <a:cs typeface="Arial"/>
              <a:sym typeface="Arial"/>
            </a:endParaRPr>
          </a:p>
        </p:txBody>
      </p:sp>
      <p:sp>
        <p:nvSpPr>
          <p:cNvPr id="208" name="Google Shape;208;g249a9029d07_0_94"/>
          <p:cNvSpPr txBox="1">
            <a:spLocks noGrp="1"/>
          </p:cNvSpPr>
          <p:nvPr>
            <p:ph type="body" idx="1"/>
          </p:nvPr>
        </p:nvSpPr>
        <p:spPr>
          <a:xfrm>
            <a:off x="202550" y="860689"/>
            <a:ext cx="8629800" cy="3711300"/>
          </a:xfrm>
          <a:prstGeom prst="rect">
            <a:avLst/>
          </a:prstGeom>
          <a:noFill/>
          <a:ln>
            <a:noFill/>
          </a:ln>
        </p:spPr>
        <p:txBody>
          <a:bodyPr spcFirstLastPara="1" wrap="square" lIns="91425" tIns="91425" rIns="91425" bIns="91425" anchor="t" anchorCtr="0">
            <a:noAutofit/>
          </a:bodyPr>
          <a:lstStyle/>
          <a:p>
            <a:pPr marL="457200" lvl="0" indent="-298450" algn="l" rtl="0">
              <a:lnSpc>
                <a:spcPct val="150000"/>
              </a:lnSpc>
              <a:spcBef>
                <a:spcPts val="1515"/>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Increased Complexity - Ensembles introduce additional complexity to the modeling process.</a:t>
            </a:r>
            <a:endParaRPr>
              <a:solidFill>
                <a:schemeClr val="dk1"/>
              </a:solidFill>
              <a:latin typeface="Nunito Light"/>
              <a:ea typeface="Nunito Light"/>
              <a:cs typeface="Nunito Light"/>
              <a:sym typeface="Nunito Light"/>
            </a:endParaRPr>
          </a:p>
          <a:p>
            <a:pPr marL="457200" lvl="0" indent="-298450" algn="l" rtl="0">
              <a:lnSpc>
                <a:spcPct val="15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Computational Overhead - Ensemble methods require training and maintaining multiple models, which can be computationally expensive, especially when dealing with large datasets or complex models. </a:t>
            </a:r>
            <a:endParaRPr>
              <a:solidFill>
                <a:schemeClr val="dk1"/>
              </a:solidFill>
              <a:latin typeface="Nunito Light"/>
              <a:ea typeface="Nunito Light"/>
              <a:cs typeface="Nunito Light"/>
              <a:sym typeface="Nunito Light"/>
            </a:endParaRPr>
          </a:p>
          <a:p>
            <a:pPr marL="457200" lvl="0" indent="-298450" algn="l" rtl="0">
              <a:lnSpc>
                <a:spcPct val="15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Interpretability - Ensemble models are typically less interpretable compared to individual models. </a:t>
            </a:r>
            <a:endParaRPr>
              <a:solidFill>
                <a:schemeClr val="dk1"/>
              </a:solidFill>
              <a:latin typeface="Nunito Light"/>
              <a:ea typeface="Nunito Light"/>
              <a:cs typeface="Nunito Light"/>
              <a:sym typeface="Nunito Light"/>
            </a:endParaRPr>
          </a:p>
          <a:p>
            <a:pPr marL="0" lvl="0" indent="0" algn="l" rtl="0">
              <a:lnSpc>
                <a:spcPct val="115000"/>
              </a:lnSpc>
              <a:spcBef>
                <a:spcPts val="0"/>
              </a:spcBef>
              <a:spcAft>
                <a:spcPts val="0"/>
              </a:spcAft>
              <a:buSzPts val="1100"/>
              <a:buNone/>
            </a:pPr>
            <a:endParaRPr>
              <a:latin typeface="Nunito Light"/>
              <a:ea typeface="Nunito Light"/>
              <a:cs typeface="Nunito Light"/>
              <a:sym typeface="Nunito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249a9029d07_0_54"/>
          <p:cNvSpPr txBox="1">
            <a:spLocks noGrp="1"/>
          </p:cNvSpPr>
          <p:nvPr>
            <p:ph type="title"/>
          </p:nvPr>
        </p:nvSpPr>
        <p:spPr>
          <a:xfrm>
            <a:off x="202550" y="289636"/>
            <a:ext cx="8520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Disadvantages of Random Forest:</a:t>
            </a:r>
            <a:endParaRPr sz="2800"/>
          </a:p>
        </p:txBody>
      </p:sp>
      <p:sp>
        <p:nvSpPr>
          <p:cNvPr id="214" name="Google Shape;214;g249a9029d07_0_54"/>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32</a:t>
            </a:fld>
            <a:endParaRPr sz="1000" b="0">
              <a:solidFill>
                <a:schemeClr val="dk2"/>
              </a:solidFill>
              <a:latin typeface="Arial"/>
              <a:ea typeface="Arial"/>
              <a:cs typeface="Arial"/>
              <a:sym typeface="Arial"/>
            </a:endParaRPr>
          </a:p>
        </p:txBody>
      </p:sp>
      <p:sp>
        <p:nvSpPr>
          <p:cNvPr id="215" name="Google Shape;215;g249a9029d07_0_54"/>
          <p:cNvSpPr txBox="1">
            <a:spLocks noGrp="1"/>
          </p:cNvSpPr>
          <p:nvPr>
            <p:ph type="body" idx="1"/>
          </p:nvPr>
        </p:nvSpPr>
        <p:spPr>
          <a:xfrm>
            <a:off x="202550" y="810389"/>
            <a:ext cx="8629800" cy="3711300"/>
          </a:xfrm>
          <a:prstGeom prst="rect">
            <a:avLst/>
          </a:prstGeom>
          <a:noFill/>
          <a:ln>
            <a:noFill/>
          </a:ln>
        </p:spPr>
        <p:txBody>
          <a:bodyPr spcFirstLastPara="1" wrap="square" lIns="91425" tIns="91425" rIns="91425" bIns="91425" anchor="t" anchorCtr="0">
            <a:noAutofit/>
          </a:bodyPr>
          <a:lstStyle/>
          <a:p>
            <a:pPr marL="457200" lvl="0" indent="-298450" algn="l" rtl="0">
              <a:lnSpc>
                <a:spcPct val="150000"/>
              </a:lnSpc>
              <a:spcBef>
                <a:spcPts val="1515"/>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Dependency on Individual Models - The performance of ensemble methods heavily relies on the diversity and quality of individual models.</a:t>
            </a:r>
            <a:endParaRPr>
              <a:solidFill>
                <a:schemeClr val="dk1"/>
              </a:solidFill>
              <a:latin typeface="Nunito Light"/>
              <a:ea typeface="Nunito Light"/>
              <a:cs typeface="Nunito Light"/>
              <a:sym typeface="Nunito Light"/>
            </a:endParaRPr>
          </a:p>
          <a:p>
            <a:pPr marL="457200" lvl="0" indent="-298450" algn="l" rtl="0">
              <a:lnSpc>
                <a:spcPct val="150000"/>
              </a:lnSpc>
              <a:spcBef>
                <a:spcPts val="0"/>
              </a:spcBef>
              <a:spcAft>
                <a:spcPts val="0"/>
              </a:spcAft>
              <a:buClr>
                <a:schemeClr val="dk1"/>
              </a:buClr>
              <a:buSzPts val="1100"/>
              <a:buFont typeface="Nunito Light"/>
              <a:buChar char="●"/>
            </a:pPr>
            <a:r>
              <a:rPr lang="en-US">
                <a:solidFill>
                  <a:schemeClr val="dk1"/>
                </a:solidFill>
                <a:latin typeface="Nunito Light"/>
                <a:ea typeface="Nunito Light"/>
                <a:cs typeface="Nunito Light"/>
                <a:sym typeface="Nunito Light"/>
              </a:rPr>
              <a:t>Training Data Requirements - Ensembles require a sufficient amount of training data to train and validate multiple models effectively.</a:t>
            </a:r>
            <a:endParaRPr>
              <a:latin typeface="Nunito Light"/>
              <a:ea typeface="Nunito Light"/>
              <a:cs typeface="Nunito Light"/>
              <a:sym typeface="Nunito 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g249a9029d07_0_99"/>
          <p:cNvSpPr txBox="1">
            <a:spLocks noGrp="1"/>
          </p:cNvSpPr>
          <p:nvPr>
            <p:ph type="title"/>
          </p:nvPr>
        </p:nvSpPr>
        <p:spPr>
          <a:xfrm>
            <a:off x="149900" y="458136"/>
            <a:ext cx="8520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Steps to decide ensemble method for a ML tasks</a:t>
            </a:r>
            <a:endParaRPr sz="2800"/>
          </a:p>
        </p:txBody>
      </p:sp>
      <p:sp>
        <p:nvSpPr>
          <p:cNvPr id="221" name="Google Shape;221;g249a9029d07_0_99"/>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sz="1000" b="0">
                <a:solidFill>
                  <a:schemeClr val="dk2"/>
                </a:solidFill>
                <a:latin typeface="Arial"/>
                <a:ea typeface="Arial"/>
                <a:cs typeface="Arial"/>
                <a:sym typeface="Arial"/>
              </a:rPr>
              <a:t>33</a:t>
            </a:fld>
            <a:endParaRPr sz="1000" b="0">
              <a:solidFill>
                <a:schemeClr val="dk2"/>
              </a:solidFill>
              <a:latin typeface="Arial"/>
              <a:ea typeface="Arial"/>
              <a:cs typeface="Arial"/>
              <a:sym typeface="Arial"/>
            </a:endParaRPr>
          </a:p>
        </p:txBody>
      </p:sp>
      <p:sp>
        <p:nvSpPr>
          <p:cNvPr id="222" name="Google Shape;222;g249a9029d07_0_99"/>
          <p:cNvSpPr txBox="1">
            <a:spLocks noGrp="1"/>
          </p:cNvSpPr>
          <p:nvPr>
            <p:ph type="body" idx="1"/>
          </p:nvPr>
        </p:nvSpPr>
        <p:spPr>
          <a:xfrm>
            <a:off x="202500" y="1072064"/>
            <a:ext cx="8629800" cy="3711300"/>
          </a:xfrm>
          <a:prstGeom prst="rect">
            <a:avLst/>
          </a:prstGeom>
          <a:noFill/>
          <a:ln>
            <a:noFill/>
          </a:ln>
        </p:spPr>
        <p:txBody>
          <a:bodyPr spcFirstLastPara="1" wrap="square" lIns="91425" tIns="91425" rIns="91425" bIns="91425" anchor="t" anchorCtr="0">
            <a:noAutofit/>
          </a:bodyPr>
          <a:lstStyle/>
          <a:p>
            <a:pPr marL="158750" lvl="0" indent="0" algn="l" rtl="0">
              <a:lnSpc>
                <a:spcPct val="150000"/>
              </a:lnSpc>
              <a:spcBef>
                <a:spcPts val="1515"/>
              </a:spcBef>
              <a:spcAft>
                <a:spcPts val="0"/>
              </a:spcAft>
              <a:buClr>
                <a:schemeClr val="dk1"/>
              </a:buClr>
              <a:buSzPts val="1100"/>
              <a:buNone/>
            </a:pPr>
            <a:r>
              <a:rPr lang="en-US" sz="1200" dirty="0">
                <a:solidFill>
                  <a:schemeClr val="dk1"/>
                </a:solidFill>
                <a:latin typeface="Nunito Light"/>
                <a:ea typeface="Nunito Light"/>
                <a:cs typeface="Nunito Light"/>
                <a:sym typeface="Nunito Light"/>
              </a:rPr>
              <a:t>Ensemble methods work well with large datasets</a:t>
            </a:r>
            <a:endParaRPr sz="1200" dirty="0">
              <a:solidFill>
                <a:schemeClr val="dk1"/>
              </a:solidFill>
              <a:latin typeface="Nunito Light"/>
              <a:ea typeface="Nunito Light"/>
              <a:cs typeface="Nunito Light"/>
              <a:sym typeface="Nunito Light"/>
            </a:endParaRPr>
          </a:p>
          <a:p>
            <a:pPr marL="457200" lvl="0" indent="-298450" algn="l" rtl="0">
              <a:lnSpc>
                <a:spcPct val="150000"/>
              </a:lnSpc>
              <a:spcBef>
                <a:spcPts val="0"/>
              </a:spcBef>
              <a:spcAft>
                <a:spcPts val="0"/>
              </a:spcAft>
              <a:buClr>
                <a:schemeClr val="dk1"/>
              </a:buClr>
              <a:buSzPts val="1100"/>
              <a:buFont typeface="Nunito Light"/>
              <a:buChar char="●"/>
            </a:pPr>
            <a:r>
              <a:rPr lang="en-US" sz="1200" dirty="0">
                <a:solidFill>
                  <a:schemeClr val="dk1"/>
                </a:solidFill>
                <a:latin typeface="Nunito Light"/>
                <a:ea typeface="Nunito Light"/>
                <a:cs typeface="Nunito Light"/>
                <a:sym typeface="Nunito Light"/>
              </a:rPr>
              <a:t>Evaluate Baseline Models - If base models able to give good results then going for ensemble methods might not be necessary.</a:t>
            </a:r>
            <a:endParaRPr sz="1200" dirty="0">
              <a:solidFill>
                <a:schemeClr val="dk1"/>
              </a:solidFill>
              <a:latin typeface="Nunito Light"/>
              <a:ea typeface="Nunito Light"/>
              <a:cs typeface="Nunito Light"/>
              <a:sym typeface="Nunito Light"/>
            </a:endParaRPr>
          </a:p>
          <a:p>
            <a:pPr marL="457200" lvl="0" indent="-298450" algn="l" rtl="0">
              <a:lnSpc>
                <a:spcPct val="150000"/>
              </a:lnSpc>
              <a:spcBef>
                <a:spcPts val="0"/>
              </a:spcBef>
              <a:spcAft>
                <a:spcPts val="0"/>
              </a:spcAft>
              <a:buClr>
                <a:schemeClr val="dk1"/>
              </a:buClr>
              <a:buSzPts val="1100"/>
              <a:buFont typeface="Nunito Light"/>
              <a:buChar char="●"/>
            </a:pPr>
            <a:r>
              <a:rPr lang="en-US" sz="1200" dirty="0">
                <a:solidFill>
                  <a:schemeClr val="dk1"/>
                </a:solidFill>
                <a:latin typeface="Nunito Light"/>
                <a:ea typeface="Nunito Light"/>
                <a:cs typeface="Nunito Light"/>
                <a:sym typeface="Nunito Light"/>
              </a:rPr>
              <a:t>Training resources -  Ensembles can be computationally expensive, especially if you plan to train multiple large models. Consider the training time, memory requirements, and available hardware.</a:t>
            </a:r>
            <a:endParaRPr sz="1200" dirty="0">
              <a:solidFill>
                <a:schemeClr val="dk1"/>
              </a:solidFill>
              <a:latin typeface="Nunito Light"/>
              <a:ea typeface="Nunito Light"/>
              <a:cs typeface="Nunito Light"/>
              <a:sym typeface="Nunito Light"/>
            </a:endParaRPr>
          </a:p>
          <a:p>
            <a:pPr marL="457200" lvl="0" indent="-298450" algn="l" rtl="0">
              <a:lnSpc>
                <a:spcPct val="150000"/>
              </a:lnSpc>
              <a:spcBef>
                <a:spcPts val="0"/>
              </a:spcBef>
              <a:spcAft>
                <a:spcPts val="0"/>
              </a:spcAft>
              <a:buClr>
                <a:schemeClr val="dk1"/>
              </a:buClr>
              <a:buSzPts val="1100"/>
              <a:buFont typeface="Nunito Light"/>
              <a:buChar char="●"/>
            </a:pPr>
            <a:r>
              <a:rPr lang="en-US" sz="1200" dirty="0">
                <a:solidFill>
                  <a:schemeClr val="dk1"/>
                </a:solidFill>
                <a:latin typeface="Nunito Light"/>
                <a:ea typeface="Nunito Light"/>
                <a:cs typeface="Nunito Light"/>
                <a:sym typeface="Nunito Light"/>
              </a:rPr>
              <a:t>Evaluate Interpretability Needs - Determine the importance of interpretability in your task. If the interpretability of individual model predictions is crucial for decision-making or regulatory compliance, ensembles might be less suitable.</a:t>
            </a:r>
            <a:endParaRPr sz="1200" dirty="0">
              <a:solidFill>
                <a:schemeClr val="dk1"/>
              </a:solidFill>
              <a:latin typeface="Nunito Light"/>
              <a:ea typeface="Nunito Light"/>
              <a:cs typeface="Nunito Light"/>
              <a:sym typeface="Nunito Light"/>
            </a:endParaRPr>
          </a:p>
          <a:p>
            <a:pPr marL="457200" lvl="0" indent="-298450" algn="l" rtl="0">
              <a:lnSpc>
                <a:spcPct val="150000"/>
              </a:lnSpc>
              <a:spcBef>
                <a:spcPts val="0"/>
              </a:spcBef>
              <a:spcAft>
                <a:spcPts val="0"/>
              </a:spcAft>
              <a:buClr>
                <a:schemeClr val="dk1"/>
              </a:buClr>
              <a:buSzPts val="1100"/>
              <a:buFont typeface="Arial"/>
              <a:buChar char="●"/>
            </a:pPr>
            <a:r>
              <a:rPr lang="en-US" sz="1200" dirty="0">
                <a:solidFill>
                  <a:schemeClr val="dk1"/>
                </a:solidFill>
                <a:latin typeface="Nunito Light"/>
                <a:ea typeface="Nunito Light"/>
                <a:cs typeface="Nunito Light"/>
                <a:sym typeface="Nunito Light"/>
              </a:rPr>
              <a:t>Consider Performance Improvement - Assess the potential for performance improvement with ensemble techniques. </a:t>
            </a:r>
            <a:endParaRPr sz="1200" dirty="0">
              <a:solidFill>
                <a:schemeClr val="dk1"/>
              </a:solidFill>
              <a:latin typeface="Nunito Light"/>
              <a:ea typeface="Nunito Light"/>
              <a:cs typeface="Nunito Light"/>
              <a:sym typeface="Nunito Light"/>
            </a:endParaRPr>
          </a:p>
          <a:p>
            <a:pPr marL="914400" lvl="1" indent="-298450" algn="l" rtl="0">
              <a:lnSpc>
                <a:spcPct val="150000"/>
              </a:lnSpc>
              <a:spcBef>
                <a:spcPts val="0"/>
              </a:spcBef>
              <a:spcAft>
                <a:spcPts val="0"/>
              </a:spcAft>
              <a:buClr>
                <a:schemeClr val="dk1"/>
              </a:buClr>
              <a:buSzPts val="1100"/>
              <a:buFont typeface="Nunito Light"/>
              <a:buChar char="○"/>
            </a:pPr>
            <a:r>
              <a:rPr lang="en-US" sz="1200" dirty="0">
                <a:solidFill>
                  <a:schemeClr val="dk1"/>
                </a:solidFill>
                <a:latin typeface="Nunito Light"/>
                <a:ea typeface="Nunito Light"/>
                <a:cs typeface="Nunito Light"/>
                <a:sym typeface="Nunito Light"/>
              </a:rPr>
              <a:t>If the baseline models are underperforming or show high variance, an ensemble may help reduce bias and variance, leading to better overall prediction</a:t>
            </a:r>
            <a:endParaRPr sz="1200" dirty="0">
              <a:solidFill>
                <a:schemeClr val="dk1"/>
              </a:solidFill>
              <a:latin typeface="Nunito Light"/>
              <a:ea typeface="Nunito Light"/>
              <a:cs typeface="Nunito Light"/>
              <a:sym typeface="Nunito Light"/>
            </a:endParaRPr>
          </a:p>
          <a:p>
            <a:pPr marL="0" lvl="0" indent="0" algn="l" rtl="0">
              <a:lnSpc>
                <a:spcPct val="150000"/>
              </a:lnSpc>
              <a:spcBef>
                <a:spcPts val="0"/>
              </a:spcBef>
              <a:spcAft>
                <a:spcPts val="0"/>
              </a:spcAft>
              <a:buSzPts val="1100"/>
              <a:buNone/>
            </a:pPr>
            <a:endParaRPr sz="1100" dirty="0">
              <a:latin typeface="Nunito Light"/>
              <a:ea typeface="Nunito Light"/>
              <a:cs typeface="Nunito Light"/>
              <a:sym typeface="Nunito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9E805-5F19-4780-9B75-8470893CC5C2}"/>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E2E7E92C-CC27-430D-837D-CCCCBE5BC373}"/>
              </a:ext>
            </a:extLst>
          </p:cNvPr>
          <p:cNvSpPr>
            <a:spLocks noGrp="1"/>
          </p:cNvSpPr>
          <p:nvPr>
            <p:ph type="body" idx="1"/>
          </p:nvPr>
        </p:nvSpPr>
        <p:spPr/>
        <p:txBody>
          <a:bodyPr>
            <a:normAutofit/>
          </a:bodyPr>
          <a:lstStyle/>
          <a:p>
            <a:pPr algn="l" rtl="0" fontAlgn="base"/>
            <a:r>
              <a:rPr lang="en-US" b="0" i="0" dirty="0">
                <a:solidFill>
                  <a:srgbClr val="273239"/>
                </a:solidFill>
                <a:effectLst/>
                <a:latin typeface="Source Sans 3"/>
              </a:rPr>
              <a:t>What is the main idea behind bagging in ensemble learning?</a:t>
            </a:r>
          </a:p>
          <a:p>
            <a:pPr algn="l" rtl="0" fontAlgn="base"/>
            <a:endParaRPr lang="en-US" b="0" i="0" dirty="0">
              <a:solidFill>
                <a:srgbClr val="273239"/>
              </a:solidFill>
              <a:effectLst/>
              <a:latin typeface="Source Sans 3"/>
            </a:endParaRPr>
          </a:p>
          <a:p>
            <a:pPr algn="l" rtl="0" fontAlgn="base"/>
            <a:r>
              <a:rPr lang="en-US" b="0" i="0" dirty="0">
                <a:solidFill>
                  <a:srgbClr val="273239"/>
                </a:solidFill>
                <a:effectLst/>
                <a:latin typeface="Source Sans 3"/>
              </a:rPr>
              <a:t>Training models sequentially to correct </a:t>
            </a:r>
            <a:r>
              <a:rPr lang="en-US" b="0" i="0" dirty="0" err="1">
                <a:solidFill>
                  <a:srgbClr val="273239"/>
                </a:solidFill>
                <a:effectLst/>
                <a:latin typeface="Source Sans 3"/>
              </a:rPr>
              <a:t>errors</a:t>
            </a:r>
            <a:r>
              <a:rPr lang="en-US" b="0" i="0" dirty="0" err="1">
                <a:solidFill>
                  <a:srgbClr val="FFFFFF"/>
                </a:solidFill>
                <a:effectLst/>
                <a:latin typeface="Source Sans 3"/>
              </a:rPr>
              <a:t>B</a:t>
            </a:r>
            <a:endParaRPr lang="en-US" b="0" i="0" dirty="0">
              <a:solidFill>
                <a:srgbClr val="FFFFFF"/>
              </a:solidFill>
              <a:effectLst/>
              <a:latin typeface="Source Sans 3"/>
            </a:endParaRPr>
          </a:p>
          <a:p>
            <a:pPr algn="l" rtl="0" fontAlgn="base">
              <a:buFont typeface="Arial" panose="020B0604020202020204" pitchFamily="34" charset="0"/>
              <a:buChar char="•"/>
            </a:pPr>
            <a:r>
              <a:rPr lang="en-US" b="0" i="0" dirty="0">
                <a:solidFill>
                  <a:srgbClr val="273239"/>
                </a:solidFill>
                <a:effectLst/>
                <a:latin typeface="Source Sans 3"/>
              </a:rPr>
              <a:t>Training multiple models on different subsets of data and averaging predictions</a:t>
            </a:r>
            <a:endParaRPr lang="en-US" b="0" i="0" dirty="0">
              <a:solidFill>
                <a:srgbClr val="9F9F9F"/>
              </a:solidFill>
              <a:effectLst/>
              <a:latin typeface="Source Sans 3"/>
            </a:endParaRPr>
          </a:p>
          <a:p>
            <a:pPr algn="l" rtl="0" fontAlgn="base">
              <a:buFont typeface="Arial" panose="020B0604020202020204" pitchFamily="34" charset="0"/>
              <a:buChar char="•"/>
            </a:pPr>
            <a:r>
              <a:rPr lang="en-US" b="0" i="0" dirty="0">
                <a:solidFill>
                  <a:srgbClr val="273239"/>
                </a:solidFill>
                <a:effectLst/>
                <a:latin typeface="Source Sans 3"/>
              </a:rPr>
              <a:t>Using deep learning models for classification</a:t>
            </a:r>
            <a:endParaRPr lang="en-US" b="0" i="0" dirty="0">
              <a:solidFill>
                <a:srgbClr val="9F9F9F"/>
              </a:solidFill>
              <a:effectLst/>
              <a:latin typeface="Source Sans 3"/>
            </a:endParaRPr>
          </a:p>
          <a:p>
            <a:pPr algn="l" rtl="0" fontAlgn="base">
              <a:buFont typeface="Arial" panose="020B0604020202020204" pitchFamily="34" charset="0"/>
              <a:buChar char="•"/>
            </a:pPr>
            <a:r>
              <a:rPr lang="en-US" b="0" i="0" dirty="0">
                <a:solidFill>
                  <a:srgbClr val="273239"/>
                </a:solidFill>
                <a:effectLst/>
                <a:latin typeface="Source Sans 3"/>
              </a:rPr>
              <a:t>Selecting only the best-performing model</a:t>
            </a:r>
          </a:p>
          <a:p>
            <a:endParaRPr lang="en-US" dirty="0"/>
          </a:p>
        </p:txBody>
      </p:sp>
      <p:sp>
        <p:nvSpPr>
          <p:cNvPr id="4" name="Slide Number Placeholder 3">
            <a:extLst>
              <a:ext uri="{FF2B5EF4-FFF2-40B4-BE49-F238E27FC236}">
                <a16:creationId xmlns:a16="http://schemas.microsoft.com/office/drawing/2014/main" id="{23AE11F8-654E-435B-9ACB-2391C56D8E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extLst>
      <p:ext uri="{BB962C8B-B14F-4D97-AF65-F5344CB8AC3E}">
        <p14:creationId xmlns:p14="http://schemas.microsoft.com/office/powerpoint/2010/main" val="1878935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26316-2C07-4313-919C-057AB2C1B139}"/>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4E743055-0E9A-40EF-B2D0-277D6A7C0DD2}"/>
              </a:ext>
            </a:extLst>
          </p:cNvPr>
          <p:cNvSpPr>
            <a:spLocks noGrp="1"/>
          </p:cNvSpPr>
          <p:nvPr>
            <p:ph type="body" idx="1"/>
          </p:nvPr>
        </p:nvSpPr>
        <p:spPr/>
        <p:txBody>
          <a:bodyPr>
            <a:normAutofit/>
          </a:bodyPr>
          <a:lstStyle/>
          <a:p>
            <a:pPr algn="l" rtl="0" fontAlgn="base"/>
            <a:r>
              <a:rPr lang="en-US" b="0" i="0" dirty="0">
                <a:solidFill>
                  <a:srgbClr val="273239"/>
                </a:solidFill>
                <a:effectLst/>
                <a:latin typeface="Source Sans 3"/>
              </a:rPr>
              <a:t>How does boosting differ from bagging?</a:t>
            </a:r>
          </a:p>
          <a:p>
            <a:pPr marL="114300" indent="0" algn="l" rtl="0" fontAlgn="base">
              <a:buNone/>
            </a:pPr>
            <a:br>
              <a:rPr lang="en-US" b="0" i="0" dirty="0">
                <a:solidFill>
                  <a:srgbClr val="273239"/>
                </a:solidFill>
                <a:effectLst/>
                <a:latin typeface="Source Sans 3"/>
              </a:rPr>
            </a:br>
            <a:endParaRPr lang="en-US" b="0" i="0" dirty="0">
              <a:solidFill>
                <a:srgbClr val="9F9F9F"/>
              </a:solidFill>
              <a:effectLst/>
              <a:latin typeface="Source Sans 3"/>
            </a:endParaRPr>
          </a:p>
          <a:p>
            <a:pPr algn="l" rtl="0" fontAlgn="base">
              <a:buFont typeface="Arial" panose="020B0604020202020204" pitchFamily="34" charset="0"/>
              <a:buChar char="•"/>
            </a:pPr>
            <a:r>
              <a:rPr lang="en-US" b="0" i="0" dirty="0">
                <a:solidFill>
                  <a:srgbClr val="273239"/>
                </a:solidFill>
                <a:effectLst/>
                <a:latin typeface="Source Sans 3"/>
              </a:rPr>
              <a:t>Boosting focuses on training multiple weak models sequentially</a:t>
            </a:r>
          </a:p>
          <a:p>
            <a:pPr algn="l" rtl="0" fontAlgn="base">
              <a:buFont typeface="Arial" panose="020B0604020202020204" pitchFamily="34" charset="0"/>
              <a:buChar char="•"/>
            </a:pPr>
            <a:r>
              <a:rPr lang="en-US" b="0" i="0" dirty="0">
                <a:solidFill>
                  <a:srgbClr val="273239"/>
                </a:solidFill>
                <a:effectLst/>
                <a:latin typeface="Source Sans 3"/>
              </a:rPr>
              <a:t>Boosting trains independent models in parallel</a:t>
            </a:r>
          </a:p>
          <a:p>
            <a:pPr algn="l" rtl="0" fontAlgn="base">
              <a:buFont typeface="Arial" panose="020B0604020202020204" pitchFamily="34" charset="0"/>
              <a:buChar char="•"/>
            </a:pPr>
            <a:r>
              <a:rPr lang="en-US" b="0" i="0" dirty="0">
                <a:solidFill>
                  <a:srgbClr val="273239"/>
                </a:solidFill>
                <a:effectLst/>
                <a:latin typeface="Source Sans 3"/>
              </a:rPr>
              <a:t>Boosting does not use weighted samples</a:t>
            </a:r>
            <a:br>
              <a:rPr lang="en-US" b="0" i="0" dirty="0">
                <a:solidFill>
                  <a:srgbClr val="273239"/>
                </a:solidFill>
                <a:effectLst/>
                <a:latin typeface="Source Sans 3"/>
              </a:rPr>
            </a:br>
            <a:r>
              <a:rPr lang="en-US" b="0" i="0" dirty="0">
                <a:solidFill>
                  <a:srgbClr val="273239"/>
                </a:solidFill>
                <a:effectLst/>
                <a:latin typeface="Source Sans 3"/>
              </a:rPr>
              <a:t>Boosting is only used for regression problems</a:t>
            </a:r>
          </a:p>
          <a:p>
            <a:endParaRPr lang="en-US" dirty="0"/>
          </a:p>
        </p:txBody>
      </p:sp>
      <p:sp>
        <p:nvSpPr>
          <p:cNvPr id="4" name="Slide Number Placeholder 3">
            <a:extLst>
              <a:ext uri="{FF2B5EF4-FFF2-40B4-BE49-F238E27FC236}">
                <a16:creationId xmlns:a16="http://schemas.microsoft.com/office/drawing/2014/main" id="{0C2AB061-D229-48D0-886D-5A23079490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extLst>
      <p:ext uri="{BB962C8B-B14F-4D97-AF65-F5344CB8AC3E}">
        <p14:creationId xmlns:p14="http://schemas.microsoft.com/office/powerpoint/2010/main" val="4082413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171BB-4067-41C8-9046-C9D5368F33AF}"/>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A669C4C8-A0BC-4AC4-BF66-411D2F1F0CB9}"/>
              </a:ext>
            </a:extLst>
          </p:cNvPr>
          <p:cNvSpPr>
            <a:spLocks noGrp="1"/>
          </p:cNvSpPr>
          <p:nvPr>
            <p:ph type="body" idx="1"/>
          </p:nvPr>
        </p:nvSpPr>
        <p:spPr/>
        <p:txBody>
          <a:bodyPr>
            <a:normAutofit/>
          </a:bodyPr>
          <a:lstStyle/>
          <a:p>
            <a:pPr algn="l" rtl="0" fontAlgn="base"/>
            <a:r>
              <a:rPr lang="en-US" b="0" i="0" dirty="0">
                <a:solidFill>
                  <a:srgbClr val="273239"/>
                </a:solidFill>
                <a:effectLst/>
                <a:latin typeface="Source Sans 3"/>
              </a:rPr>
              <a:t>Which of the following is an example of a bagging algorithm?</a:t>
            </a:r>
            <a:br>
              <a:rPr lang="en-US" b="0" i="0" dirty="0">
                <a:solidFill>
                  <a:srgbClr val="273239"/>
                </a:solidFill>
                <a:effectLst/>
                <a:latin typeface="Source Sans 3"/>
              </a:rPr>
            </a:br>
            <a:endParaRPr lang="en-US" b="0" i="0" dirty="0">
              <a:solidFill>
                <a:srgbClr val="273239"/>
              </a:solidFill>
              <a:effectLst/>
              <a:latin typeface="Source Sans 3"/>
            </a:endParaRPr>
          </a:p>
          <a:p>
            <a:pPr marL="114300" indent="0" algn="ctr" fontAlgn="base">
              <a:buNone/>
            </a:pPr>
            <a:endParaRPr lang="en-US" b="0" i="0" dirty="0">
              <a:solidFill>
                <a:srgbClr val="9F9F9F"/>
              </a:solidFill>
              <a:effectLst/>
              <a:latin typeface="Source Sans 3"/>
            </a:endParaRPr>
          </a:p>
          <a:p>
            <a:pPr algn="l" rtl="0" fontAlgn="base">
              <a:buFont typeface="Arial" panose="020B0604020202020204" pitchFamily="34" charset="0"/>
              <a:buChar char="•"/>
            </a:pPr>
            <a:r>
              <a:rPr lang="en-US" b="0" i="0" dirty="0">
                <a:solidFill>
                  <a:srgbClr val="273239"/>
                </a:solidFill>
                <a:effectLst/>
                <a:latin typeface="Source Sans 3"/>
              </a:rPr>
              <a:t>AdaBoost</a:t>
            </a:r>
          </a:p>
          <a:p>
            <a:pPr algn="l" rtl="0" fontAlgn="base">
              <a:buFont typeface="Arial" panose="020B0604020202020204" pitchFamily="34" charset="0"/>
              <a:buChar char="•"/>
            </a:pPr>
            <a:r>
              <a:rPr lang="en-US" b="0" i="0" dirty="0">
                <a:solidFill>
                  <a:srgbClr val="273239"/>
                </a:solidFill>
                <a:effectLst/>
                <a:latin typeface="Source Sans 3"/>
              </a:rPr>
              <a:t>Random Forest</a:t>
            </a:r>
          </a:p>
          <a:p>
            <a:pPr algn="l" rtl="0" fontAlgn="base">
              <a:buFont typeface="Arial" panose="020B0604020202020204" pitchFamily="34" charset="0"/>
              <a:buChar char="•"/>
            </a:pPr>
            <a:r>
              <a:rPr lang="en-US" b="0" i="0" dirty="0">
                <a:solidFill>
                  <a:srgbClr val="273239"/>
                </a:solidFill>
                <a:effectLst/>
                <a:latin typeface="Source Sans 3"/>
              </a:rPr>
              <a:t>Gradient Boosting</a:t>
            </a:r>
            <a:endParaRPr lang="en-US" b="0" i="0" dirty="0">
              <a:solidFill>
                <a:srgbClr val="9F9F9F"/>
              </a:solidFill>
              <a:effectLst/>
              <a:latin typeface="Source Sans 3"/>
            </a:endParaRPr>
          </a:p>
          <a:p>
            <a:pPr algn="l" rtl="0" fontAlgn="base">
              <a:buFont typeface="Arial" panose="020B0604020202020204" pitchFamily="34" charset="0"/>
              <a:buChar char="•"/>
            </a:pPr>
            <a:r>
              <a:rPr lang="en-US" b="0" i="0" dirty="0">
                <a:solidFill>
                  <a:srgbClr val="273239"/>
                </a:solidFill>
                <a:effectLst/>
                <a:latin typeface="Source Sans 3"/>
              </a:rPr>
              <a:t>XGBoost</a:t>
            </a:r>
          </a:p>
          <a:p>
            <a:endParaRPr lang="en-US" dirty="0"/>
          </a:p>
        </p:txBody>
      </p:sp>
      <p:sp>
        <p:nvSpPr>
          <p:cNvPr id="4" name="Slide Number Placeholder 3">
            <a:extLst>
              <a:ext uri="{FF2B5EF4-FFF2-40B4-BE49-F238E27FC236}">
                <a16:creationId xmlns:a16="http://schemas.microsoft.com/office/drawing/2014/main" id="{4F7B4CCB-54D1-40DC-9A42-070DFE8F998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extLst>
      <p:ext uri="{BB962C8B-B14F-4D97-AF65-F5344CB8AC3E}">
        <p14:creationId xmlns:p14="http://schemas.microsoft.com/office/powerpoint/2010/main" val="1418211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6B3CA-3624-4B69-BEF2-61CDA301BA37}"/>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E037976E-78BE-4906-ADFB-5E63F79E0C1D}"/>
              </a:ext>
            </a:extLst>
          </p:cNvPr>
          <p:cNvSpPr>
            <a:spLocks noGrp="1"/>
          </p:cNvSpPr>
          <p:nvPr>
            <p:ph type="body" idx="1"/>
          </p:nvPr>
        </p:nvSpPr>
        <p:spPr/>
        <p:txBody>
          <a:bodyPr>
            <a:normAutofit/>
          </a:bodyPr>
          <a:lstStyle/>
          <a:p>
            <a:pPr algn="l" rtl="0" fontAlgn="base"/>
            <a:r>
              <a:rPr lang="en-US" b="0" i="0" dirty="0">
                <a:solidFill>
                  <a:srgbClr val="273239"/>
                </a:solidFill>
                <a:effectLst/>
                <a:latin typeface="Source Sans 3"/>
              </a:rPr>
              <a:t>What is the main purpose of stacking in ensemble learning?</a:t>
            </a:r>
            <a:br>
              <a:rPr lang="en-US" b="0" i="0" dirty="0">
                <a:solidFill>
                  <a:srgbClr val="273239"/>
                </a:solidFill>
                <a:effectLst/>
                <a:latin typeface="Source Sans 3"/>
              </a:rPr>
            </a:br>
            <a:endParaRPr lang="en-US" b="0" i="0" dirty="0">
              <a:solidFill>
                <a:srgbClr val="273239"/>
              </a:solidFill>
              <a:effectLst/>
              <a:latin typeface="Source Sans 3"/>
            </a:endParaRPr>
          </a:p>
          <a:p>
            <a:pPr algn="l" rtl="0" fontAlgn="base">
              <a:buFont typeface="Arial" panose="020B0604020202020204" pitchFamily="34" charset="0"/>
              <a:buChar char="•"/>
            </a:pPr>
            <a:r>
              <a:rPr lang="en-US" b="0" i="0" dirty="0">
                <a:solidFill>
                  <a:srgbClr val="273239"/>
                </a:solidFill>
                <a:effectLst/>
                <a:latin typeface="Source Sans 3"/>
              </a:rPr>
              <a:t>To train multiple models and average their outputs</a:t>
            </a:r>
          </a:p>
          <a:p>
            <a:pPr algn="l" rtl="0" fontAlgn="base">
              <a:buFont typeface="Arial" panose="020B0604020202020204" pitchFamily="34" charset="0"/>
              <a:buChar char="•"/>
            </a:pPr>
            <a:r>
              <a:rPr lang="en-US" b="0" i="0" dirty="0">
                <a:solidFill>
                  <a:srgbClr val="273239"/>
                </a:solidFill>
                <a:effectLst/>
                <a:latin typeface="Source Sans 3"/>
              </a:rPr>
              <a:t>To train multiple models and use another model to combine their predictions</a:t>
            </a:r>
          </a:p>
          <a:p>
            <a:pPr algn="l" rtl="0" fontAlgn="base">
              <a:buFont typeface="Arial" panose="020B0604020202020204" pitchFamily="34" charset="0"/>
              <a:buChar char="•"/>
            </a:pPr>
            <a:r>
              <a:rPr lang="en-US" b="0" i="0" dirty="0">
                <a:solidFill>
                  <a:srgbClr val="273239"/>
                </a:solidFill>
                <a:effectLst/>
                <a:latin typeface="Source Sans 3"/>
              </a:rPr>
              <a:t>To train a single powerful model</a:t>
            </a:r>
          </a:p>
          <a:p>
            <a:pPr algn="l" rtl="0" fontAlgn="base">
              <a:buFont typeface="Arial" panose="020B0604020202020204" pitchFamily="34" charset="0"/>
              <a:buChar char="•"/>
            </a:pPr>
            <a:r>
              <a:rPr lang="en-US" b="0" i="0" dirty="0">
                <a:solidFill>
                  <a:srgbClr val="273239"/>
                </a:solidFill>
                <a:effectLst/>
                <a:latin typeface="Source Sans 3"/>
              </a:rPr>
              <a:t>To select the best-performing model and discard others</a:t>
            </a:r>
          </a:p>
          <a:p>
            <a:endParaRPr lang="en-US" dirty="0"/>
          </a:p>
        </p:txBody>
      </p:sp>
      <p:sp>
        <p:nvSpPr>
          <p:cNvPr id="4" name="Slide Number Placeholder 3">
            <a:extLst>
              <a:ext uri="{FF2B5EF4-FFF2-40B4-BE49-F238E27FC236}">
                <a16:creationId xmlns:a16="http://schemas.microsoft.com/office/drawing/2014/main" id="{6A30D246-7A49-4817-BA52-6F3600B686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extLst>
      <p:ext uri="{BB962C8B-B14F-4D97-AF65-F5344CB8AC3E}">
        <p14:creationId xmlns:p14="http://schemas.microsoft.com/office/powerpoint/2010/main" val="3826417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6D39-7482-4B91-AD53-2411AAFF229E}"/>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B91FA86F-815D-4082-8BBB-8F9052763B88}"/>
              </a:ext>
            </a:extLst>
          </p:cNvPr>
          <p:cNvSpPr>
            <a:spLocks noGrp="1"/>
          </p:cNvSpPr>
          <p:nvPr>
            <p:ph type="body" idx="1"/>
          </p:nvPr>
        </p:nvSpPr>
        <p:spPr/>
        <p:txBody>
          <a:bodyPr>
            <a:normAutofit/>
          </a:bodyPr>
          <a:lstStyle/>
          <a:p>
            <a:pPr algn="l" rtl="0" fontAlgn="base"/>
            <a:r>
              <a:rPr lang="en-US" b="0" i="0" dirty="0">
                <a:solidFill>
                  <a:srgbClr val="273239"/>
                </a:solidFill>
                <a:effectLst/>
                <a:latin typeface="Source Sans 3"/>
              </a:rPr>
              <a:t>Which of the following ensemble learning methods is known for reducing bias?</a:t>
            </a:r>
          </a:p>
          <a:p>
            <a:pPr marL="114300" indent="0" algn="l" rtl="0" fontAlgn="base">
              <a:buNone/>
            </a:pPr>
            <a:br>
              <a:rPr lang="en-US" b="0" i="0" dirty="0">
                <a:solidFill>
                  <a:srgbClr val="273239"/>
                </a:solidFill>
                <a:effectLst/>
                <a:latin typeface="Source Sans 3"/>
              </a:rPr>
            </a:br>
            <a:endParaRPr lang="en-US" b="0" i="0" dirty="0">
              <a:solidFill>
                <a:srgbClr val="273239"/>
              </a:solidFill>
              <a:effectLst/>
              <a:latin typeface="Source Sans 3"/>
            </a:endParaRPr>
          </a:p>
          <a:p>
            <a:pPr marL="114300" indent="0" algn="ctr" fontAlgn="base">
              <a:buNone/>
            </a:pPr>
            <a:endParaRPr lang="en-US" b="0" i="0" dirty="0">
              <a:solidFill>
                <a:srgbClr val="9F9F9F"/>
              </a:solidFill>
              <a:effectLst/>
              <a:latin typeface="Source Sans 3"/>
            </a:endParaRPr>
          </a:p>
          <a:p>
            <a:pPr algn="l" rtl="0" fontAlgn="base">
              <a:buFont typeface="Arial" panose="020B0604020202020204" pitchFamily="34" charset="0"/>
              <a:buChar char="•"/>
            </a:pPr>
            <a:r>
              <a:rPr lang="en-US" b="0" i="0" dirty="0">
                <a:solidFill>
                  <a:srgbClr val="273239"/>
                </a:solidFill>
                <a:effectLst/>
                <a:latin typeface="Source Sans 3"/>
              </a:rPr>
              <a:t>Bagging</a:t>
            </a:r>
          </a:p>
          <a:p>
            <a:pPr algn="l" rtl="0" fontAlgn="base">
              <a:buFont typeface="Arial" panose="020B0604020202020204" pitchFamily="34" charset="0"/>
              <a:buChar char="•"/>
            </a:pPr>
            <a:r>
              <a:rPr lang="en-US" b="0" i="0" dirty="0">
                <a:solidFill>
                  <a:srgbClr val="273239"/>
                </a:solidFill>
                <a:effectLst/>
                <a:latin typeface="Source Sans 3"/>
              </a:rPr>
              <a:t>Boosting</a:t>
            </a:r>
          </a:p>
          <a:p>
            <a:pPr algn="l" rtl="0" fontAlgn="base">
              <a:buFont typeface="Arial" panose="020B0604020202020204" pitchFamily="34" charset="0"/>
              <a:buChar char="•"/>
            </a:pPr>
            <a:r>
              <a:rPr lang="en-US" b="0" i="0" dirty="0">
                <a:solidFill>
                  <a:srgbClr val="273239"/>
                </a:solidFill>
                <a:effectLst/>
                <a:latin typeface="Source Sans 3"/>
              </a:rPr>
              <a:t>Stacking</a:t>
            </a:r>
          </a:p>
          <a:p>
            <a:pPr algn="l" rtl="0" fontAlgn="base">
              <a:buFont typeface="Arial" panose="020B0604020202020204" pitchFamily="34" charset="0"/>
              <a:buChar char="•"/>
            </a:pPr>
            <a:r>
              <a:rPr lang="en-US" b="0" i="0" dirty="0">
                <a:solidFill>
                  <a:srgbClr val="273239"/>
                </a:solidFill>
                <a:effectLst/>
                <a:latin typeface="Source Sans 3"/>
              </a:rPr>
              <a:t>K-Means</a:t>
            </a:r>
          </a:p>
          <a:p>
            <a:endParaRPr lang="en-US" dirty="0"/>
          </a:p>
        </p:txBody>
      </p:sp>
      <p:sp>
        <p:nvSpPr>
          <p:cNvPr id="4" name="Slide Number Placeholder 3">
            <a:extLst>
              <a:ext uri="{FF2B5EF4-FFF2-40B4-BE49-F238E27FC236}">
                <a16:creationId xmlns:a16="http://schemas.microsoft.com/office/drawing/2014/main" id="{B197F54F-069A-478B-9A4B-590F92F9C0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299636193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1262</TotalTime>
  <Words>3010</Words>
  <Application>Microsoft Office PowerPoint</Application>
  <PresentationFormat>Custom</PresentationFormat>
  <Paragraphs>294</Paragraphs>
  <Slides>38</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Nunito Light</vt:lpstr>
      <vt:lpstr>Studio-Feixen-Sans</vt:lpstr>
      <vt:lpstr>inherit</vt:lpstr>
      <vt:lpstr>Inter</vt:lpstr>
      <vt:lpstr>Source Sans 3</vt:lpstr>
      <vt:lpstr>Nunito</vt:lpstr>
      <vt:lpstr>Agency FB</vt:lpstr>
      <vt:lpstr>Simple Light</vt:lpstr>
      <vt:lpstr>Random Forest</vt:lpstr>
      <vt:lpstr>Bias vs Variance</vt:lpstr>
      <vt:lpstr>Bias vs Variance</vt:lpstr>
      <vt:lpstr>Ensemble Learning </vt:lpstr>
      <vt:lpstr>Ensemble Learning</vt:lpstr>
      <vt:lpstr>Boosting</vt:lpstr>
      <vt:lpstr>PowerPoint Presentation</vt:lpstr>
      <vt:lpstr>PowerPoint Presentation</vt:lpstr>
      <vt:lpstr>Bagging (Bootstrap Aggregating) </vt:lpstr>
      <vt:lpstr>Common Algorithms Using Bagging </vt:lpstr>
      <vt:lpstr>Boosting </vt:lpstr>
      <vt:lpstr>Common Algorithms Using Boosting </vt:lpstr>
      <vt:lpstr>Stacking </vt:lpstr>
      <vt:lpstr>Common Algorithms Using Stacking </vt:lpstr>
      <vt:lpstr>Random Forest Classifier</vt:lpstr>
      <vt:lpstr>Random Forest </vt:lpstr>
      <vt:lpstr>Introduction</vt:lpstr>
      <vt:lpstr>Random Forest</vt:lpstr>
      <vt:lpstr>Random Forest </vt:lpstr>
      <vt:lpstr>Random Forest </vt:lpstr>
      <vt:lpstr>When to Use Random Forests (and When Not To) </vt:lpstr>
      <vt:lpstr>Random Forests Algorithm </vt:lpstr>
      <vt:lpstr>Why a Random Forest?</vt:lpstr>
      <vt:lpstr>Aggregation</vt:lpstr>
      <vt:lpstr>Steps for prediction using random forest</vt:lpstr>
      <vt:lpstr>Feature importance in random forest</vt:lpstr>
      <vt:lpstr>Gini importance</vt:lpstr>
      <vt:lpstr>Mean decrease in accuracy</vt:lpstr>
      <vt:lpstr>Advantages of Random Forest:</vt:lpstr>
      <vt:lpstr>Advantages of Random Forest:</vt:lpstr>
      <vt:lpstr>Disadvantages of Random Forest:</vt:lpstr>
      <vt:lpstr>Disadvantages of Random Forest:</vt:lpstr>
      <vt:lpstr>Steps to decide ensemble method for a ML tasks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Forest</dc:title>
  <dc:creator>Vishnu Murali</dc:creator>
  <cp:lastModifiedBy>Jaya R</cp:lastModifiedBy>
  <cp:revision>26</cp:revision>
  <dcterms:created xsi:type="dcterms:W3CDTF">2021-12-27T02:19:56Z</dcterms:created>
  <dcterms:modified xsi:type="dcterms:W3CDTF">2026-01-18T08:24:26Z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2021-02-12T00:00:00Z</vt:filetime>
  </property>
  <property fmtid="{D5CDD505-2E9C-101B-9397-08002B2CF9AE}" pid="3" name="Creator">
    <vt:lpwstr>Microsoft® PowerPoint® 2016</vt:lpwstr>
  </property>
  <property fmtid="{D5CDD505-2E9C-101B-9397-08002B2CF9AE}" pid="4" name="LastSaved">
    <vt:filetime>2021-12-27T00:00:00Z</vt:filetime>
  </property>
</Properties>
</file>