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45"/>
  </p:notesMasterIdLst>
  <p:sldIdLst>
    <p:sldId id="413" r:id="rId2"/>
    <p:sldId id="331" r:id="rId3"/>
    <p:sldId id="417" r:id="rId4"/>
    <p:sldId id="423" r:id="rId5"/>
    <p:sldId id="332" r:id="rId6"/>
    <p:sldId id="411" r:id="rId7"/>
    <p:sldId id="333" r:id="rId8"/>
    <p:sldId id="334" r:id="rId9"/>
    <p:sldId id="414" r:id="rId10"/>
    <p:sldId id="415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8" r:id="rId21"/>
    <p:sldId id="349" r:id="rId22"/>
    <p:sldId id="350" r:id="rId23"/>
    <p:sldId id="351" r:id="rId24"/>
    <p:sldId id="425" r:id="rId25"/>
    <p:sldId id="352" r:id="rId26"/>
    <p:sldId id="353" r:id="rId27"/>
    <p:sldId id="354" r:id="rId28"/>
    <p:sldId id="424" r:id="rId29"/>
    <p:sldId id="355" r:id="rId30"/>
    <p:sldId id="356" r:id="rId31"/>
    <p:sldId id="357" r:id="rId32"/>
    <p:sldId id="358" r:id="rId33"/>
    <p:sldId id="359" r:id="rId34"/>
    <p:sldId id="360" r:id="rId35"/>
    <p:sldId id="363" r:id="rId36"/>
    <p:sldId id="364" r:id="rId37"/>
    <p:sldId id="365" r:id="rId38"/>
    <p:sldId id="366" r:id="rId39"/>
    <p:sldId id="416" r:id="rId40"/>
    <p:sldId id="368" r:id="rId41"/>
    <p:sldId id="369" r:id="rId42"/>
    <p:sldId id="370" r:id="rId43"/>
    <p:sldId id="371" r:id="rId4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71">
          <p15:clr>
            <a:srgbClr val="9AA0A6"/>
          </p15:clr>
        </p15:guide>
        <p15:guide id="2" pos="266">
          <p15:clr>
            <a:srgbClr val="9AA0A6"/>
          </p15:clr>
        </p15:guide>
        <p15:guide id="3" pos="5584">
          <p15:clr>
            <a:srgbClr val="9AA0A6"/>
          </p15:clr>
        </p15:guide>
        <p15:guide id="5" pos="531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6" roundtripDataSignature="AMtx7mjMjC2JwrpJlo9rcQC3cjB4kVhj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79C9BC-5D2E-45C3-84D4-731D23DE3C60}">
  <a:tblStyle styleId="{C279C9BC-5D2E-45C3-84D4-731D23DE3C6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0C370AE-4622-4281-B525-4D7CB3AE672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631" autoAdjust="0"/>
    <p:restoredTop sz="94660"/>
  </p:normalViewPr>
  <p:slideViewPr>
    <p:cSldViewPr snapToGrid="0">
      <p:cViewPr varScale="1">
        <p:scale>
          <a:sx n="91" d="100"/>
          <a:sy n="91" d="100"/>
        </p:scale>
        <p:origin x="60" y="132"/>
      </p:cViewPr>
      <p:guideLst>
        <p:guide orient="horz" pos="871"/>
        <p:guide pos="266"/>
        <p:guide pos="5584"/>
        <p:guide pos="5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159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157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60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156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15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5617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1" name="Google Shape;771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7" name="Google Shape;777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5" name="Google Shape;765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3381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9" name="Google Shape;789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6" name="Google Shape;796;p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3" name="Google Shape;813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6" name="Google Shape;826;p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6" name="Google Shape;836;p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6" name="Google Shape;846;p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3" name="Google Shape;853;p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2" name="Google Shape;862;p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8" name="Google Shape;868;p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p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2" name="Google Shape;902;p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9" name="Google Shape;909;p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7" name="Google Shape;917;p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4" name="Google Shape;924;p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1" name="Google Shape;931;p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7" name="Google Shape;937;p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6" name="Google Shape;946;p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9" name="Google Shape;959;p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6" name="Google Shape;966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8" name="Google Shape;978;p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7" name="Google Shape;987;p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7" name="Google Shape;997;p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5" name="Google Shape;1005;p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9" name="Google Shape;1029;p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6" name="Google Shape;1036;p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2" name="Google Shape;1042;p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" name="Google Shape;1048;p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" name="Google Shape;1048;p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97657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1" name="Google Shape;1061;p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0" name="Google Shape;1070;p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2" name="Google Shape;1082;p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0" name="Google Shape;1090;p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8f81a92c8b_0_10"/>
          <p:cNvSpPr txBox="1">
            <a:spLocks noGrp="1"/>
          </p:cNvSpPr>
          <p:nvPr>
            <p:ph type="ctrTitle"/>
          </p:nvPr>
        </p:nvSpPr>
        <p:spPr>
          <a:xfrm>
            <a:off x="311700" y="2210400"/>
            <a:ext cx="8520600" cy="7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365F91"/>
              </a:buClr>
              <a:buSzPts val="3600"/>
              <a:buNone/>
              <a:defRPr sz="3600" b="1">
                <a:solidFill>
                  <a:srgbClr val="365F9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49524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8f81a92c8b_0_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g8f81a92c8b_0_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Google Shape;24;g8f81a92c8b_0_1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Google Shape;25;g8f81a92c8b_0_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93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8f81a92c8b_0_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g8f81a92c8b_0_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638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8f81a92c8b_0_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31" name="Google Shape;31;g8f81a92c8b_0_2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sz="2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" name="Google Shape;32;g8f81a92c8b_0_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805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vantages &amp; Disadvantages">
  <p:cSld name="Advantages &amp; Disadvantage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8f81a92c8b_0_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35" name="Google Shape;35;g8f81a92c8b_0_2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Helvetica Neue"/>
                <a:ea typeface="Helvetica Neue"/>
                <a:cs typeface="Helvetica Neue"/>
                <a:sym typeface="Helvetica Neue"/>
              </a:rPr>
              <a:t>Advantages &amp; Disadvantages</a:t>
            </a:r>
            <a:endParaRPr sz="2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" name="Google Shape;36;g8f81a92c8b_0_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9561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8f81a92c8b_0_3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" name="Google Shape;39;g8f81a92c8b_0_3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Google Shape;40;g8f81a92c8b_0_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603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8f81a92c8b_0_3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g8f81a92c8b_0_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559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8f81a92c8b_0_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g8f81a92c8b_0_3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" name="Google Shape;47;g8f81a92c8b_0_3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" name="Google Shape;48;g8f81a92c8b_0_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9" name="Google Shape;49;g8f81a92c8b_0_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299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urce">
  <p:cSld name="Sourc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f81a92c8b_0_45"/>
          <p:cNvSpPr txBox="1">
            <a:spLocks noGrp="1"/>
          </p:cNvSpPr>
          <p:nvPr>
            <p:ph type="subTitle" idx="1"/>
          </p:nvPr>
        </p:nvSpPr>
        <p:spPr>
          <a:xfrm>
            <a:off x="147300" y="4839475"/>
            <a:ext cx="1509900" cy="1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569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8f81a92c8b_0_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45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8f81a92c8b_0_4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g8f81a92c8b_0_4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7" name="Google Shape;57;g8f81a92c8b_0_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302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lide">
  <p:cSld name="Thank you slid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8f81a92c8b_0_56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solidFill>
                  <a:srgbClr val="365F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</a:t>
            </a:r>
            <a:r>
              <a:rPr lang="en-US" sz="5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200">
                <a:solidFill>
                  <a:srgbClr val="039BE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you!</a:t>
            </a:r>
            <a:endParaRPr sz="5200">
              <a:solidFill>
                <a:srgbClr val="99999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3" name="Google Shape;63;g8f81a92c8b_0_56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Happy Learning :)</a:t>
            </a:r>
            <a:endParaRPr sz="2800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230347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">
  <p:cSld name="Section Divid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f81a92c8b_0_5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Google Shape;66;g8f81a92c8b_0_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949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8f81a92c8b_0_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9" name="Google Shape;69;g8f81a92c8b_0_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0" name="Google Shape;70;g8f81a92c8b_0_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247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>
  <p:cSld name="Title and body 1 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8f81a92c8b_0_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g8f81a92c8b_0_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4" name="Google Shape;74;g8f81a92c8b_0_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0953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 and body 2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8f81a92c8b_0_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" name="Google Shape;77;g8f81a92c8b_0_7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8" name="Google Shape;78;g8f81a92c8b_0_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735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Content">
  <p:cSld name="Slide - Conten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8f81a92c8b_0_74"/>
          <p:cNvSpPr txBox="1">
            <a:spLocks noGrp="1"/>
          </p:cNvSpPr>
          <p:nvPr>
            <p:ph type="title"/>
          </p:nvPr>
        </p:nvSpPr>
        <p:spPr>
          <a:xfrm>
            <a:off x="422025" y="445025"/>
            <a:ext cx="673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" name="Google Shape;81;g8f81a92c8b_0_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82" name="Google Shape;82;g8f81a92c8b_0_74"/>
          <p:cNvSpPr txBox="1">
            <a:spLocks noGrp="1"/>
          </p:cNvSpPr>
          <p:nvPr>
            <p:ph type="subTitle" idx="1"/>
          </p:nvPr>
        </p:nvSpPr>
        <p:spPr>
          <a:xfrm>
            <a:off x="422025" y="974925"/>
            <a:ext cx="53412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000000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" name="Google Shape;83;g8f81a92c8b_0_74"/>
          <p:cNvSpPr txBox="1">
            <a:spLocks noGrp="1"/>
          </p:cNvSpPr>
          <p:nvPr>
            <p:ph type="body" idx="2"/>
          </p:nvPr>
        </p:nvSpPr>
        <p:spPr>
          <a:xfrm>
            <a:off x="422025" y="1571700"/>
            <a:ext cx="7332900" cy="294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64126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ease Note Slide">
  <p:cSld name="Please Not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8f81a92c8b_0_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86" name="Google Shape;86;g8f81a92c8b_0_79"/>
          <p:cNvPicPr preferRelativeResize="0"/>
          <p:nvPr/>
        </p:nvPicPr>
        <p:blipFill rotWithShape="1">
          <a:blip r:embed="rId2">
            <a:alphaModFix/>
          </a:blip>
          <a:srcRect l="11594" t="4095" r="10693" b="4688"/>
          <a:stretch/>
        </p:blipFill>
        <p:spPr>
          <a:xfrm>
            <a:off x="422025" y="162950"/>
            <a:ext cx="944050" cy="8119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8f81a92c8b_0_79"/>
          <p:cNvSpPr txBox="1">
            <a:spLocks noGrp="1"/>
          </p:cNvSpPr>
          <p:nvPr>
            <p:ph type="subTitle" idx="1"/>
          </p:nvPr>
        </p:nvSpPr>
        <p:spPr>
          <a:xfrm>
            <a:off x="422025" y="974925"/>
            <a:ext cx="5341200" cy="472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000000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" name="Google Shape;88;g8f81a92c8b_0_79"/>
          <p:cNvSpPr txBox="1">
            <a:spLocks noGrp="1"/>
          </p:cNvSpPr>
          <p:nvPr>
            <p:ph type="body" idx="2"/>
          </p:nvPr>
        </p:nvSpPr>
        <p:spPr>
          <a:xfrm>
            <a:off x="422025" y="1571700"/>
            <a:ext cx="7332900" cy="294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927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Y Slide">
  <p:cSld name="DIY Sl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f81a92c8b_0_8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91" name="Google Shape;91;g8f81a92c8b_0_84"/>
          <p:cNvPicPr preferRelativeResize="0"/>
          <p:nvPr/>
        </p:nvPicPr>
        <p:blipFill rotWithShape="1">
          <a:blip r:embed="rId2">
            <a:alphaModFix/>
          </a:blip>
          <a:srcRect l="18269" t="18234" r="27374" b="23340"/>
          <a:stretch/>
        </p:blipFill>
        <p:spPr>
          <a:xfrm>
            <a:off x="422025" y="300050"/>
            <a:ext cx="1067350" cy="6748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8f81a92c8b_0_84"/>
          <p:cNvSpPr txBox="1">
            <a:spLocks noGrp="1"/>
          </p:cNvSpPr>
          <p:nvPr>
            <p:ph type="subTitle" idx="1"/>
          </p:nvPr>
        </p:nvSpPr>
        <p:spPr>
          <a:xfrm>
            <a:off x="422025" y="974925"/>
            <a:ext cx="53412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000000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g8f81a92c8b_0_84"/>
          <p:cNvSpPr txBox="1">
            <a:spLocks noGrp="1"/>
          </p:cNvSpPr>
          <p:nvPr>
            <p:ph type="body" idx="2"/>
          </p:nvPr>
        </p:nvSpPr>
        <p:spPr>
          <a:xfrm>
            <a:off x="422025" y="1571700"/>
            <a:ext cx="7332900" cy="294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Minus Sign 5">
            <a:extLst>
              <a:ext uri="{FF2B5EF4-FFF2-40B4-BE49-F238E27FC236}">
                <a16:creationId xmlns:a16="http://schemas.microsoft.com/office/drawing/2014/main" id="{27C9FF32-D96F-4FD2-91C6-E14F8A2AAB7C}"/>
              </a:ext>
            </a:extLst>
          </p:cNvPr>
          <p:cNvSpPr/>
          <p:nvPr userDrawn="1"/>
        </p:nvSpPr>
        <p:spPr>
          <a:xfrm>
            <a:off x="2306940" y="4900067"/>
            <a:ext cx="4530119" cy="194572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303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&amp;A">
  <p:cSld name="Q&amp;A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g8f81a92c8b_0_89"/>
          <p:cNvGrpSpPr/>
          <p:nvPr/>
        </p:nvGrpSpPr>
        <p:grpSpPr>
          <a:xfrm>
            <a:off x="0" y="0"/>
            <a:ext cx="381000" cy="1371600"/>
            <a:chOff x="0" y="0"/>
            <a:chExt cx="381000" cy="1371600"/>
          </a:xfrm>
        </p:grpSpPr>
        <p:sp>
          <p:nvSpPr>
            <p:cNvPr id="96" name="Google Shape;96;g8f81a92c8b_0_89"/>
            <p:cNvSpPr/>
            <p:nvPr/>
          </p:nvSpPr>
          <p:spPr>
            <a:xfrm>
              <a:off x="0" y="0"/>
              <a:ext cx="381000" cy="685800"/>
            </a:xfrm>
            <a:prstGeom prst="rect">
              <a:avLst/>
            </a:prstGeom>
            <a:solidFill>
              <a:srgbClr val="0F75B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g8f81a92c8b_0_89"/>
            <p:cNvSpPr/>
            <p:nvPr/>
          </p:nvSpPr>
          <p:spPr>
            <a:xfrm>
              <a:off x="0" y="685800"/>
              <a:ext cx="381000" cy="685800"/>
            </a:xfrm>
            <a:prstGeom prst="rect">
              <a:avLst/>
            </a:prstGeom>
            <a:solidFill>
              <a:srgbClr val="25AA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g8f81a92c8b_0_89"/>
          <p:cNvSpPr txBox="1">
            <a:spLocks noGrp="1"/>
          </p:cNvSpPr>
          <p:nvPr>
            <p:ph type="subTitle" idx="1"/>
          </p:nvPr>
        </p:nvSpPr>
        <p:spPr>
          <a:xfrm>
            <a:off x="422025" y="974925"/>
            <a:ext cx="5341200" cy="396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000000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g8f81a92c8b_0_89"/>
          <p:cNvSpPr txBox="1">
            <a:spLocks noGrp="1"/>
          </p:cNvSpPr>
          <p:nvPr>
            <p:ph type="body" idx="2"/>
          </p:nvPr>
        </p:nvSpPr>
        <p:spPr>
          <a:xfrm>
            <a:off x="422025" y="1571700"/>
            <a:ext cx="7332900" cy="294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01" name="Google Shape;101;g8f81a92c8b_0_89"/>
          <p:cNvPicPr preferRelativeResize="0"/>
          <p:nvPr/>
        </p:nvPicPr>
        <p:blipFill rotWithShape="1">
          <a:blip r:embed="rId2">
            <a:alphaModFix/>
          </a:blip>
          <a:srcRect t="17385" b="22683"/>
          <a:stretch/>
        </p:blipFill>
        <p:spPr>
          <a:xfrm>
            <a:off x="560425" y="294500"/>
            <a:ext cx="1305925" cy="7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Minus Sign 7">
            <a:extLst>
              <a:ext uri="{FF2B5EF4-FFF2-40B4-BE49-F238E27FC236}">
                <a16:creationId xmlns:a16="http://schemas.microsoft.com/office/drawing/2014/main" id="{1EF35BDF-4C8A-4C76-A4B8-3F53DEB23B4F}"/>
              </a:ext>
            </a:extLst>
          </p:cNvPr>
          <p:cNvSpPr/>
          <p:nvPr userDrawn="1"/>
        </p:nvSpPr>
        <p:spPr>
          <a:xfrm>
            <a:off x="2306940" y="4900067"/>
            <a:ext cx="4530119" cy="194572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44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Image + Content">
  <p:cSld name="Slide - Image +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6"/>
          <p:cNvSpPr txBox="1">
            <a:spLocks noGrp="1"/>
          </p:cNvSpPr>
          <p:nvPr>
            <p:ph type="body" idx="1"/>
          </p:nvPr>
        </p:nvSpPr>
        <p:spPr>
          <a:xfrm>
            <a:off x="4315125" y="15717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1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" name="Google Shape;34;p156"/>
          <p:cNvSpPr txBox="1">
            <a:spLocks noGrp="1"/>
          </p:cNvSpPr>
          <p:nvPr>
            <p:ph type="title"/>
          </p:nvPr>
        </p:nvSpPr>
        <p:spPr>
          <a:xfrm>
            <a:off x="422025" y="4450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6"/>
          <p:cNvSpPr txBox="1">
            <a:spLocks noGrp="1"/>
          </p:cNvSpPr>
          <p:nvPr>
            <p:ph type="subTitle" idx="2"/>
          </p:nvPr>
        </p:nvSpPr>
        <p:spPr>
          <a:xfrm>
            <a:off x="422025" y="9749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" name="Minus Sign 5">
            <a:extLst>
              <a:ext uri="{FF2B5EF4-FFF2-40B4-BE49-F238E27FC236}">
                <a16:creationId xmlns:a16="http://schemas.microsoft.com/office/drawing/2014/main" id="{C4EED1FB-EE91-4C9F-972F-456BFDA85C62}"/>
              </a:ext>
            </a:extLst>
          </p:cNvPr>
          <p:cNvSpPr/>
          <p:nvPr userDrawn="1"/>
        </p:nvSpPr>
        <p:spPr>
          <a:xfrm>
            <a:off x="2306940" y="4900067"/>
            <a:ext cx="4530119" cy="194572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38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91152377d6_0_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65F91"/>
              </a:buClr>
              <a:buSzPts val="5200"/>
              <a:buFont typeface="Helvetica Neue Light"/>
              <a:buNone/>
              <a:defRPr sz="5200">
                <a:solidFill>
                  <a:srgbClr val="365F9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3" name="Google Shape;13;g91152377d6_0_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9BE5"/>
              </a:buClr>
              <a:buSzPts val="2800"/>
              <a:buNone/>
              <a:defRPr sz="2800">
                <a:solidFill>
                  <a:srgbClr val="039BE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g91152377d6_0_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D1ECE8CC-6B9B-4236-9CD9-F8FA7172B89C}"/>
              </a:ext>
            </a:extLst>
          </p:cNvPr>
          <p:cNvSpPr/>
          <p:nvPr userDrawn="1"/>
        </p:nvSpPr>
        <p:spPr>
          <a:xfrm>
            <a:off x="2306940" y="4900067"/>
            <a:ext cx="4530119" cy="194572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85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8f81a92c8b_0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g8f81a92c8b_0_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g8f81a92c8b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9" name="Google Shape;9;g8f81a92c8b_0_0"/>
          <p:cNvSpPr txBox="1"/>
          <p:nvPr/>
        </p:nvSpPr>
        <p:spPr>
          <a:xfrm>
            <a:off x="2234400" y="4867800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E7E7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Proprietary content. © Great Learning. All Rights Reserved. Unauthorized use or distribution prohibited.</a:t>
            </a:r>
            <a:endParaRPr sz="6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4A947285-86C5-4EB2-A06A-7A96C5CD41C2}"/>
              </a:ext>
            </a:extLst>
          </p:cNvPr>
          <p:cNvSpPr/>
          <p:nvPr userDrawn="1"/>
        </p:nvSpPr>
        <p:spPr>
          <a:xfrm>
            <a:off x="2306940" y="4900067"/>
            <a:ext cx="4530119" cy="194572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479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6" r:id="rId21"/>
    <p:sldLayoutId id="2147483697" r:id="rId22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>
            <a:spLocks noGrp="1"/>
          </p:cNvSpPr>
          <p:nvPr>
            <p:ph type="ctrTitle"/>
          </p:nvPr>
        </p:nvSpPr>
        <p:spPr>
          <a:xfrm>
            <a:off x="311700" y="793273"/>
            <a:ext cx="8713800" cy="3077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endParaRPr sz="5000"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endParaRPr sz="5000"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endParaRPr sz="5000"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endParaRPr sz="5000"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endParaRPr sz="5000"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GB" sz="3200" b="1" dirty="0">
                <a:solidFill>
                  <a:srgbClr val="4A86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Machine Learning</a:t>
            </a:r>
            <a:br>
              <a:rPr lang="en-GB" sz="3200" b="1" dirty="0">
                <a:solidFill>
                  <a:srgbClr val="4A86E8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3200" b="1" dirty="0">
              <a:solidFill>
                <a:srgbClr val="4A86E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GB" sz="5000" b="1" dirty="0">
                <a:solidFill>
                  <a:srgbClr val="039BE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Assumptions of Regression and Model Evaluation</a:t>
            </a:r>
            <a:endParaRPr sz="5000" b="1" dirty="0">
              <a:solidFill>
                <a:srgbClr val="039BE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Minus Sign 1">
            <a:extLst>
              <a:ext uri="{FF2B5EF4-FFF2-40B4-BE49-F238E27FC236}">
                <a16:creationId xmlns:a16="http://schemas.microsoft.com/office/drawing/2014/main" id="{507C1C79-635F-4FFD-A1A8-D4B40CCF400B}"/>
              </a:ext>
            </a:extLst>
          </p:cNvPr>
          <p:cNvSpPr/>
          <p:nvPr/>
        </p:nvSpPr>
        <p:spPr>
          <a:xfrm>
            <a:off x="2306940" y="4900067"/>
            <a:ext cx="4530119" cy="194572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46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7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Assumptions of linear regression</a:t>
            </a:r>
            <a:endParaRPr dirty="0"/>
          </a:p>
        </p:txBody>
      </p:sp>
      <p:sp>
        <p:nvSpPr>
          <p:cNvPr id="774" name="Google Shape;774;p76"/>
          <p:cNvSpPr txBox="1">
            <a:spLocks noGrp="1"/>
          </p:cNvSpPr>
          <p:nvPr>
            <p:ph type="body" idx="2"/>
          </p:nvPr>
        </p:nvSpPr>
        <p:spPr>
          <a:xfrm>
            <a:off x="324900" y="1400550"/>
            <a:ext cx="8396400" cy="3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The dependent variable must be </a:t>
            </a:r>
            <a:r>
              <a:rPr lang="en-GB" dirty="0">
                <a:solidFill>
                  <a:srgbClr val="25AAE2"/>
                </a:solidFill>
              </a:rPr>
              <a:t>numeric</a:t>
            </a:r>
            <a:endParaRPr dirty="0">
              <a:solidFill>
                <a:srgbClr val="25AAE2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rgbClr val="25AAE2"/>
                </a:solidFill>
              </a:rPr>
              <a:t>Linear relationship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between dependent and independent variables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dk1"/>
                </a:solidFill>
              </a:rPr>
              <a:t>Predictors must not show </a:t>
            </a:r>
            <a:r>
              <a:rPr lang="en-GB" dirty="0" err="1">
                <a:solidFill>
                  <a:srgbClr val="25AAE2"/>
                </a:solidFill>
              </a:rPr>
              <a:t>multicollinearity</a:t>
            </a:r>
            <a:endParaRPr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rgbClr val="25AAE2"/>
                </a:solidFill>
              </a:rPr>
              <a:t>Independence of observations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should exist (Absence of Autocorrelation)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The error terms should be </a:t>
            </a:r>
            <a:r>
              <a:rPr lang="en-GB" dirty="0">
                <a:solidFill>
                  <a:srgbClr val="25AAE2"/>
                </a:solidFill>
              </a:rPr>
              <a:t>homoscedastic</a:t>
            </a:r>
            <a:endParaRPr dirty="0">
              <a:solidFill>
                <a:srgbClr val="25AAE2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The error terms must follow </a:t>
            </a:r>
            <a:r>
              <a:rPr lang="en-GB" dirty="0">
                <a:solidFill>
                  <a:srgbClr val="25AAE2"/>
                </a:solidFill>
              </a:rPr>
              <a:t>normal distribution</a:t>
            </a:r>
            <a:endParaRPr dirty="0">
              <a:solidFill>
                <a:srgbClr val="25AAE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A5BF4-AE74-44CB-B570-4F5D58063F0F}"/>
              </a:ext>
            </a:extLst>
          </p:cNvPr>
          <p:cNvSpPr txBox="1"/>
          <p:nvPr/>
        </p:nvSpPr>
        <p:spPr>
          <a:xfrm>
            <a:off x="1720607" y="4376701"/>
            <a:ext cx="62088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Better assumptions → Better models → Better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5EDFD-7566-4B4A-9344-7F4FC6E21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DAA1D-FE38-4440-BBC9-745BFD2569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56A51-4330-43DD-9B20-7EFDABB9C04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A30E5-E645-4EDA-8285-4A3750187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9006"/>
            <a:ext cx="9144000" cy="400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29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43FB3-551C-4E6C-8A73-2120863B1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4B1D0-40FE-4AB6-8CB9-C7DD6CB155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B8A81-B58B-4E43-BF90-18ED8A9E4A0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921B3F-36A2-4ADD-9457-44F7E5A73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809"/>
            <a:ext cx="9144000" cy="453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59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Assumptions of linear regression</a:t>
            </a:r>
            <a:endParaRPr dirty="0"/>
          </a:p>
        </p:txBody>
      </p:sp>
      <p:sp>
        <p:nvSpPr>
          <p:cNvPr id="780" name="Google Shape;780;p77"/>
          <p:cNvSpPr txBox="1">
            <a:spLocks noGrp="1"/>
          </p:cNvSpPr>
          <p:nvPr>
            <p:ph type="body" idx="2"/>
          </p:nvPr>
        </p:nvSpPr>
        <p:spPr>
          <a:xfrm>
            <a:off x="324900" y="1400550"/>
            <a:ext cx="3277200" cy="86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 dirty="0">
                <a:solidFill>
                  <a:schemeClr val="tx1"/>
                </a:solidFill>
              </a:rPr>
              <a:t>Numeric dependent variable</a:t>
            </a:r>
            <a:endParaRPr sz="1600"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-GB" sz="1600" dirty="0">
                <a:solidFill>
                  <a:schemeClr val="tx1"/>
                </a:solidFill>
              </a:rPr>
              <a:t>Absence of </a:t>
            </a:r>
            <a:r>
              <a:rPr lang="en-GB" sz="1600" dirty="0" err="1">
                <a:solidFill>
                  <a:schemeClr val="tx1"/>
                </a:solidFill>
              </a:rPr>
              <a:t>Multicollinearity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781" name="Google Shape;781;p77"/>
          <p:cNvSpPr txBox="1"/>
          <p:nvPr/>
        </p:nvSpPr>
        <p:spPr>
          <a:xfrm>
            <a:off x="4605900" y="3076525"/>
            <a:ext cx="4384200" cy="164177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Helvetica Neue"/>
                <a:ea typeface="Avenir"/>
                <a:cs typeface="Avenir"/>
                <a:sym typeface="Avenir"/>
              </a:rPr>
              <a:t>Linear relationship </a:t>
            </a:r>
            <a:endParaRPr sz="1600" b="0" i="0" u="none" strike="noStrike" cap="none" dirty="0">
              <a:solidFill>
                <a:schemeClr val="dk1"/>
              </a:solidFill>
              <a:latin typeface="Helvetica Neue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Helvetica Neue"/>
                <a:ea typeface="Avenir"/>
                <a:cs typeface="Avenir"/>
                <a:sym typeface="Avenir"/>
              </a:rPr>
              <a:t>Absence of Autocorrelation</a:t>
            </a:r>
            <a:endParaRPr sz="1600" b="0" i="0" u="none" strike="noStrike" cap="none" dirty="0">
              <a:solidFill>
                <a:schemeClr val="dk1"/>
              </a:solidFill>
              <a:latin typeface="Helvetica Neue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Helvetica Neue"/>
                <a:ea typeface="Avenir"/>
                <a:cs typeface="Avenir"/>
                <a:sym typeface="Avenir"/>
              </a:rPr>
              <a:t>Error terms should be homoscedastic</a:t>
            </a:r>
            <a:endParaRPr sz="1600" b="0" i="0" u="none" strike="noStrike" cap="none" dirty="0">
              <a:solidFill>
                <a:schemeClr val="dk1"/>
              </a:solidFill>
              <a:latin typeface="Helvetica Neue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Helvetica Neue"/>
                <a:ea typeface="Avenir"/>
                <a:cs typeface="Avenir"/>
                <a:sym typeface="Avenir"/>
              </a:rPr>
              <a:t>Error terms must follow N(0,σ</a:t>
            </a:r>
            <a:r>
              <a:rPr lang="en-GB" sz="1600" b="0" i="0" u="none" strike="noStrike" cap="none" baseline="30000" dirty="0">
                <a:solidFill>
                  <a:schemeClr val="dk1"/>
                </a:solidFill>
                <a:latin typeface="Helvetica Neue"/>
                <a:ea typeface="Avenir"/>
                <a:cs typeface="Avenir"/>
                <a:sym typeface="Avenir"/>
              </a:rPr>
              <a:t>2</a:t>
            </a:r>
            <a:r>
              <a:rPr lang="en-GB" sz="1600" b="0" i="0" u="none" strike="noStrike" cap="none" dirty="0">
                <a:solidFill>
                  <a:schemeClr val="dk1"/>
                </a:solidFill>
                <a:latin typeface="Helvetica Neue"/>
                <a:ea typeface="Avenir"/>
                <a:cs typeface="Avenir"/>
                <a:sym typeface="Avenir"/>
              </a:rPr>
              <a:t>)</a:t>
            </a:r>
            <a:endParaRPr sz="1600" b="0" i="0" u="none" strike="noStrike" cap="none" dirty="0">
              <a:solidFill>
                <a:schemeClr val="dk1"/>
              </a:solidFill>
              <a:latin typeface="Helvetica Neue"/>
              <a:ea typeface="Avenir"/>
              <a:cs typeface="Avenir"/>
              <a:sym typeface="Avenir"/>
            </a:endParaRPr>
          </a:p>
        </p:txBody>
      </p:sp>
      <p:sp>
        <p:nvSpPr>
          <p:cNvPr id="782" name="Google Shape;782;p77"/>
          <p:cNvSpPr txBox="1"/>
          <p:nvPr/>
        </p:nvSpPr>
        <p:spPr>
          <a:xfrm>
            <a:off x="3602100" y="2265750"/>
            <a:ext cx="1003800" cy="810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600" b="0" i="0" u="none" strike="noStrike" cap="none" dirty="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Build a model</a:t>
            </a:r>
            <a:endParaRPr sz="1600" b="0" i="0" u="none" strike="noStrike" cap="none" dirty="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83" name="Google Shape;783;p77"/>
          <p:cNvSpPr txBox="1"/>
          <p:nvPr/>
        </p:nvSpPr>
        <p:spPr>
          <a:xfrm>
            <a:off x="4694460" y="1542150"/>
            <a:ext cx="271952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600" b="0" i="0" u="none" strike="noStrike" cap="none" dirty="0">
                <a:solidFill>
                  <a:srgbClr val="25AAE2"/>
                </a:solidFill>
                <a:latin typeface="Helvetica Neue"/>
                <a:ea typeface="Avenir"/>
                <a:cs typeface="Avenir"/>
                <a:sym typeface="Avenir"/>
              </a:rPr>
              <a:t>Assumption to be checked before building a model</a:t>
            </a:r>
            <a:endParaRPr sz="1600" b="0" i="0" u="none" strike="noStrike" cap="none" dirty="0">
              <a:solidFill>
                <a:srgbClr val="25AAE2"/>
              </a:solidFill>
              <a:latin typeface="Helvetica Neue"/>
              <a:ea typeface="Avenir"/>
              <a:cs typeface="Avenir"/>
              <a:sym typeface="Avenir"/>
            </a:endParaRPr>
          </a:p>
        </p:txBody>
      </p:sp>
      <p:sp>
        <p:nvSpPr>
          <p:cNvPr id="784" name="Google Shape;784;p77"/>
          <p:cNvSpPr txBox="1"/>
          <p:nvPr/>
        </p:nvSpPr>
        <p:spPr>
          <a:xfrm>
            <a:off x="1033730" y="3618163"/>
            <a:ext cx="261259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600" b="0" i="0" u="none" strike="noStrike" cap="none" dirty="0">
                <a:solidFill>
                  <a:srgbClr val="25AAE2"/>
                </a:solidFill>
                <a:latin typeface="Helvetica Neue"/>
                <a:ea typeface="Avenir"/>
                <a:cs typeface="Avenir"/>
                <a:sym typeface="Avenir"/>
              </a:rPr>
              <a:t>Assumption to be checked after building a model</a:t>
            </a:r>
            <a:endParaRPr sz="1600" b="0" i="0" u="none" strike="noStrike" cap="none" dirty="0">
              <a:solidFill>
                <a:srgbClr val="25AAE2"/>
              </a:solidFill>
              <a:latin typeface="Helvetica Neue"/>
              <a:ea typeface="Avenir"/>
              <a:cs typeface="Avenir"/>
              <a:sym typeface="Avenir"/>
            </a:endParaRPr>
          </a:p>
        </p:txBody>
      </p:sp>
      <p:cxnSp>
        <p:nvCxnSpPr>
          <p:cNvPr id="785" name="Google Shape;785;p77"/>
          <p:cNvCxnSpPr>
            <a:stCxn id="783" idx="1"/>
            <a:endCxn id="780" idx="3"/>
          </p:cNvCxnSpPr>
          <p:nvPr/>
        </p:nvCxnSpPr>
        <p:spPr>
          <a:xfrm flipH="1">
            <a:off x="3602100" y="1828500"/>
            <a:ext cx="1092360" cy="4650"/>
          </a:xfrm>
          <a:prstGeom prst="straightConnector1">
            <a:avLst/>
          </a:prstGeom>
          <a:noFill/>
          <a:ln w="19050" cap="flat" cmpd="sng">
            <a:solidFill>
              <a:srgbClr val="25AAE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86" name="Google Shape;786;p77"/>
          <p:cNvCxnSpPr>
            <a:stCxn id="781" idx="1"/>
            <a:endCxn id="784" idx="3"/>
          </p:cNvCxnSpPr>
          <p:nvPr/>
        </p:nvCxnSpPr>
        <p:spPr>
          <a:xfrm flipH="1">
            <a:off x="3646324" y="3897415"/>
            <a:ext cx="959576" cy="7098"/>
          </a:xfrm>
          <a:prstGeom prst="straightConnector1">
            <a:avLst/>
          </a:prstGeom>
          <a:noFill/>
          <a:ln w="19050" cap="flat" cmpd="sng">
            <a:solidFill>
              <a:srgbClr val="25AAE2"/>
            </a:solidFill>
            <a:prstDash val="solid"/>
            <a:round/>
            <a:headEnd type="triangle" w="med" len="med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7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GB" dirty="0">
                <a:solidFill>
                  <a:srgbClr val="365F91"/>
                </a:solidFill>
                <a:latin typeface="Helvetica Neue Light"/>
                <a:ea typeface="Helvetica Neue Light"/>
                <a:cs typeface="Helvetica Neue Light"/>
              </a:rPr>
              <a:t>Tests for Assumptions of Linear Regression</a:t>
            </a:r>
            <a:endParaRPr dirty="0">
              <a:solidFill>
                <a:srgbClr val="365F91"/>
              </a:solidFill>
              <a:latin typeface="Helvetica Neue Light"/>
              <a:ea typeface="Helvetica Neue Light"/>
              <a:cs typeface="Helvetica Neue Light"/>
            </a:endParaRPr>
          </a:p>
        </p:txBody>
      </p:sp>
      <p:sp>
        <p:nvSpPr>
          <p:cNvPr id="768" name="Google Shape;768;p75"/>
          <p:cNvSpPr txBox="1"/>
          <p:nvPr/>
        </p:nvSpPr>
        <p:spPr>
          <a:xfrm>
            <a:off x="1358375" y="3861450"/>
            <a:ext cx="28695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437762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Tests before model building</a:t>
            </a:r>
            <a:endParaRPr dirty="0"/>
          </a:p>
        </p:txBody>
      </p:sp>
      <p:sp>
        <p:nvSpPr>
          <p:cNvPr id="792" name="Google Shape;792;p78"/>
          <p:cNvSpPr txBox="1">
            <a:spLocks noGrp="1"/>
          </p:cNvSpPr>
          <p:nvPr>
            <p:ph type="body" idx="2"/>
          </p:nvPr>
        </p:nvSpPr>
        <p:spPr>
          <a:xfrm>
            <a:off x="324900" y="1400550"/>
            <a:ext cx="8505000" cy="27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The dependent variable must be numeric</a:t>
            </a:r>
            <a:endParaRPr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SzPts val="1600"/>
              <a:buNone/>
            </a:pP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400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Predictors must not show </a:t>
            </a:r>
            <a:r>
              <a:rPr lang="en-GB" dirty="0" err="1">
                <a:solidFill>
                  <a:schemeClr val="tx1"/>
                </a:solidFill>
              </a:rPr>
              <a:t>multicollinearity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93" name="Google Shape;793;p78"/>
          <p:cNvSpPr/>
          <p:nvPr/>
        </p:nvSpPr>
        <p:spPr>
          <a:xfrm>
            <a:off x="743415" y="1400550"/>
            <a:ext cx="4505242" cy="443739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5AA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Is the dependent variable numeric?</a:t>
            </a:r>
            <a:endParaRPr dirty="0"/>
          </a:p>
        </p:txBody>
      </p:sp>
      <p:sp>
        <p:nvSpPr>
          <p:cNvPr id="799" name="Google Shape;799;p79"/>
          <p:cNvSpPr txBox="1">
            <a:spLocks noGrp="1"/>
          </p:cNvSpPr>
          <p:nvPr>
            <p:ph type="body" idx="2"/>
          </p:nvPr>
        </p:nvSpPr>
        <p:spPr>
          <a:xfrm>
            <a:off x="422025" y="1571700"/>
            <a:ext cx="4392000" cy="3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 dirty="0">
                <a:solidFill>
                  <a:schemeClr val="tx1"/>
                </a:solidFill>
              </a:rPr>
              <a:t>Regression Analysis requires the target variable to be numeric in nature</a:t>
            </a:r>
            <a:endParaRPr sz="1600"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600"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600"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 dirty="0">
                <a:solidFill>
                  <a:schemeClr val="tx1"/>
                </a:solidFill>
              </a:rPr>
              <a:t>For example: returns, sales of a product, yield of a crop, risk in financial services</a:t>
            </a:r>
            <a:endParaRPr sz="1600"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600"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600"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 dirty="0">
                <a:solidFill>
                  <a:schemeClr val="tx1"/>
                </a:solidFill>
              </a:rPr>
              <a:t>In context with our example, we see that Premium is numeric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800" name="Google Shape;800;p79"/>
          <p:cNvPicPr preferRelativeResize="0"/>
          <p:nvPr/>
        </p:nvPicPr>
        <p:blipFill rotWithShape="1">
          <a:blip r:embed="rId3">
            <a:alphaModFix/>
          </a:blip>
          <a:srcRect r="2343"/>
          <a:stretch/>
        </p:blipFill>
        <p:spPr>
          <a:xfrm>
            <a:off x="5737098" y="1115122"/>
            <a:ext cx="2414275" cy="3556791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05;p80"/>
          <p:cNvSpPr txBox="1">
            <a:spLocks noGrp="1"/>
          </p:cNvSpPr>
          <p:nvPr>
            <p:ph type="body" idx="2"/>
          </p:nvPr>
        </p:nvSpPr>
        <p:spPr>
          <a:xfrm>
            <a:off x="438625" y="1600942"/>
            <a:ext cx="7892400" cy="2178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tx1"/>
                </a:solidFill>
                <a:latin typeface="Helvetica Neue"/>
              </a:rPr>
              <a:t>Question: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600" dirty="0">
              <a:solidFill>
                <a:schemeClr val="tx1"/>
              </a:solidFill>
              <a:latin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tx1"/>
                </a:solidFill>
                <a:latin typeface="Helvetica Neue"/>
              </a:rPr>
              <a:t>If our target variable is: 0, 1, 1, 0, 0, where 0 indicates presence of a disease and 1 indicates absence.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tx1"/>
              </a:solidFill>
              <a:latin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tx1"/>
                </a:solidFill>
                <a:latin typeface="Helvetica Neue"/>
              </a:rPr>
              <a:t>Is it appropriate to use regression to find the whether the person has a disease?</a:t>
            </a:r>
            <a:endParaRPr sz="1600" dirty="0">
              <a:solidFill>
                <a:schemeClr val="tx1"/>
              </a:solidFill>
              <a:latin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tx1"/>
              </a:solidFill>
              <a:latin typeface="Helvetica Neue"/>
            </a:endParaRPr>
          </a:p>
        </p:txBody>
      </p:sp>
      <p:sp>
        <p:nvSpPr>
          <p:cNvPr id="7" name="Google Shape;798;p79"/>
          <p:cNvSpPr txBox="1">
            <a:spLocks noGrp="1"/>
          </p:cNvSpPr>
          <p:nvPr>
            <p:ph type="title"/>
          </p:nvPr>
        </p:nvSpPr>
        <p:spPr>
          <a:xfrm>
            <a:off x="422025" y="4450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>
                <a:solidFill>
                  <a:srgbClr val="0070C0"/>
                </a:solidFill>
              </a:rPr>
              <a:t>Q &amp; A</a:t>
            </a:r>
            <a:endParaRPr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997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98;p79"/>
          <p:cNvSpPr txBox="1">
            <a:spLocks noGrp="1"/>
          </p:cNvSpPr>
          <p:nvPr>
            <p:ph type="title"/>
          </p:nvPr>
        </p:nvSpPr>
        <p:spPr>
          <a:xfrm>
            <a:off x="422025" y="4450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>
                <a:solidFill>
                  <a:srgbClr val="0070C0"/>
                </a:solidFill>
              </a:rPr>
              <a:t>Q &amp; A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5" name="Google Shape;810;p81"/>
          <p:cNvSpPr txBox="1">
            <a:spLocks/>
          </p:cNvSpPr>
          <p:nvPr/>
        </p:nvSpPr>
        <p:spPr>
          <a:xfrm>
            <a:off x="447625" y="1367425"/>
            <a:ext cx="7892400" cy="29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 sz="1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 sz="1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 sz="1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 sz="1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 sz="1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 sz="1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 sz="1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Helvetica Neue"/>
              <a:buChar char="■"/>
              <a:defRPr sz="1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tx1"/>
                </a:solidFill>
              </a:rPr>
              <a:t>Question:</a:t>
            </a: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tx1"/>
                </a:solidFill>
              </a:rPr>
              <a:t>If our target variable is: 0, 1, 1, 0, 0, where 0 indicates presence of a disease and 1 indicates absence. Is it appropriate to use regression to find the whether the person has a disease?</a:t>
            </a: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Font typeface="Arial"/>
              <a:buNone/>
            </a:pPr>
            <a:endParaRPr lang="en-GB" sz="1600" dirty="0"/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Font typeface="Arial"/>
              <a:buNone/>
            </a:pPr>
            <a:endParaRPr lang="en-GB" sz="1600" dirty="0"/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Font typeface="Arial"/>
              <a:buNone/>
            </a:pPr>
            <a:endParaRPr lang="en-GB" sz="1600" b="1" dirty="0"/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tx1"/>
                </a:solidFill>
              </a:rPr>
              <a:t>Answer:</a:t>
            </a: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tx1"/>
                </a:solidFill>
              </a:rPr>
              <a:t>No. Because the target variable is a categorical variable. Thus, it is a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25AAE2"/>
                </a:solidFill>
              </a:rPr>
              <a:t>classification problem</a:t>
            </a:r>
            <a:r>
              <a:rPr lang="en-GB" sz="1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29645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Tests before model building</a:t>
            </a:r>
            <a:endParaRPr dirty="0"/>
          </a:p>
        </p:txBody>
      </p:sp>
      <p:sp>
        <p:nvSpPr>
          <p:cNvPr id="816" name="Google Shape;816;p82"/>
          <p:cNvSpPr txBox="1">
            <a:spLocks noGrp="1"/>
          </p:cNvSpPr>
          <p:nvPr>
            <p:ph type="body" idx="2"/>
          </p:nvPr>
        </p:nvSpPr>
        <p:spPr>
          <a:xfrm>
            <a:off x="324900" y="1400550"/>
            <a:ext cx="8505000" cy="27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The dependent variable must be numeric</a:t>
            </a:r>
            <a:endParaRPr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SzPts val="1600"/>
              <a:buNone/>
            </a:pP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400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Predictors must not show </a:t>
            </a:r>
            <a:r>
              <a:rPr lang="en-GB" dirty="0" err="1">
                <a:solidFill>
                  <a:schemeClr val="tx1"/>
                </a:solidFill>
              </a:rPr>
              <a:t>multicollinearity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17" name="Google Shape;817;p82"/>
          <p:cNvSpPr/>
          <p:nvPr/>
        </p:nvSpPr>
        <p:spPr>
          <a:xfrm>
            <a:off x="791238" y="2928074"/>
            <a:ext cx="4347690" cy="528357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5AA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8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What is </a:t>
            </a:r>
            <a:r>
              <a:rPr lang="en-GB" dirty="0" err="1"/>
              <a:t>multicollinearity</a:t>
            </a:r>
            <a:r>
              <a:rPr lang="en-GB" dirty="0"/>
              <a:t>?</a:t>
            </a:r>
            <a:endParaRPr dirty="0"/>
          </a:p>
        </p:txBody>
      </p:sp>
      <p:sp>
        <p:nvSpPr>
          <p:cNvPr id="823" name="Google Shape;823;p83"/>
          <p:cNvSpPr txBox="1">
            <a:spLocks noGrp="1"/>
          </p:cNvSpPr>
          <p:nvPr>
            <p:ph type="body" idx="2"/>
          </p:nvPr>
        </p:nvSpPr>
        <p:spPr>
          <a:xfrm>
            <a:off x="422025" y="1333812"/>
            <a:ext cx="8449200" cy="3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 dirty="0" err="1">
                <a:solidFill>
                  <a:schemeClr val="tx1"/>
                </a:solidFill>
              </a:rPr>
              <a:t>Multicollinearity</a:t>
            </a:r>
            <a:r>
              <a:rPr lang="en-GB" sz="1600" dirty="0">
                <a:solidFill>
                  <a:schemeClr val="tx1"/>
                </a:solidFill>
              </a:rPr>
              <a:t> arises when the independent variables have high correlation among each other</a:t>
            </a:r>
            <a:endParaRPr sz="1600"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16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Radio spend and Newspaper spend may be correlated.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Health_Benefits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Total_Benefits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may be correlated</a:t>
            </a:r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1600"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GB" sz="1600" dirty="0">
                <a:solidFill>
                  <a:schemeClr val="tx1"/>
                </a:solidFill>
              </a:rPr>
              <a:t>In presence of it, the best fit line obtained from OLS method is no more “best”</a:t>
            </a:r>
            <a:endParaRPr sz="1600"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 err="1"/>
              <a:t>Multicollinearity</a:t>
            </a:r>
            <a:r>
              <a:rPr lang="en-GB" dirty="0"/>
              <a:t> detection</a:t>
            </a:r>
            <a:endParaRPr dirty="0"/>
          </a:p>
        </p:txBody>
      </p:sp>
      <p:sp>
        <p:nvSpPr>
          <p:cNvPr id="829" name="Google Shape;829;p84"/>
          <p:cNvSpPr txBox="1">
            <a:spLocks noGrp="1"/>
          </p:cNvSpPr>
          <p:nvPr>
            <p:ph type="body" idx="2"/>
          </p:nvPr>
        </p:nvSpPr>
        <p:spPr>
          <a:xfrm>
            <a:off x="422025" y="1430454"/>
            <a:ext cx="4813090" cy="3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 dirty="0">
                <a:solidFill>
                  <a:schemeClr val="tx1"/>
                </a:solidFill>
              </a:rPr>
              <a:t>Determinant of correlation matrix</a:t>
            </a:r>
            <a:endParaRPr sz="1600"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Condition Number (CN)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Correlation matrix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4000"/>
              </a:spcAft>
              <a:buSzPts val="1600"/>
              <a:buChar char="●"/>
            </a:pPr>
            <a:r>
              <a:rPr lang="en-GB" sz="1600" dirty="0">
                <a:solidFill>
                  <a:schemeClr val="tx1"/>
                </a:solidFill>
              </a:rPr>
              <a:t>Variance Inflation Number (VIF)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830" name="Google Shape;830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5375" y="1430454"/>
            <a:ext cx="790500" cy="12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5375" y="2844304"/>
            <a:ext cx="790500" cy="12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84"/>
          <p:cNvSpPr txBox="1"/>
          <p:nvPr/>
        </p:nvSpPr>
        <p:spPr>
          <a:xfrm>
            <a:off x="4574949" y="1821354"/>
            <a:ext cx="3512225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tx1"/>
                </a:solidFill>
                <a:latin typeface="Helvetica Neue"/>
                <a:ea typeface="Avenir"/>
                <a:cs typeface="Avenir"/>
                <a:sym typeface="Avenir"/>
              </a:rPr>
              <a:t>Is there </a:t>
            </a:r>
            <a:r>
              <a:rPr lang="en-GB" sz="1600" b="0" i="0" u="none" strike="noStrike" cap="none" dirty="0" err="1">
                <a:solidFill>
                  <a:schemeClr val="tx1"/>
                </a:solidFill>
                <a:latin typeface="Helvetica Neue"/>
                <a:ea typeface="Avenir"/>
                <a:cs typeface="Avenir"/>
                <a:sym typeface="Avenir"/>
              </a:rPr>
              <a:t>multicollinearity</a:t>
            </a:r>
            <a:r>
              <a:rPr lang="en-GB" sz="1600" b="0" i="0" u="none" strike="noStrike" cap="none" dirty="0">
                <a:solidFill>
                  <a:schemeClr val="tx1"/>
                </a:solidFill>
                <a:latin typeface="Helvetica Neue"/>
                <a:ea typeface="Avenir"/>
                <a:cs typeface="Avenir"/>
                <a:sym typeface="Avenir"/>
              </a:rPr>
              <a:t> present?</a:t>
            </a:r>
            <a:endParaRPr sz="1600" b="0" i="0" u="none" strike="noStrike" cap="none" dirty="0">
              <a:solidFill>
                <a:schemeClr val="tx1"/>
              </a:solidFill>
              <a:latin typeface="Helvetica Neue"/>
              <a:ea typeface="Avenir"/>
              <a:cs typeface="Avenir"/>
              <a:sym typeface="Avenir"/>
            </a:endParaRPr>
          </a:p>
        </p:txBody>
      </p:sp>
      <p:sp>
        <p:nvSpPr>
          <p:cNvPr id="833" name="Google Shape;833;p84"/>
          <p:cNvSpPr txBox="1"/>
          <p:nvPr/>
        </p:nvSpPr>
        <p:spPr>
          <a:xfrm>
            <a:off x="4574950" y="3236929"/>
            <a:ext cx="40818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600" b="0" i="0" u="none" strike="noStrike" cap="none">
                <a:solidFill>
                  <a:schemeClr val="tx1"/>
                </a:solidFill>
                <a:latin typeface="Helvetica Neue"/>
                <a:ea typeface="Avenir"/>
                <a:cs typeface="Avenir"/>
                <a:sym typeface="Avenir"/>
              </a:rPr>
              <a:t>Which variables are involved in multicollinearity?</a:t>
            </a:r>
            <a:endParaRPr sz="1600" b="0" i="0" u="none" strike="noStrike" cap="none">
              <a:solidFill>
                <a:schemeClr val="tx1"/>
              </a:solidFill>
              <a:latin typeface="Helvetica Neue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Is there </a:t>
            </a:r>
            <a:r>
              <a:rPr lang="en-GB" dirty="0" err="1"/>
              <a:t>multicollinearity</a:t>
            </a:r>
            <a:r>
              <a:rPr lang="en-GB" dirty="0"/>
              <a:t>?</a:t>
            </a:r>
            <a:endParaRPr dirty="0"/>
          </a:p>
        </p:txBody>
      </p:sp>
      <p:sp>
        <p:nvSpPr>
          <p:cNvPr id="841" name="Google Shape;841;p85"/>
          <p:cNvSpPr txBox="1">
            <a:spLocks noGrp="1"/>
          </p:cNvSpPr>
          <p:nvPr>
            <p:ph type="subTitle" idx="1"/>
          </p:nvPr>
        </p:nvSpPr>
        <p:spPr>
          <a:xfrm>
            <a:off x="4974300" y="1725264"/>
            <a:ext cx="3950244" cy="49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b="1" dirty="0">
                <a:solidFill>
                  <a:schemeClr val="tx1"/>
                </a:solidFill>
              </a:rPr>
              <a:t>Condition Number (CN):</a:t>
            </a:r>
            <a:endParaRPr b="1"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endParaRPr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839" name="Google Shape;839;p85"/>
          <p:cNvSpPr txBox="1">
            <a:spLocks noGrp="1"/>
          </p:cNvSpPr>
          <p:nvPr>
            <p:ph type="body" idx="2"/>
          </p:nvPr>
        </p:nvSpPr>
        <p:spPr>
          <a:xfrm>
            <a:off x="422025" y="1571700"/>
            <a:ext cx="3735300" cy="1572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b="1" dirty="0">
                <a:solidFill>
                  <a:schemeClr val="tx1"/>
                </a:solidFill>
              </a:rPr>
              <a:t>Determinant of the correlation matrix:</a:t>
            </a:r>
            <a:r>
              <a:rPr lang="en-GB" dirty="0">
                <a:solidFill>
                  <a:schemeClr val="tx1"/>
                </a:solidFill>
              </a:rPr>
              <a:t> 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dirty="0">
                <a:solidFill>
                  <a:schemeClr val="tx1"/>
                </a:solidFill>
              </a:rPr>
              <a:t>Let D be the determinant of correlation matrix. Then 0 &lt; D &lt; 1</a:t>
            </a:r>
            <a:endParaRPr dirty="0">
              <a:solidFill>
                <a:schemeClr val="tx1"/>
              </a:solidFill>
            </a:endParaRPr>
          </a:p>
        </p:txBody>
      </p:sp>
      <p:graphicFrame>
        <p:nvGraphicFramePr>
          <p:cNvPr id="840" name="Google Shape;840;p85"/>
          <p:cNvGraphicFramePr/>
          <p:nvPr>
            <p:extLst>
              <p:ext uri="{D42A27DB-BD31-4B8C-83A1-F6EECF244321}">
                <p14:modId xmlns:p14="http://schemas.microsoft.com/office/powerpoint/2010/main" val="673239622"/>
              </p:ext>
            </p:extLst>
          </p:nvPr>
        </p:nvGraphicFramePr>
        <p:xfrm>
          <a:off x="520391" y="3478720"/>
          <a:ext cx="2907194" cy="792420"/>
        </p:xfrm>
        <a:graphic>
          <a:graphicData uri="http://schemas.openxmlformats.org/drawingml/2006/table">
            <a:tbl>
              <a:tblPr>
                <a:noFill/>
                <a:tableStyleId>{C279C9BC-5D2E-45C3-84D4-731D23DE3C60}</a:tableStyleId>
              </a:tblPr>
              <a:tblGrid>
                <a:gridCol w="904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D=0</a:t>
                      </a:r>
                      <a:endParaRPr sz="1400" u="none" strike="noStrike" cap="none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High </a:t>
                      </a:r>
                      <a:r>
                        <a:rPr lang="en-GB" sz="1400" u="none" strike="noStrike" cap="none" dirty="0" err="1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multicollinearity</a:t>
                      </a:r>
                      <a:endParaRPr sz="1400" u="none" strike="noStrike" cap="none" dirty="0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D=1</a:t>
                      </a:r>
                      <a:endParaRPr sz="1400" u="none" strike="noStrike" cap="none" dirty="0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No </a:t>
                      </a:r>
                      <a:r>
                        <a:rPr lang="en-GB" sz="1400" u="none" strike="noStrike" cap="none" dirty="0" err="1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multicollinearity</a:t>
                      </a:r>
                      <a:endParaRPr sz="1400" u="none" strike="noStrike" cap="none" dirty="0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42" name="Google Shape;842;p85"/>
          <p:cNvGraphicFramePr/>
          <p:nvPr>
            <p:extLst>
              <p:ext uri="{D42A27DB-BD31-4B8C-83A1-F6EECF244321}">
                <p14:modId xmlns:p14="http://schemas.microsoft.com/office/powerpoint/2010/main" val="3954953222"/>
              </p:ext>
            </p:extLst>
          </p:nvPr>
        </p:nvGraphicFramePr>
        <p:xfrm>
          <a:off x="4842675" y="2686300"/>
          <a:ext cx="3912900" cy="1188630"/>
        </p:xfrm>
        <a:graphic>
          <a:graphicData uri="http://schemas.openxmlformats.org/drawingml/2006/table">
            <a:tbl>
              <a:tblPr>
                <a:noFill/>
                <a:tableStyleId>{C279C9BC-5D2E-45C3-84D4-731D23DE3C60}</a:tableStyleId>
              </a:tblPr>
              <a:tblGrid>
                <a:gridCol w="161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CN &gt; 1000</a:t>
                      </a:r>
                      <a:endParaRPr sz="1400" u="none" strike="noStrike" cap="none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Severe </a:t>
                      </a:r>
                      <a:r>
                        <a:rPr lang="en-GB" sz="1400" u="none" strike="noStrike" cap="none" dirty="0" err="1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multicollinearity</a:t>
                      </a:r>
                      <a:endParaRPr sz="1400" u="none" strike="noStrike" cap="none" dirty="0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100 &lt; CN &lt; 1000</a:t>
                      </a:r>
                      <a:endParaRPr sz="1400" u="none" strike="noStrike" cap="none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Moderate multicollinearity</a:t>
                      </a:r>
                      <a:endParaRPr sz="1400" u="none" strike="noStrike" cap="none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100 &lt; CN</a:t>
                      </a:r>
                      <a:endParaRPr sz="1400" u="none" strike="noStrike" cap="none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No </a:t>
                      </a:r>
                      <a:r>
                        <a:rPr lang="en-GB" sz="1400" u="none" strike="noStrike" cap="none" dirty="0" err="1">
                          <a:solidFill>
                            <a:schemeClr val="dk1"/>
                          </a:solidFill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multicollinearity</a:t>
                      </a:r>
                      <a:endParaRPr sz="1400" u="none" strike="noStrike" cap="none" dirty="0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43" name="Google Shape;843;p85"/>
          <p:cNvCxnSpPr/>
          <p:nvPr/>
        </p:nvCxnSpPr>
        <p:spPr>
          <a:xfrm>
            <a:off x="4499542" y="1408571"/>
            <a:ext cx="900" cy="277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8C3915-6E18-465D-B461-1279A6369A07}"/>
              </a:ext>
            </a:extLst>
          </p:cNvPr>
          <p:cNvSpPr txBox="1"/>
          <p:nvPr/>
        </p:nvSpPr>
        <p:spPr>
          <a:xfrm>
            <a:off x="4842659" y="151725"/>
            <a:ext cx="350470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endParaRPr lang="en-US" dirty="0"/>
          </a:p>
          <a:p>
            <a:r>
              <a:rPr lang="en-US" dirty="0" err="1"/>
              <a:t>corr_matrix</a:t>
            </a:r>
            <a:r>
              <a:rPr lang="en-US" dirty="0"/>
              <a:t> = </a:t>
            </a:r>
            <a:r>
              <a:rPr lang="en-US" dirty="0" err="1"/>
              <a:t>X.corr</a:t>
            </a:r>
            <a:r>
              <a:rPr lang="en-US" dirty="0"/>
              <a:t>()</a:t>
            </a:r>
          </a:p>
          <a:p>
            <a:r>
              <a:rPr lang="en-US" dirty="0" err="1"/>
              <a:t>det_corr</a:t>
            </a:r>
            <a:r>
              <a:rPr lang="en-US" dirty="0"/>
              <a:t> = </a:t>
            </a:r>
            <a:r>
              <a:rPr lang="en-US" dirty="0" err="1"/>
              <a:t>np.linalg.det</a:t>
            </a:r>
            <a:r>
              <a:rPr lang="en-US" dirty="0"/>
              <a:t>(</a:t>
            </a:r>
            <a:r>
              <a:rPr lang="en-US" dirty="0" err="1"/>
              <a:t>corr_matrix</a:t>
            </a:r>
            <a:r>
              <a:rPr lang="en-US" dirty="0"/>
              <a:t>)</a:t>
            </a:r>
          </a:p>
          <a:p>
            <a:r>
              <a:rPr lang="en-US" dirty="0"/>
              <a:t>print("Determinant:", </a:t>
            </a:r>
            <a:r>
              <a:rPr lang="en-US" dirty="0" err="1"/>
              <a:t>det_corr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86"/>
          <p:cNvSpPr txBox="1">
            <a:spLocks noGrp="1"/>
          </p:cNvSpPr>
          <p:nvPr>
            <p:ph type="title"/>
          </p:nvPr>
        </p:nvSpPr>
        <p:spPr>
          <a:xfrm>
            <a:off x="422025" y="445025"/>
            <a:ext cx="7988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Which variables are involved in </a:t>
            </a:r>
            <a:r>
              <a:rPr lang="en-GB" dirty="0" err="1"/>
              <a:t>multicollinearity</a:t>
            </a:r>
            <a:r>
              <a:rPr lang="en-GB" dirty="0"/>
              <a:t>?</a:t>
            </a:r>
            <a:endParaRPr dirty="0"/>
          </a:p>
        </p:txBody>
      </p:sp>
      <p:sp>
        <p:nvSpPr>
          <p:cNvPr id="849" name="Google Shape;849;p86"/>
          <p:cNvSpPr txBox="1"/>
          <p:nvPr/>
        </p:nvSpPr>
        <p:spPr>
          <a:xfrm>
            <a:off x="359203" y="1134582"/>
            <a:ext cx="4774800" cy="15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800" b="1" i="0" u="none" strike="noStrike" cap="none" dirty="0">
                <a:solidFill>
                  <a:schemeClr val="dk1"/>
                </a:solidFill>
                <a:latin typeface="Helvetica Neue"/>
                <a:ea typeface="Avenir"/>
                <a:cs typeface="Avenir"/>
                <a:sym typeface="Avenir"/>
              </a:rPr>
              <a:t>Correlation matrix: </a:t>
            </a:r>
            <a:r>
              <a:rPr lang="en-GB" sz="1800" b="0" i="0" u="none" strike="noStrike" cap="none" dirty="0">
                <a:solidFill>
                  <a:schemeClr val="dk1"/>
                </a:solidFill>
                <a:latin typeface="Helvetica Neue"/>
                <a:ea typeface="Avenir"/>
                <a:cs typeface="Avenir"/>
                <a:sym typeface="Avenir"/>
              </a:rPr>
              <a:t> </a:t>
            </a:r>
            <a:endParaRPr sz="1800" b="0" i="0" u="none" strike="noStrike" cap="none" dirty="0">
              <a:solidFill>
                <a:schemeClr val="dk1"/>
              </a:solidFill>
              <a:latin typeface="Helvetica Neue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Helvetica Neue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Helvetica Neue"/>
                <a:ea typeface="Avenir"/>
                <a:cs typeface="Avenir"/>
                <a:sym typeface="Avenir"/>
              </a:rPr>
              <a:t>If the off-diagonal values tend to 土1 then it indicates high correlation between the variable pair. However this inspection is not enough</a:t>
            </a: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Avenir"/>
              <a:cs typeface="Avenir"/>
              <a:sym typeface="Avenir"/>
            </a:endParaRPr>
          </a:p>
        </p:txBody>
      </p:sp>
      <p:pic>
        <p:nvPicPr>
          <p:cNvPr id="850" name="Google Shape;850;p86"/>
          <p:cNvPicPr preferRelativeResize="0"/>
          <p:nvPr/>
        </p:nvPicPr>
        <p:blipFill rotWithShape="1">
          <a:blip r:embed="rId3">
            <a:alphaModFix/>
          </a:blip>
          <a:srcRect l="26562" b="6524"/>
          <a:stretch/>
        </p:blipFill>
        <p:spPr>
          <a:xfrm>
            <a:off x="5300547" y="1650380"/>
            <a:ext cx="3543180" cy="263168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95D4AF-1A43-4489-B24B-D6827253FF06}"/>
              </a:ext>
            </a:extLst>
          </p:cNvPr>
          <p:cNvSpPr txBox="1"/>
          <p:nvPr/>
        </p:nvSpPr>
        <p:spPr>
          <a:xfrm>
            <a:off x="547654" y="2966224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High correlation between two predictors suggests they carry overlapping information, meaning one doesn’t add much new signal beyond the other. If you detect such patterns, it’s a red flag for potential multicollinearity - consider removing, combining, or transforming variables, or switching to regularization models like Ridge or Lasso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87"/>
          <p:cNvSpPr txBox="1">
            <a:spLocks noGrp="1"/>
          </p:cNvSpPr>
          <p:nvPr>
            <p:ph type="title"/>
          </p:nvPr>
        </p:nvSpPr>
        <p:spPr>
          <a:xfrm>
            <a:off x="422025" y="445025"/>
            <a:ext cx="7969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Which variables are involved in </a:t>
            </a:r>
            <a:r>
              <a:rPr lang="en-GB" dirty="0" err="1"/>
              <a:t>multicollinearity</a:t>
            </a:r>
            <a:r>
              <a:rPr lang="en-GB" dirty="0"/>
              <a:t>?</a:t>
            </a:r>
            <a:endParaRPr dirty="0"/>
          </a:p>
        </p:txBody>
      </p:sp>
      <p:sp>
        <p:nvSpPr>
          <p:cNvPr id="855" name="Google Shape;855;p87"/>
          <p:cNvSpPr txBox="1">
            <a:spLocks noGrp="1"/>
          </p:cNvSpPr>
          <p:nvPr>
            <p:ph type="body" idx="2"/>
          </p:nvPr>
        </p:nvSpPr>
        <p:spPr>
          <a:xfrm>
            <a:off x="464950" y="1186479"/>
            <a:ext cx="8175300" cy="1289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b="1" dirty="0">
                <a:solidFill>
                  <a:schemeClr val="dk1"/>
                </a:solidFill>
              </a:rPr>
              <a:t> Variance Inflation Factor (VIF): </a:t>
            </a:r>
            <a:endParaRPr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856" name="Google Shape;856;p87" descr="VIF=1/(1-R^2)" title="MathEquation,#0000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3156" y="1918008"/>
            <a:ext cx="2024366" cy="639411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87"/>
          <p:cNvSpPr txBox="1"/>
          <p:nvPr/>
        </p:nvSpPr>
        <p:spPr>
          <a:xfrm>
            <a:off x="465000" y="2644400"/>
            <a:ext cx="8214000" cy="7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Helvetica Neue"/>
                <a:ea typeface="Avenir"/>
                <a:cs typeface="Avenir"/>
                <a:sym typeface="Avenir"/>
              </a:rPr>
              <a:t>Where R</a:t>
            </a:r>
            <a:r>
              <a:rPr lang="en-GB" sz="1600" b="0" i="0" u="none" strike="noStrike" cap="none" baseline="30000" dirty="0">
                <a:solidFill>
                  <a:schemeClr val="dk1"/>
                </a:solidFill>
                <a:latin typeface="Helvetica Neue"/>
                <a:ea typeface="Avenir"/>
                <a:cs typeface="Avenir"/>
                <a:sym typeface="Avenir"/>
              </a:rPr>
              <a:t>2</a:t>
            </a:r>
            <a:r>
              <a:rPr lang="en-GB" sz="1600" b="0" i="0" u="none" strike="noStrike" cap="none" dirty="0">
                <a:solidFill>
                  <a:schemeClr val="dk1"/>
                </a:solidFill>
                <a:latin typeface="Helvetica Neue"/>
                <a:ea typeface="Avenir"/>
                <a:cs typeface="Avenir"/>
                <a:sym typeface="Avenir"/>
              </a:rPr>
              <a:t> is obtained by regressing a predictor variable over all the other predictors in the model</a:t>
            </a: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Avenir"/>
              <a:cs typeface="Avenir"/>
              <a:sym typeface="Avenir"/>
            </a:endParaRPr>
          </a:p>
        </p:txBody>
      </p:sp>
      <p:graphicFrame>
        <p:nvGraphicFramePr>
          <p:cNvPr id="858" name="Google Shape;858;p87"/>
          <p:cNvGraphicFramePr/>
          <p:nvPr>
            <p:extLst>
              <p:ext uri="{D42A27DB-BD31-4B8C-83A1-F6EECF244321}">
                <p14:modId xmlns:p14="http://schemas.microsoft.com/office/powerpoint/2010/main" val="2928921042"/>
              </p:ext>
            </p:extLst>
          </p:nvPr>
        </p:nvGraphicFramePr>
        <p:xfrm>
          <a:off x="2357962" y="3132820"/>
          <a:ext cx="4097625" cy="1706760"/>
        </p:xfrm>
        <a:graphic>
          <a:graphicData uri="http://schemas.openxmlformats.org/drawingml/2006/table">
            <a:tbl>
              <a:tblPr>
                <a:noFill/>
                <a:tableStyleId>{C279C9BC-5D2E-45C3-84D4-731D23DE3C60}</a:tableStyleId>
              </a:tblPr>
              <a:tblGrid>
                <a:gridCol w="147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53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Value</a:t>
                      </a:r>
                      <a:endParaRPr sz="1600" u="none" strike="noStrike" cap="none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Interpretation</a:t>
                      </a:r>
                      <a:endParaRPr sz="1600" u="none" strike="noStrike" cap="none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59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VIF &gt; 5</a:t>
                      </a:r>
                      <a:endParaRPr sz="1600" u="none" strike="noStrike" cap="none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 dirty="0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High correlation</a:t>
                      </a:r>
                      <a:endParaRPr sz="1600" u="none" strike="noStrike" cap="none" dirty="0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59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5 &gt; VIF &gt;1</a:t>
                      </a:r>
                      <a:endParaRPr sz="1600" u="none" strike="noStrike" cap="none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Moderate correlation</a:t>
                      </a:r>
                      <a:endParaRPr sz="1600" u="none" strike="noStrike" cap="none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59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VIF = 1</a:t>
                      </a:r>
                      <a:endParaRPr sz="1600" u="none" strike="noStrike" cap="none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 dirty="0">
                          <a:latin typeface="Helvetica Neue"/>
                          <a:ea typeface="Avenir"/>
                          <a:cs typeface="Avenir"/>
                          <a:sym typeface="Avenir"/>
                        </a:rPr>
                        <a:t>No correlation</a:t>
                      </a:r>
                      <a:endParaRPr sz="1600" u="none" strike="noStrike" cap="none" dirty="0">
                        <a:latin typeface="Helvetica Neue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5C1F4C6-466D-4001-ABBA-616815F7F2A4}"/>
              </a:ext>
            </a:extLst>
          </p:cNvPr>
          <p:cNvSpPr txBox="1"/>
          <p:nvPr/>
        </p:nvSpPr>
        <p:spPr>
          <a:xfrm>
            <a:off x="4338165" y="1092363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Variance inflation factors measure the inflation in the variances of the regression parameter estimates due to collinearities that exist among the predictors.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88"/>
          <p:cNvSpPr txBox="1">
            <a:spLocks noGrp="1"/>
          </p:cNvSpPr>
          <p:nvPr>
            <p:ph type="title"/>
          </p:nvPr>
        </p:nvSpPr>
        <p:spPr>
          <a:xfrm>
            <a:off x="422025" y="445025"/>
            <a:ext cx="781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Tests after model building</a:t>
            </a:r>
            <a:endParaRPr dirty="0"/>
          </a:p>
        </p:txBody>
      </p:sp>
      <p:sp>
        <p:nvSpPr>
          <p:cNvPr id="864" name="Google Shape;864;p88"/>
          <p:cNvSpPr txBox="1">
            <a:spLocks noGrp="1"/>
          </p:cNvSpPr>
          <p:nvPr>
            <p:ph type="body" idx="2"/>
          </p:nvPr>
        </p:nvSpPr>
        <p:spPr>
          <a:xfrm>
            <a:off x="422025" y="1389300"/>
            <a:ext cx="8175300" cy="28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Linear relationship between dependent and independent variables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Independence of observations should exist (i.e. Absence of Autocorrelation)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The error terms should be homoscedastic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400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The error terms must follow normal distribution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89"/>
          <p:cNvSpPr txBox="1">
            <a:spLocks noGrp="1"/>
          </p:cNvSpPr>
          <p:nvPr>
            <p:ph type="title"/>
          </p:nvPr>
        </p:nvSpPr>
        <p:spPr>
          <a:xfrm>
            <a:off x="422025" y="445025"/>
            <a:ext cx="781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Tests after model building</a:t>
            </a:r>
            <a:endParaRPr/>
          </a:p>
        </p:txBody>
      </p:sp>
      <p:sp>
        <p:nvSpPr>
          <p:cNvPr id="870" name="Google Shape;870;p89"/>
          <p:cNvSpPr txBox="1">
            <a:spLocks noGrp="1"/>
          </p:cNvSpPr>
          <p:nvPr>
            <p:ph type="body" idx="2"/>
          </p:nvPr>
        </p:nvSpPr>
        <p:spPr>
          <a:xfrm>
            <a:off x="422025" y="1389300"/>
            <a:ext cx="8175300" cy="28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Linear relationship between dependent and independent variables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Independence of observations should exist (i.e. Absence of Autocorrelation)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The error terms should be homoscedastic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400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The error terms must follow normal distribution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72" name="Google Shape;872;p89"/>
          <p:cNvSpPr/>
          <p:nvPr/>
        </p:nvSpPr>
        <p:spPr>
          <a:xfrm>
            <a:off x="842324" y="1389300"/>
            <a:ext cx="7021515" cy="439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5AA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Assumption of linearity</a:t>
            </a:r>
            <a:endParaRPr dirty="0"/>
          </a:p>
        </p:txBody>
      </p:sp>
      <p:sp>
        <p:nvSpPr>
          <p:cNvPr id="878" name="Google Shape;878;p90"/>
          <p:cNvSpPr txBox="1">
            <a:spLocks noGrp="1"/>
          </p:cNvSpPr>
          <p:nvPr>
            <p:ph type="body" idx="2"/>
          </p:nvPr>
        </p:nvSpPr>
        <p:spPr>
          <a:xfrm>
            <a:off x="422025" y="930159"/>
            <a:ext cx="8652000" cy="28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An assumption of linear regression is that it should be linear in the parameter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The independent variables must have a linear relationship with the dependent variable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2500"/>
              </a:spcBef>
              <a:spcAft>
                <a:spcPts val="250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The residuals and the fitted values should be independent</a:t>
            </a: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dirty="0">
                <a:solidFill>
                  <a:schemeClr val="tx1"/>
                </a:solidFill>
              </a:rPr>
              <a:t>The independent variables must have a linear relationship with the dependent variable</a:t>
            </a:r>
          </a:p>
          <a:p>
            <a:pPr marL="457200" lvl="0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 dirty="0">
                <a:solidFill>
                  <a:schemeClr val="tx1"/>
                </a:solidFill>
              </a:rPr>
              <a:t>This can be checked plotting a scatter plot of residuals vs predictors</a:t>
            </a:r>
          </a:p>
          <a:p>
            <a:pPr marL="457200" lvl="0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US" dirty="0">
                <a:solidFill>
                  <a:schemeClr val="tx1"/>
                </a:solidFill>
              </a:rPr>
              <a:t>A scatter plot depicting no pattern indicates that the variable has a linear relationship with the response variable </a:t>
            </a:r>
          </a:p>
          <a:p>
            <a:pPr marL="457200" lvl="0" indent="-330200" algn="l" rtl="0">
              <a:lnSpc>
                <a:spcPct val="100000"/>
              </a:lnSpc>
              <a:spcBef>
                <a:spcPts val="2500"/>
              </a:spcBef>
              <a:spcAft>
                <a:spcPts val="2500"/>
              </a:spcAft>
              <a:buSzPts val="1600"/>
              <a:buChar char="●"/>
            </a:pP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93"/>
          <p:cNvSpPr txBox="1">
            <a:spLocks noGrp="1"/>
          </p:cNvSpPr>
          <p:nvPr>
            <p:ph type="title"/>
          </p:nvPr>
        </p:nvSpPr>
        <p:spPr>
          <a:xfrm>
            <a:off x="463905" y="0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Existence of linear relationship</a:t>
            </a:r>
            <a:endParaRPr dirty="0"/>
          </a:p>
        </p:txBody>
      </p:sp>
      <p:sp>
        <p:nvSpPr>
          <p:cNvPr id="905" name="Google Shape;905;p93"/>
          <p:cNvSpPr txBox="1">
            <a:spLocks noGrp="1"/>
          </p:cNvSpPr>
          <p:nvPr>
            <p:ph type="body" idx="2"/>
          </p:nvPr>
        </p:nvSpPr>
        <p:spPr>
          <a:xfrm>
            <a:off x="373164" y="1940341"/>
            <a:ext cx="8623200" cy="7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600"/>
              <a:buNone/>
            </a:pPr>
            <a:r>
              <a:rPr lang="en-GB" dirty="0">
                <a:solidFill>
                  <a:schemeClr val="tx1"/>
                </a:solidFill>
              </a:rPr>
              <a:t>In context with our data, we see a random pattern in all the three plots. Hence, we may say that, the predictors are linearly related with the response variable.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906" name="Google Shape;906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920" y="2691841"/>
            <a:ext cx="7159082" cy="23566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F63031-F5E1-4D84-A558-17700485AD35}"/>
              </a:ext>
            </a:extLst>
          </p:cNvPr>
          <p:cNvSpPr txBox="1"/>
          <p:nvPr/>
        </p:nvSpPr>
        <p:spPr>
          <a:xfrm>
            <a:off x="715465" y="631702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dirty="0"/>
              <a:t>Residual plot shows: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Random scatter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curve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U-shape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increasing or decreasing pattern</a:t>
            </a:r>
          </a:p>
          <a:p>
            <a:pPr marL="114300" indent="0">
              <a:buNone/>
            </a:pPr>
            <a:r>
              <a:rPr lang="en-US" dirty="0"/>
              <a:t>👉 Means relationship is </a:t>
            </a:r>
            <a:r>
              <a:rPr lang="en-US" b="1" dirty="0"/>
              <a:t>linear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94"/>
          <p:cNvSpPr txBox="1">
            <a:spLocks noGrp="1"/>
          </p:cNvSpPr>
          <p:nvPr>
            <p:ph type="body" idx="1"/>
          </p:nvPr>
        </p:nvSpPr>
        <p:spPr>
          <a:xfrm>
            <a:off x="422025" y="2096350"/>
            <a:ext cx="4659300" cy="18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dirty="0">
                <a:solidFill>
                  <a:schemeClr val="dk1"/>
                </a:solidFill>
              </a:rPr>
              <a:t>For linear relationship, the points must be at random, i.e., it should </a:t>
            </a:r>
            <a:r>
              <a:rPr lang="en-GB" sz="1600" dirty="0">
                <a:solidFill>
                  <a:srgbClr val="3C78D8"/>
                </a:solidFill>
              </a:rPr>
              <a:t>not</a:t>
            </a:r>
            <a:r>
              <a:rPr lang="en-GB" sz="1600" dirty="0">
                <a:solidFill>
                  <a:schemeClr val="dk1"/>
                </a:solidFill>
              </a:rPr>
              <a:t> exhibit much distinctive </a:t>
            </a:r>
            <a:r>
              <a:rPr lang="en-GB" sz="1600" dirty="0">
                <a:solidFill>
                  <a:srgbClr val="3C78D8"/>
                </a:solidFill>
              </a:rPr>
              <a:t>pattern</a:t>
            </a:r>
            <a:r>
              <a:rPr lang="en-GB" sz="1600" dirty="0">
                <a:solidFill>
                  <a:schemeClr val="dk1"/>
                </a:solidFill>
              </a:rPr>
              <a:t>, no non-linear trends or changes in variability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911" name="Google Shape;911;p9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Existence of linear relationship</a:t>
            </a:r>
            <a:endParaRPr/>
          </a:p>
        </p:txBody>
      </p:sp>
      <p:pic>
        <p:nvPicPr>
          <p:cNvPr id="912" name="Google Shape;912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0150" y="1977483"/>
            <a:ext cx="3693726" cy="2623178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94"/>
          <p:cNvSpPr txBox="1"/>
          <p:nvPr/>
        </p:nvSpPr>
        <p:spPr>
          <a:xfrm>
            <a:off x="383200" y="1426600"/>
            <a:ext cx="8430600" cy="7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nir"/>
              <a:buChar char="●"/>
            </a:pPr>
            <a:r>
              <a:rPr lang="en-GB" sz="1600" b="0" i="0" u="none" strike="noStrike" cap="none" dirty="0">
                <a:solidFill>
                  <a:srgbClr val="000000"/>
                </a:solidFill>
                <a:latin typeface="Helvetica Neue"/>
                <a:ea typeface="Avenir"/>
                <a:cs typeface="Avenir"/>
                <a:sym typeface="Avenir"/>
              </a:rPr>
              <a:t>The plot of residuals against the fitted tells the presence of linear relationship</a:t>
            </a:r>
            <a:endParaRPr sz="1600" b="0" i="0" u="none" strike="noStrike" cap="none" dirty="0">
              <a:solidFill>
                <a:srgbClr val="000000"/>
              </a:solidFill>
              <a:latin typeface="Helvetica Neue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95"/>
          <p:cNvSpPr txBox="1">
            <a:spLocks noGrp="1"/>
          </p:cNvSpPr>
          <p:nvPr>
            <p:ph type="title"/>
          </p:nvPr>
        </p:nvSpPr>
        <p:spPr>
          <a:xfrm>
            <a:off x="422025" y="445025"/>
            <a:ext cx="781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Tests after model building</a:t>
            </a:r>
            <a:endParaRPr/>
          </a:p>
        </p:txBody>
      </p:sp>
      <p:sp>
        <p:nvSpPr>
          <p:cNvPr id="919" name="Google Shape;919;p95"/>
          <p:cNvSpPr txBox="1">
            <a:spLocks noGrp="1"/>
          </p:cNvSpPr>
          <p:nvPr>
            <p:ph type="body" idx="2"/>
          </p:nvPr>
        </p:nvSpPr>
        <p:spPr>
          <a:xfrm>
            <a:off x="422025" y="1389300"/>
            <a:ext cx="8175300" cy="28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dk1"/>
                </a:solidFill>
              </a:rPr>
              <a:t>Linear relationship between dependent and independent variables</a:t>
            </a:r>
            <a:endParaRPr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dk1"/>
                </a:solidFill>
              </a:rPr>
              <a:t>Independence of observations should exist (i.e. Absence of Autocorrelation)</a:t>
            </a:r>
            <a:endParaRPr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dk1"/>
                </a:solidFill>
              </a:rPr>
              <a:t>The error terms should be homoscedastic</a:t>
            </a:r>
            <a:endParaRPr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400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dk1"/>
                </a:solidFill>
              </a:rPr>
              <a:t>The error terms must follow normal distribution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921" name="Google Shape;921;p95"/>
          <p:cNvSpPr/>
          <p:nvPr/>
        </p:nvSpPr>
        <p:spPr>
          <a:xfrm>
            <a:off x="842325" y="2166365"/>
            <a:ext cx="7079100" cy="75025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5AA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9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Assumption of autocorrelation</a:t>
            </a:r>
            <a:endParaRPr/>
          </a:p>
        </p:txBody>
      </p:sp>
      <p:sp>
        <p:nvSpPr>
          <p:cNvPr id="927" name="Google Shape;927;p96"/>
          <p:cNvSpPr txBox="1">
            <a:spLocks noGrp="1"/>
          </p:cNvSpPr>
          <p:nvPr>
            <p:ph type="body" idx="2"/>
          </p:nvPr>
        </p:nvSpPr>
        <p:spPr>
          <a:xfrm>
            <a:off x="279525" y="2125000"/>
            <a:ext cx="8585100" cy="26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Assumption of autocorrelation is violated when residuals are correlated within themselves, i.e. they are serially correlated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Autocorrelation does not impact the regression coefficients but the associated standard errors are reduced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This reduction in standard error leads to a reduction in associated p-value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It incorrectly concludes that a predictor is statistically significant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928" name="Google Shape;928;p96"/>
          <p:cNvPicPr preferRelativeResize="0"/>
          <p:nvPr/>
        </p:nvPicPr>
        <p:blipFill rotWithShape="1">
          <a:blip r:embed="rId3">
            <a:alphaModFix/>
          </a:blip>
          <a:srcRect l="4778" r="4178" b="13103"/>
          <a:stretch/>
        </p:blipFill>
        <p:spPr>
          <a:xfrm>
            <a:off x="2804400" y="1017725"/>
            <a:ext cx="2900180" cy="110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ACEE-6EAC-4B03-B882-DE757E06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B99661-3BEA-4244-ACB8-2BA8AFE17B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BD111-F203-4560-BCF3-2C0AFBEC383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/>
              <a:t>Example of Autocorrelation</a:t>
            </a:r>
          </a:p>
          <a:p>
            <a:r>
              <a:rPr lang="en-US" dirty="0"/>
              <a:t>Imagine predicting </a:t>
            </a:r>
            <a:r>
              <a:rPr lang="en-US" b="1" dirty="0"/>
              <a:t>monthly sales</a:t>
            </a:r>
            <a:r>
              <a:rPr lang="en-US" dirty="0"/>
              <a:t>.</a:t>
            </a:r>
          </a:p>
          <a:p>
            <a:r>
              <a:rPr lang="en-US" dirty="0"/>
              <a:t>If sales were high last month, they will likely be high this month too.</a:t>
            </a:r>
          </a:p>
          <a:p>
            <a:r>
              <a:rPr lang="en-US" dirty="0"/>
              <a:t>So the </a:t>
            </a:r>
            <a:r>
              <a:rPr lang="en-US" b="1" dirty="0"/>
              <a:t>error of month t</a:t>
            </a:r>
            <a:r>
              <a:rPr lang="en-US" dirty="0"/>
              <a:t> is similar to the </a:t>
            </a:r>
            <a:r>
              <a:rPr lang="en-US" b="1" dirty="0"/>
              <a:t>error of month t-1</a:t>
            </a:r>
            <a:r>
              <a:rPr lang="en-US" dirty="0"/>
              <a:t>.</a:t>
            </a:r>
          </a:p>
          <a:p>
            <a:r>
              <a:rPr lang="en-US" dirty="0"/>
              <a:t>This pattern in errors = </a:t>
            </a:r>
            <a:r>
              <a:rPr lang="en-US" b="1" dirty="0"/>
              <a:t>autocorrelation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Residual at time t depends on residual at time (t-1)</a:t>
            </a:r>
            <a:br>
              <a:rPr lang="en-US" dirty="0"/>
            </a:br>
            <a:r>
              <a:rPr lang="en-US" dirty="0"/>
              <a:t>or</a:t>
            </a:r>
            <a:br>
              <a:rPr lang="en-US" dirty="0"/>
            </a:br>
            <a:r>
              <a:rPr lang="en-US" b="1" dirty="0"/>
              <a:t>Errors follow a pattern when they should be random.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886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9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Causes of autocorrelation</a:t>
            </a:r>
            <a:endParaRPr dirty="0"/>
          </a:p>
        </p:txBody>
      </p:sp>
      <p:sp>
        <p:nvSpPr>
          <p:cNvPr id="934" name="Google Shape;934;p97"/>
          <p:cNvSpPr txBox="1">
            <a:spLocks noGrp="1"/>
          </p:cNvSpPr>
          <p:nvPr>
            <p:ph type="body" idx="2"/>
          </p:nvPr>
        </p:nvSpPr>
        <p:spPr>
          <a:xfrm>
            <a:off x="422025" y="1383300"/>
            <a:ext cx="8442300" cy="36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Some important variables are not considered in the data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If the relationship between the target and predictor variables is non-linear and is incorrectly considered linear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Presence of carry over effect</a:t>
            </a:r>
            <a:endParaRPr dirty="0">
              <a:solidFill>
                <a:schemeClr val="tx1"/>
              </a:solidFill>
            </a:endParaRPr>
          </a:p>
          <a:p>
            <a:pPr marL="1349999" lvl="0" indent="-899998" algn="l" rtl="0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SzPts val="1600"/>
              <a:buNone/>
            </a:pPr>
            <a:r>
              <a:rPr lang="en-GB" dirty="0">
                <a:solidFill>
                  <a:schemeClr val="tx1"/>
                </a:solidFill>
              </a:rPr>
              <a:t>Example: The additional expenses from the budget for last month are carried over in creating the budget for next month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9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Durbin - Watson Test</a:t>
            </a:r>
            <a:endParaRPr dirty="0"/>
          </a:p>
        </p:txBody>
      </p:sp>
      <p:sp>
        <p:nvSpPr>
          <p:cNvPr id="943" name="Google Shape;943;p98"/>
          <p:cNvSpPr txBox="1">
            <a:spLocks noGrp="1"/>
          </p:cNvSpPr>
          <p:nvPr>
            <p:ph type="subTitle" idx="1"/>
          </p:nvPr>
        </p:nvSpPr>
        <p:spPr>
          <a:xfrm>
            <a:off x="422025" y="4066420"/>
            <a:ext cx="76929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800" dirty="0"/>
              <a:t>Failing to reject H</a:t>
            </a:r>
            <a:r>
              <a:rPr lang="en-GB" sz="1800" baseline="-25000" dirty="0"/>
              <a:t>0</a:t>
            </a:r>
            <a:r>
              <a:rPr lang="en-GB" sz="1800" dirty="0"/>
              <a:t>, will imply that the error terms are </a:t>
            </a:r>
            <a:r>
              <a:rPr lang="en-GB" sz="1800" dirty="0" err="1"/>
              <a:t>autocorrelated</a:t>
            </a:r>
            <a:endParaRPr sz="1800" dirty="0"/>
          </a:p>
          <a:p>
            <a:pPr marL="0" lvl="0" indent="457200" algn="l" rtl="0">
              <a:lnSpc>
                <a:spcPct val="100000"/>
              </a:lnSpc>
              <a:spcBef>
                <a:spcPts val="1500"/>
              </a:spcBef>
              <a:spcAft>
                <a:spcPts val="1600"/>
              </a:spcAft>
              <a:buSzPts val="1600"/>
              <a:buNone/>
            </a:pPr>
            <a:endParaRPr sz="2400" dirty="0"/>
          </a:p>
        </p:txBody>
      </p:sp>
      <p:sp>
        <p:nvSpPr>
          <p:cNvPr id="942" name="Google Shape;942;p98"/>
          <p:cNvSpPr txBox="1">
            <a:spLocks noGrp="1"/>
          </p:cNvSpPr>
          <p:nvPr>
            <p:ph type="body" idx="2"/>
          </p:nvPr>
        </p:nvSpPr>
        <p:spPr>
          <a:xfrm>
            <a:off x="422024" y="1304470"/>
            <a:ext cx="8249009" cy="24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To test whether the error terms are </a:t>
            </a:r>
            <a:r>
              <a:rPr lang="en-GB" dirty="0" err="1">
                <a:solidFill>
                  <a:schemeClr val="tx1"/>
                </a:solidFill>
              </a:rPr>
              <a:t>autocorrelated,we</a:t>
            </a:r>
            <a:r>
              <a:rPr lang="en-GB" dirty="0">
                <a:solidFill>
                  <a:schemeClr val="tx1"/>
                </a:solidFill>
              </a:rPr>
              <a:t> Durbin-Watson test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We test whether autocorrelation is present or not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The hypothesis is given by:</a:t>
            </a:r>
            <a:endParaRPr dirty="0">
              <a:solidFill>
                <a:schemeClr val="tx1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600"/>
              <a:buNone/>
            </a:pPr>
            <a:r>
              <a:rPr lang="en-GB" dirty="0">
                <a:solidFill>
                  <a:schemeClr val="tx1"/>
                </a:solidFill>
              </a:rPr>
              <a:t>		 </a:t>
            </a:r>
          </a:p>
          <a:p>
            <a:pPr marL="0" lvl="0" indent="4572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600"/>
              <a:buNone/>
            </a:pPr>
            <a:r>
              <a:rPr lang="en-GB" dirty="0">
                <a:solidFill>
                  <a:schemeClr val="tx1"/>
                </a:solidFill>
              </a:rPr>
              <a:t>                                              against 	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40" name="Google Shape;940;p98"/>
          <p:cNvSpPr/>
          <p:nvPr/>
        </p:nvSpPr>
        <p:spPr>
          <a:xfrm>
            <a:off x="2267025" y="2741130"/>
            <a:ext cx="4002900" cy="40699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400"/>
            </a:pPr>
            <a:r>
              <a:rPr lang="en-GB" sz="1600">
                <a:latin typeface="Helvetica Neue"/>
              </a:rPr>
              <a:t>H</a:t>
            </a:r>
            <a:r>
              <a:rPr lang="en-GB" sz="1600" baseline="-25000">
                <a:latin typeface="Helvetica Neue"/>
              </a:rPr>
              <a:t>0</a:t>
            </a:r>
            <a:r>
              <a:rPr lang="en-GB" sz="1600">
                <a:latin typeface="Helvetica Neue"/>
              </a:rPr>
              <a:t>:The error terms are not autocorrelated</a:t>
            </a:r>
            <a:endParaRPr sz="1600" b="0" i="0" u="none" strike="noStrike" cap="none">
              <a:solidFill>
                <a:srgbClr val="000000"/>
              </a:solidFill>
              <a:latin typeface="Helvetica Neue"/>
              <a:sym typeface="Arial"/>
            </a:endParaRPr>
          </a:p>
        </p:txBody>
      </p:sp>
      <p:sp>
        <p:nvSpPr>
          <p:cNvPr id="941" name="Google Shape;941;p98"/>
          <p:cNvSpPr/>
          <p:nvPr/>
        </p:nvSpPr>
        <p:spPr>
          <a:xfrm>
            <a:off x="2267025" y="3633056"/>
            <a:ext cx="4002900" cy="39502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400"/>
            </a:pPr>
            <a:r>
              <a:rPr lang="en-GB" sz="1600" dirty="0"/>
              <a:t>H</a:t>
            </a:r>
            <a:r>
              <a:rPr lang="en-GB" sz="1600" baseline="-25000" dirty="0"/>
              <a:t>1</a:t>
            </a:r>
            <a:r>
              <a:rPr lang="en-GB" sz="1600" dirty="0"/>
              <a:t>:The error terms are </a:t>
            </a:r>
            <a:r>
              <a:rPr lang="en-GB" sz="1600" dirty="0" err="1"/>
              <a:t>autocorrelated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Durbin - Watson test</a:t>
            </a:r>
            <a:endParaRPr/>
          </a:p>
        </p:txBody>
      </p:sp>
      <p:sp>
        <p:nvSpPr>
          <p:cNvPr id="949" name="Google Shape;949;p99"/>
          <p:cNvSpPr txBox="1">
            <a:spLocks noGrp="1"/>
          </p:cNvSpPr>
          <p:nvPr>
            <p:ph type="body" idx="2"/>
          </p:nvPr>
        </p:nvSpPr>
        <p:spPr>
          <a:xfrm>
            <a:off x="412125" y="1162580"/>
            <a:ext cx="7692900" cy="67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1600"/>
              </a:spcAft>
              <a:buSzPts val="1600"/>
              <a:buNone/>
            </a:pPr>
            <a:r>
              <a:rPr lang="en-GB" dirty="0">
                <a:solidFill>
                  <a:schemeClr val="tx1"/>
                </a:solidFill>
              </a:rPr>
              <a:t>The test statistic is given by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950" name="Google Shape;950;p99" descr="d=(sumhate_t - hate_(t-1))/(sumhate_t^2)" title="MathEquation,#0000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3149" y="2148958"/>
            <a:ext cx="2237797" cy="9605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1" name="Google Shape;951;p99"/>
          <p:cNvCxnSpPr/>
          <p:nvPr/>
        </p:nvCxnSpPr>
        <p:spPr>
          <a:xfrm rot="10800000" flipH="1">
            <a:off x="3070161" y="1896437"/>
            <a:ext cx="1896600" cy="278700"/>
          </a:xfrm>
          <a:prstGeom prst="bentConnector3">
            <a:avLst>
              <a:gd name="adj1" fmla="val 0"/>
            </a:avLst>
          </a:prstGeom>
          <a:noFill/>
          <a:ln w="12700" cap="flat" cmpd="sng">
            <a:solidFill>
              <a:srgbClr val="3C78D8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952" name="Google Shape;952;p99"/>
          <p:cNvSpPr txBox="1"/>
          <p:nvPr/>
        </p:nvSpPr>
        <p:spPr>
          <a:xfrm>
            <a:off x="4893498" y="1713173"/>
            <a:ext cx="25581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 dirty="0">
                <a:solidFill>
                  <a:srgbClr val="3C78D8"/>
                </a:solidFill>
                <a:latin typeface="Helvetica Neue"/>
                <a:ea typeface="Avenir"/>
                <a:cs typeface="Avenir"/>
                <a:sym typeface="Avenir"/>
              </a:rPr>
              <a:t> Residual of </a:t>
            </a:r>
            <a:r>
              <a:rPr lang="en-GB" sz="1400" b="0" i="0" u="none" strike="noStrike" cap="none" dirty="0" err="1">
                <a:solidFill>
                  <a:srgbClr val="3C78D8"/>
                </a:solidFill>
                <a:latin typeface="Helvetica Neue"/>
                <a:ea typeface="Avenir"/>
                <a:cs typeface="Avenir"/>
                <a:sym typeface="Avenir"/>
              </a:rPr>
              <a:t>t</a:t>
            </a:r>
            <a:r>
              <a:rPr lang="en-GB" sz="1400" b="0" i="0" u="none" strike="noStrike" cap="none" baseline="30000" dirty="0" err="1">
                <a:solidFill>
                  <a:srgbClr val="3C78D8"/>
                </a:solidFill>
                <a:latin typeface="Helvetica Neue"/>
                <a:ea typeface="Avenir"/>
                <a:cs typeface="Avenir"/>
                <a:sym typeface="Avenir"/>
              </a:rPr>
              <a:t>th</a:t>
            </a:r>
            <a:r>
              <a:rPr lang="en-GB" sz="1400" b="0" i="0" u="none" strike="noStrike" cap="none" dirty="0">
                <a:solidFill>
                  <a:srgbClr val="3C78D8"/>
                </a:solidFill>
                <a:latin typeface="Helvetica Neue"/>
                <a:ea typeface="Avenir"/>
                <a:cs typeface="Avenir"/>
                <a:sym typeface="Avenir"/>
              </a:rPr>
              <a:t> observation</a:t>
            </a:r>
            <a:endParaRPr sz="1400" b="0" i="0" u="none" strike="noStrike" cap="none" dirty="0">
              <a:solidFill>
                <a:srgbClr val="3C78D8"/>
              </a:solidFill>
              <a:latin typeface="Helvetica Neue"/>
              <a:ea typeface="Avenir"/>
              <a:cs typeface="Avenir"/>
              <a:sym typeface="Avenir"/>
            </a:endParaRPr>
          </a:p>
        </p:txBody>
      </p:sp>
      <p:sp>
        <p:nvSpPr>
          <p:cNvPr id="953" name="Google Shape;953;p99"/>
          <p:cNvSpPr txBox="1"/>
          <p:nvPr/>
        </p:nvSpPr>
        <p:spPr>
          <a:xfrm>
            <a:off x="4972367" y="2204139"/>
            <a:ext cx="25581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 dirty="0">
                <a:solidFill>
                  <a:srgbClr val="3C78D8"/>
                </a:solidFill>
                <a:latin typeface="Helvetica Neue"/>
                <a:ea typeface="Avenir"/>
                <a:cs typeface="Avenir"/>
                <a:sym typeface="Avenir"/>
              </a:rPr>
              <a:t>Residual of t-1</a:t>
            </a:r>
            <a:r>
              <a:rPr lang="en-GB" sz="1400" b="0" i="0" u="none" strike="noStrike" cap="none" baseline="30000" dirty="0">
                <a:solidFill>
                  <a:srgbClr val="3C78D8"/>
                </a:solidFill>
                <a:latin typeface="Helvetica Neue"/>
                <a:ea typeface="Avenir"/>
                <a:cs typeface="Avenir"/>
                <a:sym typeface="Avenir"/>
              </a:rPr>
              <a:t>th</a:t>
            </a:r>
            <a:r>
              <a:rPr lang="en-GB" sz="1400" b="0" i="0" u="none" strike="noStrike" cap="none" dirty="0">
                <a:solidFill>
                  <a:srgbClr val="3C78D8"/>
                </a:solidFill>
                <a:latin typeface="Helvetica Neue"/>
                <a:ea typeface="Avenir"/>
                <a:cs typeface="Avenir"/>
                <a:sym typeface="Avenir"/>
              </a:rPr>
              <a:t> observation</a:t>
            </a:r>
            <a:endParaRPr sz="1400" b="0" i="0" u="none" strike="noStrike" cap="none" dirty="0">
              <a:solidFill>
                <a:srgbClr val="3C78D8"/>
              </a:solidFill>
              <a:latin typeface="Helvetica Neue"/>
              <a:ea typeface="Avenir"/>
              <a:cs typeface="Avenir"/>
              <a:sym typeface="Avenir"/>
            </a:endParaRPr>
          </a:p>
        </p:txBody>
      </p:sp>
      <p:cxnSp>
        <p:nvCxnSpPr>
          <p:cNvPr id="954" name="Google Shape;954;p99"/>
          <p:cNvCxnSpPr/>
          <p:nvPr/>
        </p:nvCxnSpPr>
        <p:spPr>
          <a:xfrm rot="10800000">
            <a:off x="4009357" y="2393390"/>
            <a:ext cx="994500" cy="0"/>
          </a:xfrm>
          <a:prstGeom prst="straightConnector1">
            <a:avLst/>
          </a:prstGeom>
          <a:noFill/>
          <a:ln w="12700" cap="flat" cmpd="sng">
            <a:solidFill>
              <a:srgbClr val="3C78D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55" name="Google Shape;955;p99"/>
          <p:cNvSpPr txBox="1"/>
          <p:nvPr/>
        </p:nvSpPr>
        <p:spPr>
          <a:xfrm>
            <a:off x="4272453" y="2514690"/>
            <a:ext cx="1347205" cy="594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 ∈ [0,4]</a:t>
            </a:r>
            <a:endParaRPr sz="1600" b="0" i="0" u="none" strike="noStrike" cap="none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aphicFrame>
        <p:nvGraphicFramePr>
          <p:cNvPr id="956" name="Google Shape;956;p99"/>
          <p:cNvGraphicFramePr/>
          <p:nvPr>
            <p:extLst>
              <p:ext uri="{D42A27DB-BD31-4B8C-83A1-F6EECF244321}">
                <p14:modId xmlns:p14="http://schemas.microsoft.com/office/powerpoint/2010/main" val="259438586"/>
              </p:ext>
            </p:extLst>
          </p:nvPr>
        </p:nvGraphicFramePr>
        <p:xfrm>
          <a:off x="2203822" y="3230837"/>
          <a:ext cx="4288418" cy="1584840"/>
        </p:xfrm>
        <a:graphic>
          <a:graphicData uri="http://schemas.openxmlformats.org/drawingml/2006/table">
            <a:tbl>
              <a:tblPr>
                <a:noFill/>
                <a:tableStyleId>{C279C9BC-5D2E-45C3-84D4-731D23DE3C60}</a:tableStyleId>
              </a:tblPr>
              <a:tblGrid>
                <a:gridCol w="1707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Value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 dirty="0"/>
                        <a:t>Interpretation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0 &lt; d &lt;2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Positive autocorrelation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d = 2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No autocorrelation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2 &lt; d &lt; 4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 dirty="0"/>
                        <a:t>Negative autocorrelation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487A-0715-4E44-8B37-0F0AA7A7A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25" y="82057"/>
            <a:ext cx="6739200" cy="572700"/>
          </a:xfrm>
        </p:spPr>
        <p:txBody>
          <a:bodyPr/>
          <a:lstStyle/>
          <a:p>
            <a:r>
              <a:rPr lang="en-GB" dirty="0"/>
              <a:t>Autocorrelation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8F224E8-DD43-4738-B02A-27272E37ACAE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715191" y="886034"/>
            <a:ext cx="6997877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2. Autocorrelation Plot (ACF Plot)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visual way to detect autocorrelation in residuals.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Python Code: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from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statsmodels.graphics.tsaplots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plot_acf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import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matplotlib.pyplot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residuals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model.resid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plot_acf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(residuals)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plt.show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✔ Interpretation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37F69BF-6918-4267-9746-307228A68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603" y="3573812"/>
            <a:ext cx="63690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Bars extending beyond the blue boundary → autocorrelation exists.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Bars within boundary → no autocorrelation.</a:t>
            </a:r>
          </a:p>
        </p:txBody>
      </p:sp>
    </p:spTree>
    <p:extLst>
      <p:ext uri="{BB962C8B-B14F-4D97-AF65-F5344CB8AC3E}">
        <p14:creationId xmlns:p14="http://schemas.microsoft.com/office/powerpoint/2010/main" val="2275073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00"/>
          <p:cNvSpPr txBox="1">
            <a:spLocks noGrp="1"/>
          </p:cNvSpPr>
          <p:nvPr>
            <p:ph type="title"/>
          </p:nvPr>
        </p:nvSpPr>
        <p:spPr>
          <a:xfrm>
            <a:off x="422025" y="445025"/>
            <a:ext cx="781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Tests after model building</a:t>
            </a:r>
            <a:endParaRPr/>
          </a:p>
        </p:txBody>
      </p:sp>
      <p:sp>
        <p:nvSpPr>
          <p:cNvPr id="961" name="Google Shape;961;p100"/>
          <p:cNvSpPr txBox="1">
            <a:spLocks noGrp="1"/>
          </p:cNvSpPr>
          <p:nvPr>
            <p:ph type="body" idx="2"/>
          </p:nvPr>
        </p:nvSpPr>
        <p:spPr>
          <a:xfrm>
            <a:off x="422025" y="1389300"/>
            <a:ext cx="8175300" cy="28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dk1"/>
                </a:solidFill>
              </a:rPr>
              <a:t>Linear relationship between dependent and independent variables</a:t>
            </a:r>
            <a:endParaRPr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dk1"/>
                </a:solidFill>
              </a:rPr>
              <a:t>Independence of observations should exist (i.e. Absence of Autocorrelation)</a:t>
            </a:r>
            <a:endParaRPr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dk1"/>
                </a:solidFill>
              </a:rPr>
              <a:t>The error terms should be homoscedastic</a:t>
            </a:r>
            <a:endParaRPr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400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dk1"/>
                </a:solidFill>
              </a:rPr>
              <a:t>The error terms must follow normal distribution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963" name="Google Shape;963;p100"/>
          <p:cNvSpPr/>
          <p:nvPr/>
        </p:nvSpPr>
        <p:spPr>
          <a:xfrm>
            <a:off x="842324" y="3185868"/>
            <a:ext cx="4497771" cy="52659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5AA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0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Homoscedasticity assumption</a:t>
            </a:r>
            <a:endParaRPr dirty="0"/>
          </a:p>
        </p:txBody>
      </p:sp>
      <p:sp>
        <p:nvSpPr>
          <p:cNvPr id="969" name="Google Shape;969;p101"/>
          <p:cNvSpPr txBox="1">
            <a:spLocks noGrp="1"/>
          </p:cNvSpPr>
          <p:nvPr>
            <p:ph type="body" idx="2"/>
          </p:nvPr>
        </p:nvSpPr>
        <p:spPr>
          <a:xfrm>
            <a:off x="422025" y="2409250"/>
            <a:ext cx="8150400" cy="19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  <a:highlight>
                  <a:schemeClr val="lt1"/>
                </a:highlight>
              </a:rPr>
              <a:t>Variance of the residual is assumed to be independent of the explanatory variables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  <a:highlight>
                  <a:schemeClr val="lt1"/>
                </a:highlight>
              </a:rPr>
              <a:t>Heteroscedasticity: non-constant variance of residuals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It happens due to the presence of extreme values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970" name="Google Shape;970;p101"/>
          <p:cNvGrpSpPr/>
          <p:nvPr/>
        </p:nvGrpSpPr>
        <p:grpSpPr>
          <a:xfrm>
            <a:off x="2829550" y="1339037"/>
            <a:ext cx="2705400" cy="1232100"/>
            <a:chOff x="2925825" y="1103875"/>
            <a:chExt cx="2705400" cy="1232100"/>
          </a:xfrm>
        </p:grpSpPr>
        <p:sp>
          <p:nvSpPr>
            <p:cNvPr id="971" name="Google Shape;971;p101"/>
            <p:cNvSpPr txBox="1"/>
            <p:nvPr/>
          </p:nvSpPr>
          <p:spPr>
            <a:xfrm>
              <a:off x="2925825" y="1103875"/>
              <a:ext cx="2705400" cy="123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800"/>
                </a:spcBef>
                <a:spcAft>
                  <a:spcPts val="80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GB" sz="2400" b="0" i="0" u="none" strike="noStrike" cap="none">
                  <a:solidFill>
                    <a:srgbClr val="333333"/>
                  </a:solidFill>
                  <a:highlight>
                    <a:srgbClr val="FFFFFF"/>
                  </a:highlight>
                  <a:latin typeface="Avenir"/>
                  <a:ea typeface="Avenir"/>
                  <a:cs typeface="Avenir"/>
                  <a:sym typeface="Avenir"/>
                </a:rPr>
                <a:t>Homoscedasticity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01"/>
            <p:cNvSpPr/>
            <p:nvPr/>
          </p:nvSpPr>
          <p:spPr>
            <a:xfrm rot="-5400000">
              <a:off x="3350375" y="1323475"/>
              <a:ext cx="192900" cy="7929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01"/>
            <p:cNvSpPr/>
            <p:nvPr/>
          </p:nvSpPr>
          <p:spPr>
            <a:xfrm rot="-5400000">
              <a:off x="4567775" y="944275"/>
              <a:ext cx="192900" cy="15513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01"/>
            <p:cNvSpPr txBox="1"/>
            <p:nvPr/>
          </p:nvSpPr>
          <p:spPr>
            <a:xfrm>
              <a:off x="3134500" y="1805625"/>
              <a:ext cx="954900" cy="40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400" b="0" i="0" u="none" strike="noStrike" cap="none" dirty="0">
                  <a:solidFill>
                    <a:srgbClr val="000000"/>
                  </a:solidFill>
                  <a:latin typeface="Helvetica Neue"/>
                  <a:sym typeface="Arial"/>
                </a:rPr>
                <a:t>Same</a:t>
              </a:r>
              <a:endParaRPr sz="1400" b="0" i="0" u="none" strike="noStrike" cap="none" dirty="0">
                <a:solidFill>
                  <a:srgbClr val="000000"/>
                </a:solidFill>
                <a:latin typeface="Helvetica Neue"/>
                <a:sym typeface="Arial"/>
              </a:endParaRPr>
            </a:p>
          </p:txBody>
        </p:sp>
        <p:sp>
          <p:nvSpPr>
            <p:cNvPr id="975" name="Google Shape;975;p101"/>
            <p:cNvSpPr txBox="1"/>
            <p:nvPr/>
          </p:nvSpPr>
          <p:spPr>
            <a:xfrm>
              <a:off x="4251325" y="1805625"/>
              <a:ext cx="954900" cy="40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400" b="0" i="0" u="none" strike="noStrike" cap="none" dirty="0">
                  <a:solidFill>
                    <a:srgbClr val="000000"/>
                  </a:solidFill>
                  <a:latin typeface="Helvetica Neue"/>
                  <a:sym typeface="Arial"/>
                </a:rPr>
                <a:t>Variance</a:t>
              </a:r>
              <a:endParaRPr sz="1400" b="0" i="0" u="none" strike="noStrike" cap="none" dirty="0">
                <a:solidFill>
                  <a:srgbClr val="000000"/>
                </a:solidFill>
                <a:latin typeface="Helvetica Neue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02"/>
          <p:cNvSpPr txBox="1">
            <a:spLocks noGrp="1"/>
          </p:cNvSpPr>
          <p:nvPr>
            <p:ph type="body" idx="1"/>
          </p:nvPr>
        </p:nvSpPr>
        <p:spPr>
          <a:xfrm>
            <a:off x="4502971" y="1406600"/>
            <a:ext cx="4456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dk1"/>
                </a:solidFill>
              </a:rPr>
              <a:t>Funnel type shape is seen in the graph</a:t>
            </a:r>
            <a:endParaRPr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3000"/>
              </a:spcBef>
              <a:spcAft>
                <a:spcPts val="3000"/>
              </a:spcAft>
              <a:buSzPts val="1600"/>
              <a:buChar char="●"/>
            </a:pPr>
            <a:r>
              <a:rPr lang="en-GB" dirty="0">
                <a:solidFill>
                  <a:schemeClr val="dk1"/>
                </a:solidFill>
              </a:rPr>
              <a:t>Hence we can say that there is a presence of “Heteroscedasticity”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980" name="Google Shape;980;p10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Heteroscedasticity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982" name="Google Shape;982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2025" y="1411025"/>
            <a:ext cx="4104300" cy="27668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3" name="Google Shape;983;p102"/>
          <p:cNvCxnSpPr/>
          <p:nvPr/>
        </p:nvCxnSpPr>
        <p:spPr>
          <a:xfrm rot="10800000">
            <a:off x="1253875" y="3302587"/>
            <a:ext cx="2346600" cy="396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4" name="Google Shape;984;p102"/>
          <p:cNvCxnSpPr/>
          <p:nvPr/>
        </p:nvCxnSpPr>
        <p:spPr>
          <a:xfrm rot="10800000" flipH="1">
            <a:off x="1277524" y="1739420"/>
            <a:ext cx="2079000" cy="1210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03"/>
          <p:cNvSpPr txBox="1">
            <a:spLocks noGrp="1"/>
          </p:cNvSpPr>
          <p:nvPr>
            <p:ph type="body" idx="1"/>
          </p:nvPr>
        </p:nvSpPr>
        <p:spPr>
          <a:xfrm>
            <a:off x="4751725" y="1411025"/>
            <a:ext cx="3825000" cy="1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>
                <a:solidFill>
                  <a:schemeClr val="dk1"/>
                </a:solidFill>
              </a:rPr>
              <a:t>There is no visible funnel or bow type pattern in the plot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3000"/>
              </a:spcBef>
              <a:spcAft>
                <a:spcPts val="3000"/>
              </a:spcAft>
              <a:buClr>
                <a:schemeClr val="dk1"/>
              </a:buClr>
              <a:buSzPts val="1600"/>
              <a:buChar char="●"/>
            </a:pPr>
            <a:r>
              <a:rPr lang="en-GB">
                <a:solidFill>
                  <a:schemeClr val="dk1"/>
                </a:solidFill>
              </a:rPr>
              <a:t>We can see presence of “Homoscedasticity”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9" name="Google Shape;989;p1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Homoscedasticity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grpSp>
        <p:nvGrpSpPr>
          <p:cNvPr id="991" name="Google Shape;991;p103"/>
          <p:cNvGrpSpPr/>
          <p:nvPr/>
        </p:nvGrpSpPr>
        <p:grpSpPr>
          <a:xfrm>
            <a:off x="408974" y="1410903"/>
            <a:ext cx="4102867" cy="2577534"/>
            <a:chOff x="4646225" y="2658850"/>
            <a:chExt cx="3566160" cy="2148840"/>
          </a:xfrm>
        </p:grpSpPr>
        <p:pic>
          <p:nvPicPr>
            <p:cNvPr id="992" name="Google Shape;992;p10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646225" y="2658850"/>
              <a:ext cx="3566160" cy="214884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93" name="Google Shape;993;p103"/>
            <p:cNvCxnSpPr/>
            <p:nvPr/>
          </p:nvCxnSpPr>
          <p:spPr>
            <a:xfrm flipH="1">
              <a:off x="5186300" y="2764625"/>
              <a:ext cx="2486100" cy="417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4" name="Google Shape;994;p103"/>
            <p:cNvCxnSpPr/>
            <p:nvPr/>
          </p:nvCxnSpPr>
          <p:spPr>
            <a:xfrm flipH="1">
              <a:off x="5958050" y="4127875"/>
              <a:ext cx="2038200" cy="36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04"/>
          <p:cNvSpPr txBox="1">
            <a:spLocks noGrp="1"/>
          </p:cNvSpPr>
          <p:nvPr>
            <p:ph type="body" idx="1"/>
          </p:nvPr>
        </p:nvSpPr>
        <p:spPr>
          <a:xfrm>
            <a:off x="336200" y="2504725"/>
            <a:ext cx="4659300" cy="18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dk1"/>
                </a:solidFill>
              </a:rPr>
              <a:t>It should look random, i.e., it should </a:t>
            </a:r>
            <a:r>
              <a:rPr lang="en-GB" dirty="0">
                <a:solidFill>
                  <a:srgbClr val="3C78D8"/>
                </a:solidFill>
              </a:rPr>
              <a:t>not</a:t>
            </a:r>
            <a:r>
              <a:rPr lang="en-GB" dirty="0">
                <a:solidFill>
                  <a:schemeClr val="dk1"/>
                </a:solidFill>
              </a:rPr>
              <a:t> exhibit much distinctive </a:t>
            </a:r>
            <a:r>
              <a:rPr lang="en-GB" dirty="0">
                <a:solidFill>
                  <a:srgbClr val="3C78D8"/>
                </a:solidFill>
              </a:rPr>
              <a:t>pattern</a:t>
            </a:r>
            <a:r>
              <a:rPr lang="en-GB" dirty="0">
                <a:solidFill>
                  <a:schemeClr val="dk1"/>
                </a:solidFill>
              </a:rPr>
              <a:t>, no non-linear trends or changes in variability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999" name="Google Shape;999;p10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Residual vs Fitted plot</a:t>
            </a:r>
            <a:endParaRPr/>
          </a:p>
        </p:txBody>
      </p:sp>
      <p:pic>
        <p:nvPicPr>
          <p:cNvPr id="1000" name="Google Shape;1000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95500" y="1939160"/>
            <a:ext cx="3750426" cy="27731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104"/>
          <p:cNvSpPr txBox="1"/>
          <p:nvPr/>
        </p:nvSpPr>
        <p:spPr>
          <a:xfrm>
            <a:off x="336200" y="1455700"/>
            <a:ext cx="7812300" cy="7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nir"/>
              <a:buChar char="●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Helvetica Neue"/>
                <a:ea typeface="Avenir"/>
                <a:cs typeface="Avenir"/>
                <a:sym typeface="Avenir"/>
              </a:rPr>
              <a:t>The plot of residuals against the fitted values tells whether the error terms have equal variance</a:t>
            </a:r>
            <a:endParaRPr sz="1800" b="0" i="0" u="none" strike="noStrike" cap="none" dirty="0">
              <a:solidFill>
                <a:srgbClr val="000000"/>
              </a:solidFill>
              <a:latin typeface="Helvetica Neue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Helvetica Neue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05"/>
          <p:cNvSpPr txBox="1">
            <a:spLocks noGrp="1"/>
          </p:cNvSpPr>
          <p:nvPr>
            <p:ph type="body" idx="1"/>
          </p:nvPr>
        </p:nvSpPr>
        <p:spPr>
          <a:xfrm>
            <a:off x="422025" y="1367425"/>
            <a:ext cx="8135700" cy="1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dirty="0">
                <a:solidFill>
                  <a:schemeClr val="dk1"/>
                </a:solidFill>
              </a:rPr>
              <a:t>The statistical test to test for the homoscedasticity of the errors are</a:t>
            </a:r>
            <a:endParaRPr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 err="1">
                <a:solidFill>
                  <a:schemeClr val="dk1"/>
                </a:solidFill>
              </a:rPr>
              <a:t>Goldfeld</a:t>
            </a:r>
            <a:r>
              <a:rPr lang="en-GB" dirty="0">
                <a:solidFill>
                  <a:schemeClr val="dk1"/>
                </a:solidFill>
              </a:rPr>
              <a:t> </a:t>
            </a:r>
            <a:r>
              <a:rPr lang="en-GB" dirty="0" err="1">
                <a:solidFill>
                  <a:schemeClr val="dk1"/>
                </a:solidFill>
              </a:rPr>
              <a:t>Quandt</a:t>
            </a:r>
            <a:r>
              <a:rPr lang="en-GB" dirty="0">
                <a:solidFill>
                  <a:schemeClr val="dk1"/>
                </a:solidFill>
              </a:rPr>
              <a:t> test</a:t>
            </a:r>
            <a:endParaRPr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 err="1">
                <a:solidFill>
                  <a:schemeClr val="dk1"/>
                </a:solidFill>
              </a:rPr>
              <a:t>Breusch</a:t>
            </a:r>
            <a:r>
              <a:rPr lang="en-GB" dirty="0">
                <a:solidFill>
                  <a:schemeClr val="dk1"/>
                </a:solidFill>
              </a:rPr>
              <a:t> Pagan test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007" name="Google Shape;1007;p10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Homoscedasticity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08"/>
          <p:cNvSpPr txBox="1">
            <a:spLocks noGrp="1"/>
          </p:cNvSpPr>
          <p:nvPr>
            <p:ph type="title"/>
          </p:nvPr>
        </p:nvSpPr>
        <p:spPr>
          <a:xfrm>
            <a:off x="422025" y="445025"/>
            <a:ext cx="781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Tests after model building</a:t>
            </a:r>
            <a:endParaRPr dirty="0"/>
          </a:p>
        </p:txBody>
      </p:sp>
      <p:sp>
        <p:nvSpPr>
          <p:cNvPr id="1031" name="Google Shape;1031;p108"/>
          <p:cNvSpPr txBox="1">
            <a:spLocks noGrp="1"/>
          </p:cNvSpPr>
          <p:nvPr>
            <p:ph type="body" idx="2"/>
          </p:nvPr>
        </p:nvSpPr>
        <p:spPr>
          <a:xfrm>
            <a:off x="422025" y="1389300"/>
            <a:ext cx="8175300" cy="28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>
                <a:solidFill>
                  <a:schemeClr val="dk1"/>
                </a:solidFill>
              </a:rPr>
              <a:t>Linear relationship between dependent and independent variables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>
                <a:solidFill>
                  <a:schemeClr val="dk1"/>
                </a:solidFill>
              </a:rPr>
              <a:t>Independence of observations should exist (i.e. Absence of Autocorrelation)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>
                <a:solidFill>
                  <a:schemeClr val="dk1"/>
                </a:solidFill>
              </a:rPr>
              <a:t>The error terms should be homoscedastic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4000"/>
              </a:spcBef>
              <a:spcAft>
                <a:spcPts val="4000"/>
              </a:spcAft>
              <a:buClr>
                <a:schemeClr val="dk1"/>
              </a:buClr>
              <a:buSzPts val="1600"/>
              <a:buChar char="●"/>
            </a:pPr>
            <a:r>
              <a:rPr lang="en-GB">
                <a:solidFill>
                  <a:schemeClr val="dk1"/>
                </a:solidFill>
              </a:rPr>
              <a:t>The error terms must follow normal distribution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3" name="Google Shape;1033;p108"/>
          <p:cNvSpPr/>
          <p:nvPr/>
        </p:nvSpPr>
        <p:spPr>
          <a:xfrm>
            <a:off x="860612" y="3942737"/>
            <a:ext cx="4900107" cy="55532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5AA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Normality test</a:t>
            </a:r>
            <a:endParaRPr dirty="0"/>
          </a:p>
        </p:txBody>
      </p:sp>
      <p:sp>
        <p:nvSpPr>
          <p:cNvPr id="1039" name="Google Shape;1039;p109"/>
          <p:cNvSpPr txBox="1">
            <a:spLocks noGrp="1"/>
          </p:cNvSpPr>
          <p:nvPr>
            <p:ph type="body" idx="2"/>
          </p:nvPr>
        </p:nvSpPr>
        <p:spPr>
          <a:xfrm>
            <a:off x="312575" y="1389300"/>
            <a:ext cx="8551800" cy="20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Parametric statistical methods assume that the underlying data has a normal distribution</a:t>
            </a:r>
            <a:endParaRPr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  <a:highlight>
                  <a:schemeClr val="lt1"/>
                </a:highlight>
              </a:rPr>
              <a:t>Normality tests are used to determine if a data set is well-</a:t>
            </a:r>
            <a:r>
              <a:rPr lang="en-GB" dirty="0" err="1">
                <a:solidFill>
                  <a:schemeClr val="tx1"/>
                </a:solidFill>
                <a:highlight>
                  <a:schemeClr val="lt1"/>
                </a:highlight>
              </a:rPr>
              <a:t>modeled</a:t>
            </a:r>
            <a:r>
              <a:rPr lang="en-GB" dirty="0">
                <a:solidFill>
                  <a:schemeClr val="tx1"/>
                </a:solidFill>
                <a:highlight>
                  <a:schemeClr val="lt1"/>
                </a:highlight>
              </a:rPr>
              <a:t> by a normal distribution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Normality testing techniques</a:t>
            </a:r>
            <a:endParaRPr/>
          </a:p>
        </p:txBody>
      </p:sp>
      <p:sp>
        <p:nvSpPr>
          <p:cNvPr id="1045" name="Google Shape;1045;p110"/>
          <p:cNvSpPr txBox="1">
            <a:spLocks noGrp="1"/>
          </p:cNvSpPr>
          <p:nvPr>
            <p:ph type="body" idx="2"/>
          </p:nvPr>
        </p:nvSpPr>
        <p:spPr>
          <a:xfrm>
            <a:off x="336900" y="1191650"/>
            <a:ext cx="3430428" cy="21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Quantile-Quantile Plot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en-GB" dirty="0" err="1">
                <a:solidFill>
                  <a:schemeClr val="tx1"/>
                </a:solidFill>
              </a:rPr>
              <a:t>Jarque-Bera</a:t>
            </a:r>
            <a:r>
              <a:rPr lang="en-GB" dirty="0">
                <a:solidFill>
                  <a:schemeClr val="tx1"/>
                </a:solidFill>
              </a:rPr>
              <a:t> (JB) Test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  <a:highlight>
                  <a:schemeClr val="lt1"/>
                </a:highlight>
              </a:rPr>
              <a:t>Shapiro-Wilk Test</a:t>
            </a:r>
            <a:endParaRPr dirty="0">
              <a:solidFill>
                <a:schemeClr val="tx1"/>
              </a:solidFill>
              <a:highlight>
                <a:schemeClr val="lt1"/>
              </a:highlight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1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tx1"/>
                </a:solidFill>
              </a:rPr>
              <a:t>Quantile-Quantile Plot (QQ plot)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51" name="Google Shape;1051;p111"/>
          <p:cNvSpPr txBox="1">
            <a:spLocks noGrp="1"/>
          </p:cNvSpPr>
          <p:nvPr>
            <p:ph type="body" idx="2"/>
          </p:nvPr>
        </p:nvSpPr>
        <p:spPr>
          <a:xfrm>
            <a:off x="336900" y="1410500"/>
            <a:ext cx="8267100" cy="3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 dirty="0">
                <a:solidFill>
                  <a:schemeClr val="dk1"/>
                </a:solidFill>
              </a:rPr>
              <a:t>Used to determine whether two datasets follow the same distribution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2000"/>
              </a:spcBef>
              <a:spcAft>
                <a:spcPts val="0"/>
              </a:spcAft>
              <a:buSzPts val="1600"/>
              <a:buChar char="●"/>
            </a:pPr>
            <a:r>
              <a:rPr lang="en-GB" sz="1600" dirty="0">
                <a:solidFill>
                  <a:schemeClr val="dk1"/>
                </a:solidFill>
              </a:rPr>
              <a:t>The quantiles of two datasets are plotted against each </a:t>
            </a:r>
            <a:r>
              <a:rPr lang="en-GB" dirty="0">
                <a:solidFill>
                  <a:schemeClr val="tx1"/>
                </a:solidFill>
              </a:rPr>
              <a:t>other</a:t>
            </a: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dirty="0">
                <a:solidFill>
                  <a:schemeClr val="dk1"/>
                </a:solidFill>
              </a:rPr>
              <a:t>A reference line is plotted at 45</a:t>
            </a:r>
            <a:r>
              <a:rPr lang="en-GB" sz="1600" baseline="30000" dirty="0">
                <a:solidFill>
                  <a:schemeClr val="dk1"/>
                </a:solidFill>
              </a:rPr>
              <a:t>0</a:t>
            </a:r>
            <a:endParaRPr sz="1600" baseline="300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600"/>
              <a:buChar char="●"/>
            </a:pPr>
            <a:r>
              <a:rPr lang="en-GB" sz="1600" dirty="0">
                <a:solidFill>
                  <a:schemeClr val="dk1"/>
                </a:solidFill>
              </a:rPr>
              <a:t>If the points lie on the reference line we conclude they follow the same distribution</a:t>
            </a:r>
            <a:endParaRPr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1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38000"/>
              </a:lnSpc>
              <a:buSzPts val="1100"/>
            </a:pPr>
            <a:r>
              <a:rPr lang="en-GB" dirty="0"/>
              <a:t>Normal QQ plot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Google Shape;1057;p112"/>
          <p:cNvSpPr txBox="1">
            <a:spLocks noGrp="1"/>
          </p:cNvSpPr>
          <p:nvPr>
            <p:ph type="body" idx="1"/>
          </p:nvPr>
        </p:nvSpPr>
        <p:spPr>
          <a:xfrm>
            <a:off x="4395475" y="1315388"/>
            <a:ext cx="44691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800" dirty="0">
                <a:solidFill>
                  <a:schemeClr val="dk1"/>
                </a:solidFill>
              </a:rPr>
              <a:t>The x axis has points from a theoretically calculated normal distribution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800" dirty="0">
                <a:solidFill>
                  <a:schemeClr val="dk1"/>
                </a:solidFill>
              </a:rPr>
              <a:t>They are compared with sample data on the y axis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3000"/>
              </a:spcBef>
              <a:spcAft>
                <a:spcPts val="3000"/>
              </a:spcAft>
              <a:buClr>
                <a:schemeClr val="dk1"/>
              </a:buClr>
              <a:buSzPts val="1600"/>
              <a:buChar char="●"/>
            </a:pPr>
            <a:r>
              <a:rPr lang="en-GB" sz="1800" dirty="0">
                <a:solidFill>
                  <a:schemeClr val="dk1"/>
                </a:solidFill>
              </a:rPr>
              <a:t>If the sample data has a normal distribution the points lie on the reference line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6" name="Google Shape;1058;p112"/>
          <p:cNvPicPr preferRelativeResize="0"/>
          <p:nvPr/>
        </p:nvPicPr>
        <p:blipFill rotWithShape="1">
          <a:blip r:embed="rId3">
            <a:alphaModFix/>
          </a:blip>
          <a:srcRect l="2534" r="3559" b="3362"/>
          <a:stretch/>
        </p:blipFill>
        <p:spPr>
          <a:xfrm>
            <a:off x="422025" y="1521372"/>
            <a:ext cx="3893100" cy="28264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03812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>
                <a:solidFill>
                  <a:schemeClr val="tx1"/>
                </a:solidFill>
              </a:rPr>
              <a:t>JB test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66" name="Google Shape;1066;p113"/>
          <p:cNvSpPr txBox="1">
            <a:spLocks noGrp="1"/>
          </p:cNvSpPr>
          <p:nvPr>
            <p:ph type="body" idx="2"/>
          </p:nvPr>
        </p:nvSpPr>
        <p:spPr>
          <a:xfrm>
            <a:off x="422025" y="1300663"/>
            <a:ext cx="8267100" cy="2569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To test whether the data follows normal distribution, we test whether the skewness and kurtosis of the data are same as that of the normal distribution, i.e. to test</a:t>
            </a:r>
            <a:endParaRPr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-GB" dirty="0">
                <a:solidFill>
                  <a:schemeClr val="tx1"/>
                </a:solidFill>
              </a:rPr>
              <a:t>			</a:t>
            </a:r>
            <a:endParaRPr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-GB" dirty="0">
                <a:solidFill>
                  <a:schemeClr val="tx1"/>
                </a:solidFill>
              </a:rPr>
              <a:t>	                              against 	</a:t>
            </a:r>
            <a:endParaRPr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Failing to reject H</a:t>
            </a:r>
            <a:r>
              <a:rPr lang="en-GB" baseline="-25000" dirty="0">
                <a:solidFill>
                  <a:schemeClr val="tx1"/>
                </a:solidFill>
              </a:rPr>
              <a:t>0</a:t>
            </a:r>
            <a:r>
              <a:rPr lang="en-GB" dirty="0">
                <a:solidFill>
                  <a:schemeClr val="tx1"/>
                </a:solidFill>
              </a:rPr>
              <a:t>, implies that the data does not follow normal distribution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64" name="Google Shape;1064;p113"/>
          <p:cNvSpPr/>
          <p:nvPr/>
        </p:nvSpPr>
        <p:spPr>
          <a:xfrm>
            <a:off x="1688040" y="2415025"/>
            <a:ext cx="4207170" cy="364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400"/>
            </a:pPr>
            <a:r>
              <a:rPr lang="en-GB" sz="1600" dirty="0">
                <a:solidFill>
                  <a:schemeClr val="dk1"/>
                </a:solidFill>
                <a:latin typeface="Helvetica Neue"/>
              </a:rPr>
              <a:t>H</a:t>
            </a:r>
            <a:r>
              <a:rPr lang="en-GB" sz="1600" baseline="-25000" dirty="0">
                <a:solidFill>
                  <a:schemeClr val="dk1"/>
                </a:solidFill>
                <a:latin typeface="Helvetica Neue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Helvetica Neue"/>
              </a:rPr>
              <a:t>: Skewness (S) = 0 and Kurtosis (K) = 0</a:t>
            </a:r>
            <a:endParaRPr sz="1600" b="0" i="0" u="none" strike="noStrike" cap="none" dirty="0">
              <a:solidFill>
                <a:srgbClr val="000000"/>
              </a:solidFill>
              <a:latin typeface="Helvetica Neue"/>
              <a:sym typeface="Arial"/>
            </a:endParaRPr>
          </a:p>
        </p:txBody>
      </p:sp>
      <p:sp>
        <p:nvSpPr>
          <p:cNvPr id="1065" name="Google Shape;1065;p113"/>
          <p:cNvSpPr/>
          <p:nvPr/>
        </p:nvSpPr>
        <p:spPr>
          <a:xfrm>
            <a:off x="1688040" y="3262147"/>
            <a:ext cx="4207170" cy="364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400"/>
            </a:pPr>
            <a:r>
              <a:rPr lang="en-GB" sz="1600" dirty="0">
                <a:solidFill>
                  <a:schemeClr val="dk1"/>
                </a:solidFill>
                <a:latin typeface="Helvetica Neue"/>
              </a:rPr>
              <a:t>H</a:t>
            </a:r>
            <a:r>
              <a:rPr lang="en-GB" sz="1600" baseline="-25000" dirty="0">
                <a:solidFill>
                  <a:schemeClr val="dk1"/>
                </a:solidFill>
                <a:latin typeface="Helvetica Neue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Helvetica Neue"/>
              </a:rPr>
              <a:t>: Skewness (S) ≠ 0 and Kurtosis (K) ≠ 0</a:t>
            </a:r>
            <a:endParaRPr sz="1600" b="0" i="0" u="none" strike="noStrike" cap="none" dirty="0">
              <a:solidFill>
                <a:srgbClr val="000000"/>
              </a:solidFill>
              <a:latin typeface="Helvetica Neue"/>
              <a:sym typeface="Arial"/>
            </a:endParaRPr>
          </a:p>
        </p:txBody>
      </p:sp>
      <p:pic>
        <p:nvPicPr>
          <p:cNvPr id="1067" name="Google Shape;1067;p113" descr="JB=n/6(S^2+1/4(K -3)^2)" title="MathEquation,#0000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1514" y="4189230"/>
            <a:ext cx="3781353" cy="691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>
                <a:solidFill>
                  <a:schemeClr val="tx1"/>
                </a:solidFill>
              </a:rPr>
              <a:t>JB test</a:t>
            </a:r>
          </a:p>
        </p:txBody>
      </p:sp>
      <p:sp>
        <p:nvSpPr>
          <p:cNvPr id="1078" name="Google Shape;1078;p114"/>
          <p:cNvSpPr txBox="1">
            <a:spLocks noGrp="1"/>
          </p:cNvSpPr>
          <p:nvPr>
            <p:ph type="subTitle" idx="1"/>
          </p:nvPr>
        </p:nvSpPr>
        <p:spPr>
          <a:xfrm>
            <a:off x="322075" y="3979900"/>
            <a:ext cx="8267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dirty="0">
                <a:solidFill>
                  <a:schemeClr val="dk1"/>
                </a:solidFill>
              </a:rPr>
              <a:t>The test statistics asymptotically follows chi squared distribution with 2 degrees of freedom (χ</a:t>
            </a:r>
            <a:r>
              <a:rPr lang="en-GB" sz="1600" baseline="30000" dirty="0">
                <a:solidFill>
                  <a:schemeClr val="dk1"/>
                </a:solidFill>
              </a:rPr>
              <a:t>2</a:t>
            </a:r>
            <a:r>
              <a:rPr lang="en-GB" sz="1600" baseline="-25000" dirty="0">
                <a:solidFill>
                  <a:schemeClr val="dk1"/>
                </a:solidFill>
              </a:rPr>
              <a:t>2</a:t>
            </a:r>
            <a:r>
              <a:rPr lang="en-GB" sz="1600" dirty="0">
                <a:solidFill>
                  <a:schemeClr val="dk1"/>
                </a:solidFill>
              </a:rPr>
              <a:t>)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1073" name="Google Shape;1073;p114"/>
          <p:cNvSpPr txBox="1">
            <a:spLocks noGrp="1"/>
          </p:cNvSpPr>
          <p:nvPr>
            <p:ph type="body" idx="2"/>
          </p:nvPr>
        </p:nvSpPr>
        <p:spPr>
          <a:xfrm>
            <a:off x="322075" y="1411025"/>
            <a:ext cx="82671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dirty="0">
                <a:solidFill>
                  <a:schemeClr val="dk1"/>
                </a:solidFill>
              </a:rPr>
              <a:t>The test statistics for n observations is given by </a:t>
            </a:r>
            <a:endParaRPr sz="1600" dirty="0">
              <a:solidFill>
                <a:schemeClr val="dk1"/>
              </a:solidFill>
            </a:endParaRPr>
          </a:p>
        </p:txBody>
      </p:sp>
      <p:cxnSp>
        <p:nvCxnSpPr>
          <p:cNvPr id="1074" name="Google Shape;1074;p114"/>
          <p:cNvCxnSpPr>
            <a:endCxn id="1075" idx="1"/>
          </p:cNvCxnSpPr>
          <p:nvPr/>
        </p:nvCxnSpPr>
        <p:spPr>
          <a:xfrm>
            <a:off x="4967013" y="2622075"/>
            <a:ext cx="918600" cy="618694"/>
          </a:xfrm>
          <a:prstGeom prst="bentConnector3">
            <a:avLst>
              <a:gd name="adj1" fmla="val 229"/>
            </a:avLst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triangle" w="sm" len="sm"/>
            <a:tailEnd type="none" w="sm" len="sm"/>
          </a:ln>
        </p:spPr>
      </p:cxnSp>
      <p:cxnSp>
        <p:nvCxnSpPr>
          <p:cNvPr id="1076" name="Google Shape;1076;p114"/>
          <p:cNvCxnSpPr/>
          <p:nvPr/>
        </p:nvCxnSpPr>
        <p:spPr>
          <a:xfrm>
            <a:off x="3318434" y="2672100"/>
            <a:ext cx="0" cy="854700"/>
          </a:xfrm>
          <a:prstGeom prst="straightConnector1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triangle" w="sm" len="sm"/>
            <a:tailEnd type="none" w="sm" len="sm"/>
          </a:ln>
        </p:spPr>
      </p:cxnSp>
      <p:sp>
        <p:nvSpPr>
          <p:cNvPr id="1075" name="Google Shape;1075;p114"/>
          <p:cNvSpPr txBox="1"/>
          <p:nvPr/>
        </p:nvSpPr>
        <p:spPr>
          <a:xfrm>
            <a:off x="5885613" y="3013124"/>
            <a:ext cx="2438580" cy="455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600" b="0" i="0" u="none" strike="noStrike" cap="none" dirty="0">
                <a:solidFill>
                  <a:srgbClr val="25AAE2"/>
                </a:solidFill>
                <a:latin typeface="Helvetica Neue"/>
                <a:ea typeface="Avenir"/>
                <a:cs typeface="Avenir"/>
                <a:sym typeface="Avenir"/>
              </a:rPr>
              <a:t>Kurtosis coefficient</a:t>
            </a:r>
            <a:endParaRPr sz="1600" b="0" i="0" u="none" strike="noStrike" cap="none" dirty="0">
              <a:solidFill>
                <a:srgbClr val="25AAE2"/>
              </a:solidFill>
              <a:latin typeface="Helvetica Neue"/>
              <a:ea typeface="Avenir"/>
              <a:cs typeface="Avenir"/>
              <a:sym typeface="Avenir"/>
            </a:endParaRPr>
          </a:p>
        </p:txBody>
      </p:sp>
      <p:sp>
        <p:nvSpPr>
          <p:cNvPr id="1077" name="Google Shape;1077;p114"/>
          <p:cNvSpPr txBox="1"/>
          <p:nvPr/>
        </p:nvSpPr>
        <p:spPr>
          <a:xfrm>
            <a:off x="2487224" y="3526800"/>
            <a:ext cx="1930434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600" b="0" i="0" u="none" strike="noStrike" cap="none">
                <a:solidFill>
                  <a:srgbClr val="25AAE2"/>
                </a:solidFill>
                <a:latin typeface="Avenir"/>
                <a:ea typeface="Avenir"/>
                <a:cs typeface="Avenir"/>
                <a:sym typeface="Avenir"/>
              </a:rPr>
              <a:t>Sample skewness </a:t>
            </a:r>
            <a:endParaRPr sz="1600" b="0" i="0" u="none" strike="noStrike" cap="none">
              <a:solidFill>
                <a:srgbClr val="25AAE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079" name="Google Shape;1079;p114" descr="JB=n/6(S^2+1/4(K -3)^2)" title="MathEquation,#0000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8036" y="1995125"/>
            <a:ext cx="5388526" cy="88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15"/>
          <p:cNvSpPr txBox="1">
            <a:spLocks noGrp="1"/>
          </p:cNvSpPr>
          <p:nvPr>
            <p:ph type="body" idx="2"/>
          </p:nvPr>
        </p:nvSpPr>
        <p:spPr>
          <a:xfrm>
            <a:off x="227325" y="1339750"/>
            <a:ext cx="8267100" cy="26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To test whether the data follows normal distribution, i.e. to test</a:t>
            </a:r>
            <a:endParaRPr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-GB" dirty="0">
                <a:solidFill>
                  <a:schemeClr val="tx1"/>
                </a:solidFill>
              </a:rPr>
              <a:t>			</a:t>
            </a:r>
            <a:endParaRPr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-GB" dirty="0">
                <a:solidFill>
                  <a:schemeClr val="tx1"/>
                </a:solidFill>
              </a:rPr>
              <a:t>	                                           against 	</a:t>
            </a:r>
            <a:endParaRPr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endParaRPr dirty="0">
              <a:solidFill>
                <a:schemeClr val="tx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dirty="0">
                <a:solidFill>
                  <a:schemeClr val="tx1"/>
                </a:solidFill>
              </a:rPr>
              <a:t>Failing to reject H</a:t>
            </a:r>
            <a:r>
              <a:rPr lang="en-GB" baseline="-25000" dirty="0">
                <a:solidFill>
                  <a:schemeClr val="tx1"/>
                </a:solidFill>
              </a:rPr>
              <a:t>0</a:t>
            </a:r>
            <a:r>
              <a:rPr lang="en-GB" dirty="0">
                <a:solidFill>
                  <a:schemeClr val="tx1"/>
                </a:solidFill>
              </a:rPr>
              <a:t>, implies that the data does not follow normal distribution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84" name="Google Shape;1084;p115"/>
          <p:cNvSpPr/>
          <p:nvPr/>
        </p:nvSpPr>
        <p:spPr>
          <a:xfrm>
            <a:off x="2232870" y="2852895"/>
            <a:ext cx="4256010" cy="364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400"/>
            </a:pPr>
            <a:r>
              <a:rPr lang="en-GB" sz="1600" dirty="0">
                <a:solidFill>
                  <a:schemeClr val="dk1"/>
                </a:solidFill>
                <a:latin typeface="Helvetica Neue"/>
              </a:rPr>
              <a:t>     H</a:t>
            </a:r>
            <a:r>
              <a:rPr lang="en-GB" sz="1600" baseline="-25000" dirty="0">
                <a:solidFill>
                  <a:schemeClr val="dk1"/>
                </a:solidFill>
                <a:latin typeface="Helvetica Neue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Helvetica Neue"/>
              </a:rPr>
              <a:t>:  The data is not normally distributed</a:t>
            </a:r>
            <a:endParaRPr sz="1600" b="0" i="0" u="none" strike="noStrike" cap="none" dirty="0">
              <a:solidFill>
                <a:srgbClr val="000000"/>
              </a:solidFill>
              <a:latin typeface="Helvetica Neue"/>
              <a:sym typeface="Arial"/>
            </a:endParaRPr>
          </a:p>
        </p:txBody>
      </p:sp>
      <p:sp>
        <p:nvSpPr>
          <p:cNvPr id="1087" name="Google Shape;1087;p1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tx1"/>
                </a:solidFill>
              </a:rPr>
              <a:t>Shapiro-Wilk test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Google Shape;1084;p115"/>
          <p:cNvSpPr/>
          <p:nvPr/>
        </p:nvSpPr>
        <p:spPr>
          <a:xfrm>
            <a:off x="2232870" y="1844110"/>
            <a:ext cx="4256010" cy="364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400"/>
            </a:pPr>
            <a:r>
              <a:rPr lang="en-GB" sz="1600" dirty="0">
                <a:solidFill>
                  <a:schemeClr val="dk1"/>
                </a:solidFill>
                <a:latin typeface="Helvetica Neue"/>
              </a:rPr>
              <a:t>         H</a:t>
            </a:r>
            <a:r>
              <a:rPr lang="en-GB" sz="1600" baseline="-25000" dirty="0">
                <a:solidFill>
                  <a:schemeClr val="dk1"/>
                </a:solidFill>
                <a:latin typeface="Helvetica Neue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Helvetica Neue"/>
              </a:rPr>
              <a:t>:  The data is normally distributed</a:t>
            </a:r>
            <a:endParaRPr sz="1600" b="0" i="0" u="none" strike="noStrike" cap="none" dirty="0">
              <a:solidFill>
                <a:srgbClr val="000000"/>
              </a:solidFill>
              <a:latin typeface="Helvetica Neue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solidFill>
                  <a:schemeClr val="tx1"/>
                </a:solidFill>
              </a:rPr>
              <a:t>Shapiro-Wilk test statistic</a:t>
            </a:r>
            <a:endParaRPr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3" name="Google Shape;1093;p116"/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446425" y="2714019"/>
                <a:ext cx="8426100" cy="186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600"/>
                  <a:buNone/>
                </a:pPr>
                <a:r>
                  <a:rPr lang="en-GB" sz="1600" dirty="0">
                    <a:solidFill>
                      <a:schemeClr val="tx1"/>
                    </a:solidFill>
                  </a:rPr>
                  <a:t>n  =  sample size</a:t>
                </a:r>
              </a:p>
              <a:p>
                <a:pPr marL="450000" lvl="0" indent="-450000" algn="l" rtl="0">
                  <a:lnSpc>
                    <a:spcPct val="100000"/>
                  </a:lnSpc>
                  <a:spcBef>
                    <a:spcPts val="1500"/>
                  </a:spcBef>
                  <a:spcAft>
                    <a:spcPts val="0"/>
                  </a:spcAft>
                  <a:buSzPts val="1600"/>
                  <a:buNone/>
                </a:pPr>
                <a:r>
                  <a:rPr lang="en-GB" sz="1600" dirty="0" err="1">
                    <a:solidFill>
                      <a:schemeClr val="tx1"/>
                    </a:solidFill>
                  </a:rPr>
                  <a:t>a</a:t>
                </a:r>
                <a:r>
                  <a:rPr lang="en-GB" sz="1600" baseline="-25000" dirty="0" err="1">
                    <a:solidFill>
                      <a:schemeClr val="tx1"/>
                    </a:solidFill>
                  </a:rPr>
                  <a:t>i</a:t>
                </a:r>
                <a:r>
                  <a:rPr lang="en-GB" sz="1600" dirty="0">
                    <a:solidFill>
                      <a:schemeClr val="tx1"/>
                    </a:solidFill>
                  </a:rPr>
                  <a:t> =  values computed from n samples (of size n each) from normal distribution based on their means, covariance matrix</a:t>
                </a:r>
              </a:p>
              <a:p>
                <a:pPr marL="0" lvl="0" indent="0" algn="l" rtl="0">
                  <a:lnSpc>
                    <a:spcPct val="100000"/>
                  </a:lnSpc>
                  <a:spcBef>
                    <a:spcPts val="1500"/>
                  </a:spcBef>
                  <a:spcAft>
                    <a:spcPts val="0"/>
                  </a:spcAft>
                  <a:buSzPts val="1600"/>
                  <a:buNone/>
                </a:pPr>
                <a:r>
                  <a:rPr lang="en-GB" sz="1600" dirty="0">
                    <a:solidFill>
                      <a:schemeClr val="tx1"/>
                    </a:solidFill>
                  </a:rPr>
                  <a:t>x</a:t>
                </a:r>
                <a:r>
                  <a:rPr lang="en-GB" sz="1600" baseline="-25000" dirty="0">
                    <a:solidFill>
                      <a:schemeClr val="tx1"/>
                    </a:solidFill>
                  </a:rPr>
                  <a:t>i</a:t>
                </a:r>
                <a:r>
                  <a:rPr lang="en-GB" sz="1600" dirty="0">
                    <a:solidFill>
                      <a:schemeClr val="tx1"/>
                    </a:solidFill>
                  </a:rPr>
                  <a:t> =  </a:t>
                </a:r>
                <a:r>
                  <a:rPr lang="en-GB" sz="1600" dirty="0" err="1">
                    <a:solidFill>
                      <a:schemeClr val="tx1"/>
                    </a:solidFill>
                  </a:rPr>
                  <a:t>i</a:t>
                </a:r>
                <a:r>
                  <a:rPr lang="en-GB" sz="1600" baseline="30000" dirty="0" err="1">
                    <a:solidFill>
                      <a:schemeClr val="tx1"/>
                    </a:solidFill>
                  </a:rPr>
                  <a:t>th</a:t>
                </a:r>
                <a:r>
                  <a:rPr lang="en-GB" sz="1600" dirty="0">
                    <a:solidFill>
                      <a:schemeClr val="tx1"/>
                    </a:solidFill>
                  </a:rPr>
                  <a:t> ordered sample values</a:t>
                </a:r>
              </a:p>
              <a:p>
                <a:pPr marL="0" lvl="0" indent="0" algn="l" rtl="0">
                  <a:lnSpc>
                    <a:spcPct val="100000"/>
                  </a:lnSpc>
                  <a:spcBef>
                    <a:spcPts val="1500"/>
                  </a:spcBef>
                  <a:spcAft>
                    <a:spcPts val="0"/>
                  </a:spcAft>
                  <a:buSzPts val="1600"/>
                  <a:buNone/>
                </a:pPr>
                <a:r>
                  <a:rPr lang="en-GB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ar-AE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ar-AE" sz="1600" dirty="0">
                    <a:solidFill>
                      <a:schemeClr val="tx1"/>
                    </a:solidFill>
                  </a:rPr>
                  <a:t>=  </a:t>
                </a:r>
                <a:r>
                  <a:rPr lang="en-GB" sz="1600" dirty="0">
                    <a:solidFill>
                      <a:schemeClr val="tx1"/>
                    </a:solidFill>
                  </a:rPr>
                  <a:t>sample mean</a:t>
                </a:r>
              </a:p>
            </p:txBody>
          </p:sp>
        </mc:Choice>
        <mc:Fallback xmlns="">
          <p:sp>
            <p:nvSpPr>
              <p:cNvPr id="1093" name="Google Shape;1093;p1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446425" y="2714019"/>
                <a:ext cx="8426100" cy="1866000"/>
              </a:xfrm>
              <a:prstGeom prst="rect">
                <a:avLst/>
              </a:prstGeom>
              <a:blipFill>
                <a:blip r:embed="rId3"/>
                <a:stretch>
                  <a:fillRect l="-362" b="-78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94" name="Google Shape;1094;p116" descr="W =(sum_(i=1)^na_ix_i)^2/(sum_(i=1)^n(x_i-barx)^2)" title="MathEquation,#0000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3938" y="1678686"/>
            <a:ext cx="3149350" cy="10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116"/>
          <p:cNvSpPr txBox="1"/>
          <p:nvPr/>
        </p:nvSpPr>
        <p:spPr>
          <a:xfrm>
            <a:off x="446425" y="1426600"/>
            <a:ext cx="47940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800" b="0" i="0" u="none" strike="noStrike" cap="none" dirty="0">
                <a:solidFill>
                  <a:schemeClr val="tx1"/>
                </a:solidFill>
                <a:latin typeface="Helvetica Neue"/>
                <a:ea typeface="Avenir"/>
                <a:cs typeface="Avenir"/>
                <a:sym typeface="Avenir"/>
              </a:rPr>
              <a:t>The test statistic is given by</a:t>
            </a:r>
            <a:endParaRPr sz="1800" b="0" i="0" u="none" strike="noStrike" cap="none" dirty="0">
              <a:solidFill>
                <a:schemeClr val="tx1"/>
              </a:solidFill>
              <a:latin typeface="Helvetica Neue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1878</Words>
  <Application>Microsoft Office PowerPoint</Application>
  <PresentationFormat>On-screen Show (16:9)</PresentationFormat>
  <Paragraphs>268</Paragraphs>
  <Slides>43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Avenir</vt:lpstr>
      <vt:lpstr>Calibri</vt:lpstr>
      <vt:lpstr>Cambria Math</vt:lpstr>
      <vt:lpstr>Helvetica Neue</vt:lpstr>
      <vt:lpstr>Helvetica Neue Light</vt:lpstr>
      <vt:lpstr>Just Logo</vt:lpstr>
      <vt:lpstr>     Machine Learning  Assumptions of Regression and Model Evaluation</vt:lpstr>
      <vt:lpstr>Assumptions of linear regression</vt:lpstr>
      <vt:lpstr>PowerPoint Presentation</vt:lpstr>
      <vt:lpstr>PowerPoint Presentation</vt:lpstr>
      <vt:lpstr>Assumptions of linear regression</vt:lpstr>
      <vt:lpstr>Tests for Assumptions of Linear Regression</vt:lpstr>
      <vt:lpstr>Tests before model building</vt:lpstr>
      <vt:lpstr>Is the dependent variable numeric?</vt:lpstr>
      <vt:lpstr>Q &amp; A</vt:lpstr>
      <vt:lpstr>Q &amp; A</vt:lpstr>
      <vt:lpstr>Tests before model building</vt:lpstr>
      <vt:lpstr>What is multicollinearity?</vt:lpstr>
      <vt:lpstr>Multicollinearity detection</vt:lpstr>
      <vt:lpstr>Is there multicollinearity?</vt:lpstr>
      <vt:lpstr>Which variables are involved in multicollinearity?</vt:lpstr>
      <vt:lpstr>Which variables are involved in multicollinearity?</vt:lpstr>
      <vt:lpstr>Tests after model building</vt:lpstr>
      <vt:lpstr>Tests after model building</vt:lpstr>
      <vt:lpstr>Assumption of linearity</vt:lpstr>
      <vt:lpstr>Existence of linear relationship</vt:lpstr>
      <vt:lpstr>Existence of linear relationship</vt:lpstr>
      <vt:lpstr>Tests after model building</vt:lpstr>
      <vt:lpstr>Assumption of autocorrelation</vt:lpstr>
      <vt:lpstr>PowerPoint Presentation</vt:lpstr>
      <vt:lpstr>Causes of autocorrelation</vt:lpstr>
      <vt:lpstr>Durbin - Watson Test</vt:lpstr>
      <vt:lpstr>Durbin - Watson test</vt:lpstr>
      <vt:lpstr>Autocorrelation</vt:lpstr>
      <vt:lpstr>Tests after model building</vt:lpstr>
      <vt:lpstr>Homoscedasticity assumption</vt:lpstr>
      <vt:lpstr>Heteroscedasticity </vt:lpstr>
      <vt:lpstr>Homoscedasticity </vt:lpstr>
      <vt:lpstr>Residual vs Fitted plot</vt:lpstr>
      <vt:lpstr>Homoscedasticity </vt:lpstr>
      <vt:lpstr>Tests after model building</vt:lpstr>
      <vt:lpstr>Normality test</vt:lpstr>
      <vt:lpstr>Normality testing techniques</vt:lpstr>
      <vt:lpstr>Quantile-Quantile Plot (QQ plot)</vt:lpstr>
      <vt:lpstr>Normal QQ plot </vt:lpstr>
      <vt:lpstr>JB test</vt:lpstr>
      <vt:lpstr>JB test</vt:lpstr>
      <vt:lpstr>Shapiro-Wilk test</vt:lpstr>
      <vt:lpstr>Shapiro-Wilk test statistic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Linear Regression</dc:title>
  <dc:creator>Rushikesh Dudhat</dc:creator>
  <cp:lastModifiedBy>Jaya R</cp:lastModifiedBy>
  <cp:revision>60</cp:revision>
  <dcterms:modified xsi:type="dcterms:W3CDTF">2025-12-09T02:20:11Z</dcterms:modified>
</cp:coreProperties>
</file>