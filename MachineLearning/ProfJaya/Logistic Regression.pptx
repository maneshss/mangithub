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5"/>
  </p:notesMasterIdLst>
  <p:sldIdLst>
    <p:sldId id="256" r:id="rId2"/>
    <p:sldId id="257" r:id="rId3"/>
    <p:sldId id="258" r:id="rId4"/>
    <p:sldId id="260" r:id="rId5"/>
    <p:sldId id="262" r:id="rId6"/>
    <p:sldId id="263" r:id="rId7"/>
    <p:sldId id="264" r:id="rId8"/>
    <p:sldId id="265" r:id="rId9"/>
    <p:sldId id="266" r:id="rId10"/>
    <p:sldId id="267" r:id="rId11"/>
    <p:sldId id="269" r:id="rId12"/>
    <p:sldId id="271" r:id="rId13"/>
    <p:sldId id="272"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15" r:id="rId36"/>
    <p:sldId id="323" r:id="rId37"/>
    <p:sldId id="324" r:id="rId38"/>
    <p:sldId id="325" r:id="rId39"/>
    <p:sldId id="326" r:id="rId40"/>
    <p:sldId id="327" r:id="rId41"/>
    <p:sldId id="328" r:id="rId42"/>
    <p:sldId id="329" r:id="rId43"/>
    <p:sldId id="330" r:id="rId44"/>
    <p:sldId id="331" r:id="rId45"/>
    <p:sldId id="332" r:id="rId46"/>
    <p:sldId id="333" r:id="rId47"/>
    <p:sldId id="334" r:id="rId48"/>
    <p:sldId id="335" r:id="rId49"/>
    <p:sldId id="336" r:id="rId50"/>
    <p:sldId id="337" r:id="rId51"/>
    <p:sldId id="338" r:id="rId52"/>
    <p:sldId id="339" r:id="rId53"/>
    <p:sldId id="340" r:id="rId54"/>
    <p:sldId id="341" r:id="rId55"/>
    <p:sldId id="342" r:id="rId56"/>
    <p:sldId id="343" r:id="rId57"/>
    <p:sldId id="344" r:id="rId58"/>
    <p:sldId id="345" r:id="rId59"/>
    <p:sldId id="346" r:id="rId60"/>
    <p:sldId id="347" r:id="rId61"/>
    <p:sldId id="357" r:id="rId62"/>
    <p:sldId id="358" r:id="rId63"/>
    <p:sldId id="359" r:id="rId64"/>
    <p:sldId id="360" r:id="rId65"/>
    <p:sldId id="361" r:id="rId66"/>
    <p:sldId id="362" r:id="rId67"/>
    <p:sldId id="363" r:id="rId68"/>
    <p:sldId id="364" r:id="rId69"/>
    <p:sldId id="365" r:id="rId70"/>
    <p:sldId id="366" r:id="rId71"/>
    <p:sldId id="367" r:id="rId72"/>
    <p:sldId id="368" r:id="rId73"/>
    <p:sldId id="369" r:id="rId74"/>
  </p:sldIdLst>
  <p:sldSz cx="9144000" cy="5149850"/>
  <p:notesSz cx="9144000" cy="51498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5" roundtripDataSignature="AMtx7mi7ycFaEfKgGYOG3OEAQosR0ir6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54B9F56-7B7F-47FA-B4B8-2D57FE789870}">
  <a:tblStyle styleId="{054B9F56-7B7F-47FA-B4B8-2D57FE789870}"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420" y="5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128"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125"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386225"/>
            <a:ext cx="6096300" cy="1931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 name="Google Shape;70;p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09f0966e4d_1_1:notes"/>
          <p:cNvSpPr txBox="1">
            <a:spLocks noGrp="1"/>
          </p:cNvSpPr>
          <p:nvPr>
            <p:ph type="body" idx="1"/>
          </p:nvPr>
        </p:nvSpPr>
        <p:spPr>
          <a:xfrm>
            <a:off x="914400" y="2446175"/>
            <a:ext cx="7315200" cy="231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 name="Google Shape;75;g109f0966e4d_1_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p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1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1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0" name="Google Shape;190;p1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p1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3" name="Google Shape;343;p3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3" name="Google Shape;353;p3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4" name="Google Shape;364;p3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2" name="Google Shape;372;p1:notes"/>
          <p:cNvSpPr>
            <a:spLocks noGrp="1" noRot="1" noChangeAspect="1"/>
          </p:cNvSpPr>
          <p:nvPr>
            <p:ph type="sldImg" idx="2"/>
          </p:nvPr>
        </p:nvSpPr>
        <p:spPr>
          <a:xfrm>
            <a:off x="1524300" y="386225"/>
            <a:ext cx="6096300" cy="1931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1" name="Google Shape;381;p3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3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8" name="Google Shape;388;p13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3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5" name="Google Shape;395;p138:notes"/>
          <p:cNvSpPr>
            <a:spLocks noGrp="1" noRot="1" noChangeAspect="1"/>
          </p:cNvSpPr>
          <p:nvPr>
            <p:ph type="sldImg" idx="2"/>
          </p:nvPr>
        </p:nvSpPr>
        <p:spPr>
          <a:xfrm>
            <a:off x="1524300" y="386225"/>
            <a:ext cx="6096300" cy="1931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3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5" name="Google Shape;405;p139:notes"/>
          <p:cNvSpPr>
            <a:spLocks noGrp="1" noRot="1" noChangeAspect="1"/>
          </p:cNvSpPr>
          <p:nvPr>
            <p:ph type="sldImg" idx="2"/>
          </p:nvPr>
        </p:nvSpPr>
        <p:spPr>
          <a:xfrm>
            <a:off x="1524300" y="386225"/>
            <a:ext cx="6096300" cy="1931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6" name="Google Shape;416;p3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4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1" name="Google Shape;421;p14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4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p14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5" name="Google Shape;435;p4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4" name="Google Shape;444;p4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4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4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5" name="Google Shape;465;p4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46: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6" name="Google Shape;476;p4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3" name="Google Shape;483;p4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2" name="Google Shape;502;p4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4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0" name="Google Shape;510;p4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5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9" name="Google Shape;519;p5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5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6" name="Google Shape;526;p5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14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4" name="Google Shape;604;p14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6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5" name="Google Shape;675;p6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6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0" name="Google Shape;680;p6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7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7" name="Google Shape;687;p7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7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2" name="Google Shape;692;p7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7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2" name="Google Shape;702;p7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7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3" name="Google Shape;723;p7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7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5" name="Google Shape;735;p7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7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6" name="Google Shape;756;p7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76: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4" name="Google Shape;764;p7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7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5" name="Google Shape;785;p7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7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3" name="Google Shape;793;p7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9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8" name="Google Shape;798;p9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9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3" name="Google Shape;803;p9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9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9" name="Google Shape;809;p9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9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8" name="Google Shape;818;p9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9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4" name="Google Shape;824;p9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14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1" name="Google Shape;831;p14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96: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8" name="Google Shape;838;p9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97: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4" name="Google Shape;844;p97: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9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4" name="Google Shape;854;p9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9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3" name="Google Shape;863;p9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0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2" name="Google Shape;872;p10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101: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1" name="Google Shape;881;p101: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10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1" name="Google Shape;891;p10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10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0" name="Google Shape;900;p10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11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6" name="Google Shape;986;p11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11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2" name="Google Shape;992;p11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11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0" name="Google Shape;1000;p11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116: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1" name="Google Shape;1011;p11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p14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7" name="Google Shape;1017;p14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118: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4" name="Google Shape;1024;p118: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149: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1" name="Google Shape;1031;p149: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120: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7" name="Google Shape;1037;p120: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122: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3" name="Google Shape;1043;p122: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123: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8" name="Google Shape;1048;p123: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124: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4" name="Google Shape;1054;p124: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p125: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1" name="Google Shape;1061;p125: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p126:notes"/>
          <p:cNvSpPr txBox="1">
            <a:spLocks noGrp="1"/>
          </p:cNvSpPr>
          <p:nvPr>
            <p:ph type="body" idx="1"/>
          </p:nvPr>
        </p:nvSpPr>
        <p:spPr>
          <a:xfrm>
            <a:off x="914400" y="2446175"/>
            <a:ext cx="7315200" cy="23174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7" name="Google Shape;1067;p126:notes"/>
          <p:cNvSpPr>
            <a:spLocks noGrp="1" noRot="1" noChangeAspect="1"/>
          </p:cNvSpPr>
          <p:nvPr>
            <p:ph type="sldImg" idx="2"/>
          </p:nvPr>
        </p:nvSpPr>
        <p:spPr>
          <a:xfrm>
            <a:off x="2857500" y="385763"/>
            <a:ext cx="3429000" cy="1931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3aa0ef8be92_0_4"/>
          <p:cNvSpPr txBox="1">
            <a:spLocks noGrp="1"/>
          </p:cNvSpPr>
          <p:nvPr>
            <p:ph type="ctrTitle"/>
          </p:nvPr>
        </p:nvSpPr>
        <p:spPr>
          <a:xfrm>
            <a:off x="311708" y="745494"/>
            <a:ext cx="8520600" cy="20550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g3aa0ef8be92_0_4"/>
          <p:cNvSpPr txBox="1">
            <a:spLocks noGrp="1"/>
          </p:cNvSpPr>
          <p:nvPr>
            <p:ph type="subTitle" idx="1"/>
          </p:nvPr>
        </p:nvSpPr>
        <p:spPr>
          <a:xfrm>
            <a:off x="311700" y="2837624"/>
            <a:ext cx="8520600" cy="793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g3aa0ef8be92_0_4"/>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g3aa0ef8be92_0_8"/>
          <p:cNvSpPr txBox="1">
            <a:spLocks noGrp="1"/>
          </p:cNvSpPr>
          <p:nvPr>
            <p:ph type="title"/>
          </p:nvPr>
        </p:nvSpPr>
        <p:spPr>
          <a:xfrm>
            <a:off x="311700" y="2153505"/>
            <a:ext cx="8520600" cy="8427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g3aa0ef8be92_0_8"/>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g3aa0ef8be92_0_11"/>
          <p:cNvSpPr txBox="1">
            <a:spLocks noGrp="1"/>
          </p:cNvSpPr>
          <p:nvPr>
            <p:ph type="title"/>
          </p:nvPr>
        </p:nvSpPr>
        <p:spPr>
          <a:xfrm>
            <a:off x="311700" y="445574"/>
            <a:ext cx="8520600" cy="573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g3aa0ef8be92_0_11"/>
          <p:cNvSpPr txBox="1">
            <a:spLocks noGrp="1"/>
          </p:cNvSpPr>
          <p:nvPr>
            <p:ph type="body" idx="1"/>
          </p:nvPr>
        </p:nvSpPr>
        <p:spPr>
          <a:xfrm>
            <a:off x="311700" y="1153898"/>
            <a:ext cx="8520600" cy="3420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g3aa0ef8be92_0_11"/>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g3aa0ef8be92_0_15"/>
          <p:cNvSpPr txBox="1">
            <a:spLocks noGrp="1"/>
          </p:cNvSpPr>
          <p:nvPr>
            <p:ph type="title"/>
          </p:nvPr>
        </p:nvSpPr>
        <p:spPr>
          <a:xfrm>
            <a:off x="311700" y="445574"/>
            <a:ext cx="8520600" cy="573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g3aa0ef8be92_0_15"/>
          <p:cNvSpPr txBox="1">
            <a:spLocks noGrp="1"/>
          </p:cNvSpPr>
          <p:nvPr>
            <p:ph type="body" idx="1"/>
          </p:nvPr>
        </p:nvSpPr>
        <p:spPr>
          <a:xfrm>
            <a:off x="311700" y="1153898"/>
            <a:ext cx="3999900" cy="34206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g3aa0ef8be92_0_15"/>
          <p:cNvSpPr txBox="1">
            <a:spLocks noGrp="1"/>
          </p:cNvSpPr>
          <p:nvPr>
            <p:ph type="body" idx="2"/>
          </p:nvPr>
        </p:nvSpPr>
        <p:spPr>
          <a:xfrm>
            <a:off x="4832400" y="1153898"/>
            <a:ext cx="3999900" cy="34206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g3aa0ef8be92_0_15"/>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g3aa0ef8be92_0_20"/>
          <p:cNvSpPr txBox="1">
            <a:spLocks noGrp="1"/>
          </p:cNvSpPr>
          <p:nvPr>
            <p:ph type="title"/>
          </p:nvPr>
        </p:nvSpPr>
        <p:spPr>
          <a:xfrm>
            <a:off x="311700" y="445574"/>
            <a:ext cx="8520600" cy="573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3aa0ef8be92_0_20"/>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g3aa0ef8be92_0_23"/>
          <p:cNvSpPr txBox="1">
            <a:spLocks noGrp="1"/>
          </p:cNvSpPr>
          <p:nvPr>
            <p:ph type="title"/>
          </p:nvPr>
        </p:nvSpPr>
        <p:spPr>
          <a:xfrm>
            <a:off x="311700" y="556286"/>
            <a:ext cx="2808000" cy="756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g3aa0ef8be92_0_23"/>
          <p:cNvSpPr txBox="1">
            <a:spLocks noGrp="1"/>
          </p:cNvSpPr>
          <p:nvPr>
            <p:ph type="body" idx="1"/>
          </p:nvPr>
        </p:nvSpPr>
        <p:spPr>
          <a:xfrm>
            <a:off x="311700" y="1391316"/>
            <a:ext cx="2808000" cy="3183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g3aa0ef8be92_0_23"/>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g3aa0ef8be92_0_27"/>
          <p:cNvSpPr txBox="1">
            <a:spLocks noGrp="1"/>
          </p:cNvSpPr>
          <p:nvPr>
            <p:ph type="title"/>
          </p:nvPr>
        </p:nvSpPr>
        <p:spPr>
          <a:xfrm>
            <a:off x="490250" y="450706"/>
            <a:ext cx="6367800" cy="40959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g3aa0ef8be92_0_27"/>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g3aa0ef8be92_0_30"/>
          <p:cNvSpPr/>
          <p:nvPr/>
        </p:nvSpPr>
        <p:spPr>
          <a:xfrm>
            <a:off x="4572000" y="-125"/>
            <a:ext cx="4572000" cy="5149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g3aa0ef8be92_0_30"/>
          <p:cNvSpPr txBox="1">
            <a:spLocks noGrp="1"/>
          </p:cNvSpPr>
          <p:nvPr>
            <p:ph type="title"/>
          </p:nvPr>
        </p:nvSpPr>
        <p:spPr>
          <a:xfrm>
            <a:off x="265500" y="1234697"/>
            <a:ext cx="4045200" cy="1484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g3aa0ef8be92_0_30"/>
          <p:cNvSpPr txBox="1">
            <a:spLocks noGrp="1"/>
          </p:cNvSpPr>
          <p:nvPr>
            <p:ph type="subTitle" idx="1"/>
          </p:nvPr>
        </p:nvSpPr>
        <p:spPr>
          <a:xfrm>
            <a:off x="265500" y="2806536"/>
            <a:ext cx="4045200" cy="1236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g3aa0ef8be92_0_30"/>
          <p:cNvSpPr txBox="1">
            <a:spLocks noGrp="1"/>
          </p:cNvSpPr>
          <p:nvPr>
            <p:ph type="body" idx="2"/>
          </p:nvPr>
        </p:nvSpPr>
        <p:spPr>
          <a:xfrm>
            <a:off x="4939500" y="724969"/>
            <a:ext cx="3837000" cy="36996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g3aa0ef8be92_0_30"/>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g3aa0ef8be92_0_36"/>
          <p:cNvSpPr txBox="1">
            <a:spLocks noGrp="1"/>
          </p:cNvSpPr>
          <p:nvPr>
            <p:ph type="body" idx="1"/>
          </p:nvPr>
        </p:nvSpPr>
        <p:spPr>
          <a:xfrm>
            <a:off x="311700" y="4235798"/>
            <a:ext cx="5998800" cy="605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g3aa0ef8be92_0_36"/>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g3aa0ef8be92_0_39"/>
          <p:cNvSpPr txBox="1">
            <a:spLocks noGrp="1"/>
          </p:cNvSpPr>
          <p:nvPr>
            <p:ph type="title" hasCustomPrompt="1"/>
          </p:nvPr>
        </p:nvSpPr>
        <p:spPr>
          <a:xfrm>
            <a:off x="311700" y="1107491"/>
            <a:ext cx="8520600" cy="19659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3aa0ef8be92_0_39"/>
          <p:cNvSpPr txBox="1">
            <a:spLocks noGrp="1"/>
          </p:cNvSpPr>
          <p:nvPr>
            <p:ph type="body" idx="1"/>
          </p:nvPr>
        </p:nvSpPr>
        <p:spPr>
          <a:xfrm>
            <a:off x="311700" y="3156117"/>
            <a:ext cx="8520600" cy="1302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g3aa0ef8be92_0_39"/>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g3aa0ef8be92_0_43"/>
          <p:cNvSpPr txBox="1">
            <a:spLocks noGrp="1"/>
          </p:cNvSpPr>
          <p:nvPr>
            <p:ph type="sldNum" idx="12"/>
          </p:nvPr>
        </p:nvSpPr>
        <p:spPr>
          <a:xfrm>
            <a:off x="8472458" y="4668974"/>
            <a:ext cx="548700" cy="39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0"/>
        <p:cNvGrpSpPr/>
        <p:nvPr/>
      </p:nvGrpSpPr>
      <p:grpSpPr>
        <a:xfrm>
          <a:off x="0" y="0"/>
          <a:ext cx="0" cy="0"/>
          <a:chOff x="0" y="0"/>
          <a:chExt cx="0" cy="0"/>
        </a:xfrm>
      </p:grpSpPr>
      <p:sp>
        <p:nvSpPr>
          <p:cNvPr id="51" name="Google Shape;51;g3aa0ef8be92_0_45"/>
          <p:cNvSpPr txBox="1">
            <a:spLocks noGrp="1"/>
          </p:cNvSpPr>
          <p:nvPr>
            <p:ph type="title"/>
          </p:nvPr>
        </p:nvSpPr>
        <p:spPr>
          <a:xfrm>
            <a:off x="390550" y="1935302"/>
            <a:ext cx="8362800" cy="124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g3aa0ef8be92_0_45"/>
          <p:cNvSpPr txBox="1">
            <a:spLocks noGrp="1"/>
          </p:cNvSpPr>
          <p:nvPr>
            <p:ph type="body" idx="1"/>
          </p:nvPr>
        </p:nvSpPr>
        <p:spPr>
          <a:xfrm>
            <a:off x="2362644" y="2259393"/>
            <a:ext cx="4242300" cy="12384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3" name="Google Shape;53;g3aa0ef8be92_0_45"/>
          <p:cNvSpPr txBox="1">
            <a:spLocks noGrp="1"/>
          </p:cNvSpPr>
          <p:nvPr>
            <p:ph type="ftr" idx="11"/>
          </p:nvPr>
        </p:nvSpPr>
        <p:spPr>
          <a:xfrm>
            <a:off x="3108960" y="4789360"/>
            <a:ext cx="2926200" cy="2574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g3aa0ef8be92_0_45"/>
          <p:cNvSpPr txBox="1">
            <a:spLocks noGrp="1"/>
          </p:cNvSpPr>
          <p:nvPr>
            <p:ph type="dt" idx="10"/>
          </p:nvPr>
        </p:nvSpPr>
        <p:spPr>
          <a:xfrm>
            <a:off x="457200" y="4789360"/>
            <a:ext cx="2103000" cy="2574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g3aa0ef8be92_0_45"/>
          <p:cNvSpPr txBox="1">
            <a:spLocks noGrp="1"/>
          </p:cNvSpPr>
          <p:nvPr>
            <p:ph type="sldNum" idx="12"/>
          </p:nvPr>
        </p:nvSpPr>
        <p:spPr>
          <a:xfrm>
            <a:off x="6583680" y="4789360"/>
            <a:ext cx="2103000" cy="2154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g3aa0ef8be92_0_51"/>
          <p:cNvSpPr txBox="1">
            <a:spLocks noGrp="1"/>
          </p:cNvSpPr>
          <p:nvPr>
            <p:ph type="title"/>
          </p:nvPr>
        </p:nvSpPr>
        <p:spPr>
          <a:xfrm>
            <a:off x="390550" y="1935302"/>
            <a:ext cx="8362800" cy="124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3aa0ef8be92_0_51"/>
          <p:cNvSpPr txBox="1">
            <a:spLocks noGrp="1"/>
          </p:cNvSpPr>
          <p:nvPr>
            <p:ph type="ftr" idx="11"/>
          </p:nvPr>
        </p:nvSpPr>
        <p:spPr>
          <a:xfrm>
            <a:off x="3108960" y="4789360"/>
            <a:ext cx="2926200" cy="2574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9" name="Google Shape;59;g3aa0ef8be92_0_51"/>
          <p:cNvSpPr txBox="1">
            <a:spLocks noGrp="1"/>
          </p:cNvSpPr>
          <p:nvPr>
            <p:ph type="dt" idx="10"/>
          </p:nvPr>
        </p:nvSpPr>
        <p:spPr>
          <a:xfrm>
            <a:off x="457200" y="4789360"/>
            <a:ext cx="2103000" cy="2574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0" name="Google Shape;60;g3aa0ef8be92_0_51"/>
          <p:cNvSpPr txBox="1">
            <a:spLocks noGrp="1"/>
          </p:cNvSpPr>
          <p:nvPr>
            <p:ph type="sldNum" idx="12"/>
          </p:nvPr>
        </p:nvSpPr>
        <p:spPr>
          <a:xfrm>
            <a:off x="6583680" y="4789360"/>
            <a:ext cx="2103000" cy="2154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61"/>
        <p:cNvGrpSpPr/>
        <p:nvPr/>
      </p:nvGrpSpPr>
      <p:grpSpPr>
        <a:xfrm>
          <a:off x="0" y="0"/>
          <a:ext cx="0" cy="0"/>
          <a:chOff x="0" y="0"/>
          <a:chExt cx="0" cy="0"/>
        </a:xfrm>
      </p:grpSpPr>
      <p:sp>
        <p:nvSpPr>
          <p:cNvPr id="62" name="Google Shape;62;g3aa0ef8be92_0_56"/>
          <p:cNvSpPr txBox="1">
            <a:spLocks noGrp="1"/>
          </p:cNvSpPr>
          <p:nvPr>
            <p:ph type="title"/>
          </p:nvPr>
        </p:nvSpPr>
        <p:spPr>
          <a:xfrm>
            <a:off x="390550" y="1935302"/>
            <a:ext cx="8362800" cy="1247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g3aa0ef8be92_0_56"/>
          <p:cNvSpPr txBox="1">
            <a:spLocks noGrp="1"/>
          </p:cNvSpPr>
          <p:nvPr>
            <p:ph type="body" idx="1"/>
          </p:nvPr>
        </p:nvSpPr>
        <p:spPr>
          <a:xfrm>
            <a:off x="457200" y="1184465"/>
            <a:ext cx="3977700" cy="33990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4" name="Google Shape;64;g3aa0ef8be92_0_56"/>
          <p:cNvSpPr txBox="1">
            <a:spLocks noGrp="1"/>
          </p:cNvSpPr>
          <p:nvPr>
            <p:ph type="body" idx="2"/>
          </p:nvPr>
        </p:nvSpPr>
        <p:spPr>
          <a:xfrm>
            <a:off x="4709160" y="1184465"/>
            <a:ext cx="3977700" cy="33990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5" name="Google Shape;65;g3aa0ef8be92_0_56"/>
          <p:cNvSpPr txBox="1">
            <a:spLocks noGrp="1"/>
          </p:cNvSpPr>
          <p:nvPr>
            <p:ph type="ftr" idx="11"/>
          </p:nvPr>
        </p:nvSpPr>
        <p:spPr>
          <a:xfrm>
            <a:off x="3108960" y="4789360"/>
            <a:ext cx="2926200" cy="257400"/>
          </a:xfrm>
          <a:prstGeom prst="rect">
            <a:avLst/>
          </a:prstGeom>
          <a:noFill/>
          <a:ln>
            <a:noFill/>
          </a:ln>
        </p:spPr>
        <p:txBody>
          <a:bodyPr spcFirstLastPara="1" wrap="square" lIns="0" tIns="0" rIns="0" bIns="0" anchor="t" anchorCtr="0">
            <a:spAutoFit/>
          </a:bodyPr>
          <a:lstStyle>
            <a:lvl1pPr marR="0" lvl="0" algn="ct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 name="Google Shape;66;g3aa0ef8be92_0_56"/>
          <p:cNvSpPr txBox="1">
            <a:spLocks noGrp="1"/>
          </p:cNvSpPr>
          <p:nvPr>
            <p:ph type="dt" idx="10"/>
          </p:nvPr>
        </p:nvSpPr>
        <p:spPr>
          <a:xfrm>
            <a:off x="457200" y="4789360"/>
            <a:ext cx="2103000" cy="257400"/>
          </a:xfrm>
          <a:prstGeom prst="rect">
            <a:avLst/>
          </a:prstGeom>
          <a:noFill/>
          <a:ln>
            <a:noFill/>
          </a:ln>
        </p:spPr>
        <p:txBody>
          <a:bodyPr spcFirstLastPara="1" wrap="square" lIns="0" tIns="0" rIns="0" bIns="0" anchor="t" anchorCtr="0">
            <a:spAutoFit/>
          </a:bodyPr>
          <a:lstStyle>
            <a:lvl1pPr marR="0" lvl="0" algn="l">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g3aa0ef8be92_0_56"/>
          <p:cNvSpPr txBox="1">
            <a:spLocks noGrp="1"/>
          </p:cNvSpPr>
          <p:nvPr>
            <p:ph type="sldNum" idx="12"/>
          </p:nvPr>
        </p:nvSpPr>
        <p:spPr>
          <a:xfrm>
            <a:off x="6583680" y="4789360"/>
            <a:ext cx="2103000" cy="2154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3aa0ef8be92_0_0"/>
          <p:cNvSpPr txBox="1">
            <a:spLocks noGrp="1"/>
          </p:cNvSpPr>
          <p:nvPr>
            <p:ph type="title"/>
          </p:nvPr>
        </p:nvSpPr>
        <p:spPr>
          <a:xfrm>
            <a:off x="311700" y="445574"/>
            <a:ext cx="8520600" cy="5733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g3aa0ef8be92_0_0"/>
          <p:cNvSpPr txBox="1">
            <a:spLocks noGrp="1"/>
          </p:cNvSpPr>
          <p:nvPr>
            <p:ph type="body" idx="1"/>
          </p:nvPr>
        </p:nvSpPr>
        <p:spPr>
          <a:xfrm>
            <a:off x="311700" y="1153898"/>
            <a:ext cx="8520600" cy="3420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g3aa0ef8be92_0_0"/>
          <p:cNvSpPr txBox="1">
            <a:spLocks noGrp="1"/>
          </p:cNvSpPr>
          <p:nvPr>
            <p:ph type="sldNum" idx="12"/>
          </p:nvPr>
        </p:nvSpPr>
        <p:spPr>
          <a:xfrm>
            <a:off x="8472458" y="4668974"/>
            <a:ext cx="548700" cy="3942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2.jpg"/></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2.jp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12.xml"/><Relationship Id="rId5" Type="http://schemas.openxmlformats.org/officeDocument/2006/relationships/image" Target="../media/image38.jpg"/><Relationship Id="rId4" Type="http://schemas.openxmlformats.org/officeDocument/2006/relationships/image" Target="../media/image37.png"/></Relationships>
</file>

<file path=ppt/slides/_rels/slide5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8.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5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2"/>
          <p:cNvSpPr txBox="1">
            <a:spLocks noGrp="1"/>
          </p:cNvSpPr>
          <p:nvPr>
            <p:ph type="ctrTitle" idx="4294967295"/>
          </p:nvPr>
        </p:nvSpPr>
        <p:spPr>
          <a:xfrm>
            <a:off x="1353850" y="1946425"/>
            <a:ext cx="6266100" cy="782265"/>
          </a:xfrm>
          <a:prstGeom prst="rect">
            <a:avLst/>
          </a:prstGeom>
          <a:noFill/>
          <a:ln>
            <a:noFill/>
          </a:ln>
        </p:spPr>
        <p:txBody>
          <a:bodyPr spcFirstLastPara="1" wrap="square" lIns="0" tIns="12700" rIns="0" bIns="0" anchor="t" anchorCtr="0">
            <a:spAutoFit/>
          </a:bodyPr>
          <a:lstStyle/>
          <a:p>
            <a:pPr marL="420369" marR="0" lvl="0" indent="0" algn="l" rtl="0">
              <a:lnSpc>
                <a:spcPct val="100000"/>
              </a:lnSpc>
              <a:spcBef>
                <a:spcPts val="0"/>
              </a:spcBef>
              <a:spcAft>
                <a:spcPts val="0"/>
              </a:spcAft>
              <a:buClr>
                <a:srgbClr val="000000"/>
              </a:buClr>
              <a:buSzPts val="1400"/>
              <a:buFont typeface="Arial"/>
              <a:buNone/>
            </a:pPr>
            <a:r>
              <a:rPr lang="en-US" sz="5000" b="0" i="0" u="none" strike="noStrike" cap="none">
                <a:solidFill>
                  <a:schemeClr val="dk1"/>
                </a:solidFill>
                <a:latin typeface="Arial"/>
                <a:ea typeface="Arial"/>
                <a:cs typeface="Arial"/>
                <a:sym typeface="Arial"/>
              </a:rPr>
              <a:t>Logistic Regression</a:t>
            </a:r>
            <a:endParaRPr sz="50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g109f0966e4d_1_1"/>
          <p:cNvSpPr txBox="1">
            <a:spLocks noGrp="1"/>
          </p:cNvSpPr>
          <p:nvPr>
            <p:ph type="title"/>
          </p:nvPr>
        </p:nvSpPr>
        <p:spPr>
          <a:xfrm>
            <a:off x="500887" y="512191"/>
            <a:ext cx="1254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Agenda</a:t>
            </a:r>
            <a:endParaRPr sz="2800"/>
          </a:p>
        </p:txBody>
      </p:sp>
      <p:sp>
        <p:nvSpPr>
          <p:cNvPr id="78" name="Google Shape;78;g109f0966e4d_1_1"/>
          <p:cNvSpPr txBox="1"/>
          <p:nvPr/>
        </p:nvSpPr>
        <p:spPr>
          <a:xfrm>
            <a:off x="628904" y="1657299"/>
            <a:ext cx="4197300" cy="2928900"/>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212121"/>
                </a:solidFill>
                <a:latin typeface="Arial"/>
                <a:ea typeface="Arial"/>
                <a:cs typeface="Arial"/>
                <a:sym typeface="Arial"/>
              </a:rPr>
              <a:t>Types of Supervised Learning</a:t>
            </a:r>
            <a:endParaRPr sz="1600" b="0" i="0" u="none" strike="noStrike" cap="none">
              <a:solidFill>
                <a:srgbClr val="000000"/>
              </a:solidFill>
              <a:latin typeface="Arial"/>
              <a:ea typeface="Arial"/>
              <a:cs typeface="Arial"/>
              <a:sym typeface="Arial"/>
            </a:endParaRPr>
          </a:p>
          <a:p>
            <a:pPr marL="341630" marR="0" lvl="0" indent="-317500" algn="l" rtl="0">
              <a:lnSpc>
                <a:spcPct val="100000"/>
              </a:lnSpc>
              <a:spcBef>
                <a:spcPts val="1295"/>
              </a:spcBef>
              <a:spcAft>
                <a:spcPts val="0"/>
              </a:spcAft>
              <a:buClr>
                <a:srgbClr val="212121"/>
              </a:buClr>
              <a:buSzPts val="1400"/>
              <a:buFont typeface="Arial"/>
              <a:buChar char="●"/>
            </a:pPr>
            <a:r>
              <a:rPr lang="en-US" sz="1600" b="0" i="0" u="none" strike="noStrike" cap="none">
                <a:solidFill>
                  <a:srgbClr val="212121"/>
                </a:solidFill>
                <a:latin typeface="Arial"/>
                <a:ea typeface="Arial"/>
                <a:cs typeface="Arial"/>
                <a:sym typeface="Arial"/>
              </a:rPr>
              <a:t>Standard process for Data Science Project</a:t>
            </a:r>
            <a:endParaRPr sz="1600" b="0" i="0" u="none" strike="noStrike" cap="none">
              <a:solidFill>
                <a:srgbClr val="000000"/>
              </a:solidFill>
              <a:latin typeface="Arial"/>
              <a:ea typeface="Arial"/>
              <a:cs typeface="Arial"/>
              <a:sym typeface="Arial"/>
            </a:endParaRPr>
          </a:p>
          <a:p>
            <a:pPr marL="341630" marR="0" lvl="0" indent="-317500" algn="l" rtl="0">
              <a:lnSpc>
                <a:spcPct val="100000"/>
              </a:lnSpc>
              <a:spcBef>
                <a:spcPts val="1275"/>
              </a:spcBef>
              <a:spcAft>
                <a:spcPts val="0"/>
              </a:spcAft>
              <a:buClr>
                <a:srgbClr val="212121"/>
              </a:buClr>
              <a:buSzPts val="1400"/>
              <a:buFont typeface="Arial"/>
              <a:buChar char="●"/>
            </a:pPr>
            <a:r>
              <a:rPr lang="en-US" sz="1600" b="0" i="0" u="none" strike="noStrike" cap="none">
                <a:solidFill>
                  <a:srgbClr val="212121"/>
                </a:solidFill>
                <a:latin typeface="Arial"/>
                <a:ea typeface="Arial"/>
                <a:cs typeface="Arial"/>
                <a:sym typeface="Arial"/>
              </a:rPr>
              <a:t>Visiting Basics</a:t>
            </a:r>
            <a:endParaRPr sz="1600" b="0" i="0" u="none" strike="noStrike" cap="none">
              <a:solidFill>
                <a:srgbClr val="000000"/>
              </a:solidFill>
              <a:latin typeface="Arial"/>
              <a:ea typeface="Arial"/>
              <a:cs typeface="Arial"/>
              <a:sym typeface="Arial"/>
            </a:endParaRPr>
          </a:p>
          <a:p>
            <a:pPr marL="798830" marR="0" lvl="1" indent="-317500" algn="l" rtl="0">
              <a:lnSpc>
                <a:spcPct val="100000"/>
              </a:lnSpc>
              <a:spcBef>
                <a:spcPts val="1285"/>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Odds Ratio</a:t>
            </a:r>
            <a:endParaRPr sz="1400" b="0" i="0" u="none" strike="noStrike" cap="none">
              <a:solidFill>
                <a:srgbClr val="000000"/>
              </a:solidFill>
              <a:latin typeface="Arial"/>
              <a:ea typeface="Arial"/>
              <a:cs typeface="Arial"/>
              <a:sym typeface="Arial"/>
            </a:endParaRPr>
          </a:p>
          <a:p>
            <a:pPr marL="341630" marR="0" lvl="0" indent="-317500" algn="l" rtl="0">
              <a:lnSpc>
                <a:spcPct val="100000"/>
              </a:lnSpc>
              <a:spcBef>
                <a:spcPts val="1265"/>
              </a:spcBef>
              <a:spcAft>
                <a:spcPts val="0"/>
              </a:spcAft>
              <a:buClr>
                <a:srgbClr val="212121"/>
              </a:buClr>
              <a:buSzPts val="1400"/>
              <a:buFont typeface="Arial"/>
              <a:buChar char="●"/>
            </a:pPr>
            <a:r>
              <a:rPr lang="en-US" sz="1600" b="0" i="0" u="none" strike="noStrike" cap="none">
                <a:solidFill>
                  <a:srgbClr val="212121"/>
                </a:solidFill>
                <a:latin typeface="Arial"/>
                <a:ea typeface="Arial"/>
                <a:cs typeface="Arial"/>
                <a:sym typeface="Arial"/>
              </a:rPr>
              <a:t>Binomial Logistic Regression</a:t>
            </a:r>
            <a:endParaRPr sz="1600" b="0" i="0" u="none" strike="noStrike" cap="none">
              <a:solidFill>
                <a:srgbClr val="000000"/>
              </a:solidFill>
              <a:latin typeface="Arial"/>
              <a:ea typeface="Arial"/>
              <a:cs typeface="Arial"/>
              <a:sym typeface="Arial"/>
            </a:endParaRPr>
          </a:p>
          <a:p>
            <a:pPr marL="798830" marR="0" lvl="1" indent="-317500" algn="l" rtl="0">
              <a:lnSpc>
                <a:spcPct val="100000"/>
              </a:lnSpc>
              <a:spcBef>
                <a:spcPts val="1210"/>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Maximum Likelihood Estimation</a:t>
            </a:r>
            <a:endParaRPr sz="1400" b="0" i="0" u="none" strike="noStrike" cap="none">
              <a:solidFill>
                <a:srgbClr val="000000"/>
              </a:solidFill>
              <a:latin typeface="Arial"/>
              <a:ea typeface="Arial"/>
              <a:cs typeface="Arial"/>
              <a:sym typeface="Arial"/>
            </a:endParaRPr>
          </a:p>
          <a:p>
            <a:pPr marL="798830" marR="0" lvl="1" indent="-317500" algn="l" rtl="0">
              <a:lnSpc>
                <a:spcPct val="100000"/>
              </a:lnSpc>
              <a:spcBef>
                <a:spcPts val="985"/>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Assumptions of Logistic Regression</a:t>
            </a:r>
            <a:endParaRPr sz="1400" b="0" i="0" u="none" strike="noStrike" cap="none">
              <a:solidFill>
                <a:srgbClr val="000000"/>
              </a:solidFill>
              <a:latin typeface="Arial"/>
              <a:ea typeface="Arial"/>
              <a:cs typeface="Arial"/>
              <a:sym typeface="Arial"/>
            </a:endParaRPr>
          </a:p>
          <a:p>
            <a:pPr marL="798830" marR="0" lvl="1" indent="-317500" algn="l" rtl="0">
              <a:lnSpc>
                <a:spcPct val="100000"/>
              </a:lnSpc>
              <a:spcBef>
                <a:spcPts val="1010"/>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Significance of Coefficients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500887" y="512191"/>
            <a:ext cx="1254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Agenda</a:t>
            </a:r>
            <a:endParaRPr sz="2800"/>
          </a:p>
        </p:txBody>
      </p:sp>
      <p:sp>
        <p:nvSpPr>
          <p:cNvPr id="84" name="Google Shape;84;p3"/>
          <p:cNvSpPr txBox="1"/>
          <p:nvPr/>
        </p:nvSpPr>
        <p:spPr>
          <a:xfrm>
            <a:off x="578104" y="1657299"/>
            <a:ext cx="3165475" cy="3116580"/>
          </a:xfrm>
          <a:prstGeom prst="rect">
            <a:avLst/>
          </a:prstGeom>
          <a:noFill/>
          <a:ln>
            <a:noFill/>
          </a:ln>
        </p:spPr>
        <p:txBody>
          <a:bodyPr spcFirstLastPara="1" wrap="square" lIns="0" tIns="13950" rIns="0" bIns="0" anchor="t" anchorCtr="0">
            <a:spAutoFit/>
          </a:bodyPr>
          <a:lstStyle/>
          <a:p>
            <a:pPr marL="3924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212121"/>
                </a:solidFill>
                <a:latin typeface="Arial"/>
                <a:ea typeface="Arial"/>
                <a:cs typeface="Arial"/>
                <a:sym typeface="Arial"/>
              </a:rPr>
              <a:t>Model Evaluation Metrics</a:t>
            </a:r>
            <a:endParaRPr sz="1600" b="0" i="0" u="none" strike="noStrike" cap="none">
              <a:solidFill>
                <a:srgbClr val="000000"/>
              </a:solidFill>
              <a:latin typeface="Arial"/>
              <a:ea typeface="Arial"/>
              <a:cs typeface="Arial"/>
              <a:sym typeface="Arial"/>
            </a:endParaRPr>
          </a:p>
          <a:p>
            <a:pPr marL="849630" marR="0" lvl="1" indent="-317500" algn="l" rtl="0">
              <a:lnSpc>
                <a:spcPct val="100000"/>
              </a:lnSpc>
              <a:spcBef>
                <a:spcPts val="1185"/>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Deviance</a:t>
            </a:r>
            <a:endParaRPr sz="1400" b="0" i="0" u="none" strike="noStrike" cap="none">
              <a:solidFill>
                <a:srgbClr val="000000"/>
              </a:solidFill>
              <a:latin typeface="Arial"/>
              <a:ea typeface="Arial"/>
              <a:cs typeface="Arial"/>
              <a:sym typeface="Arial"/>
            </a:endParaRPr>
          </a:p>
          <a:p>
            <a:pPr marL="849630" marR="0" lvl="1" indent="-317500" algn="l" rtl="0">
              <a:lnSpc>
                <a:spcPct val="100000"/>
              </a:lnSpc>
              <a:spcBef>
                <a:spcPts val="1010"/>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AIC</a:t>
            </a:r>
            <a:endParaRPr sz="1400" b="0" i="0" u="none" strike="noStrike" cap="none">
              <a:solidFill>
                <a:srgbClr val="000000"/>
              </a:solidFill>
              <a:latin typeface="Arial"/>
              <a:ea typeface="Arial"/>
              <a:cs typeface="Arial"/>
              <a:sym typeface="Arial"/>
            </a:endParaRPr>
          </a:p>
          <a:p>
            <a:pPr marL="849630" marR="0" lvl="1" indent="-317500" algn="l" rtl="0">
              <a:lnSpc>
                <a:spcPct val="100000"/>
              </a:lnSpc>
              <a:spcBef>
                <a:spcPts val="1010"/>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Pseudo R</a:t>
            </a:r>
            <a:r>
              <a:rPr lang="en-US" sz="1350" b="0" i="0" u="none" strike="noStrike" cap="none" baseline="30000">
                <a:solidFill>
                  <a:srgbClr val="212121"/>
                </a:solidFill>
                <a:latin typeface="Arial"/>
                <a:ea typeface="Arial"/>
                <a:cs typeface="Arial"/>
                <a:sym typeface="Arial"/>
              </a:rPr>
              <a:t>2</a:t>
            </a:r>
            <a:endParaRPr sz="1350" b="0" i="0" u="none" strike="noStrike" cap="none" baseline="30000">
              <a:solidFill>
                <a:srgbClr val="000000"/>
              </a:solidFill>
              <a:latin typeface="Arial"/>
              <a:ea typeface="Arial"/>
              <a:cs typeface="Arial"/>
              <a:sym typeface="Arial"/>
            </a:endParaRPr>
          </a:p>
          <a:p>
            <a:pPr marL="392430" marR="0" lvl="0" indent="-317500" algn="l" rtl="0">
              <a:lnSpc>
                <a:spcPct val="100000"/>
              </a:lnSpc>
              <a:spcBef>
                <a:spcPts val="1095"/>
              </a:spcBef>
              <a:spcAft>
                <a:spcPts val="0"/>
              </a:spcAft>
              <a:buClr>
                <a:srgbClr val="212121"/>
              </a:buClr>
              <a:buSzPts val="1400"/>
              <a:buFont typeface="Arial"/>
              <a:buChar char="●"/>
            </a:pPr>
            <a:r>
              <a:rPr lang="en-US" sz="1600" b="0" i="0" u="none" strike="noStrike" cap="none">
                <a:solidFill>
                  <a:srgbClr val="212121"/>
                </a:solidFill>
                <a:latin typeface="Arial"/>
                <a:ea typeface="Arial"/>
                <a:cs typeface="Arial"/>
                <a:sym typeface="Arial"/>
              </a:rPr>
              <a:t>Model Performance Measures</a:t>
            </a:r>
            <a:endParaRPr sz="1600" b="0" i="0" u="none" strike="noStrike" cap="none">
              <a:solidFill>
                <a:srgbClr val="000000"/>
              </a:solidFill>
              <a:latin typeface="Arial"/>
              <a:ea typeface="Arial"/>
              <a:cs typeface="Arial"/>
              <a:sym typeface="Arial"/>
            </a:endParaRPr>
          </a:p>
          <a:p>
            <a:pPr marL="849630" marR="0" lvl="1" indent="-317500" algn="l" rtl="0">
              <a:lnSpc>
                <a:spcPct val="100000"/>
              </a:lnSpc>
              <a:spcBef>
                <a:spcPts val="1190"/>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Confusion Matrix</a:t>
            </a:r>
            <a:endParaRPr sz="1400" b="0" i="0" u="none" strike="noStrike" cap="none">
              <a:solidFill>
                <a:srgbClr val="000000"/>
              </a:solidFill>
              <a:latin typeface="Arial"/>
              <a:ea typeface="Arial"/>
              <a:cs typeface="Arial"/>
              <a:sym typeface="Arial"/>
            </a:endParaRPr>
          </a:p>
          <a:p>
            <a:pPr marL="849630" marR="0" lvl="1" indent="-317500" algn="l" rtl="0">
              <a:lnSpc>
                <a:spcPct val="100000"/>
              </a:lnSpc>
              <a:spcBef>
                <a:spcPts val="1010"/>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Cross Entropy</a:t>
            </a:r>
            <a:endParaRPr sz="1400" b="0" i="0" u="none" strike="noStrike" cap="none">
              <a:solidFill>
                <a:srgbClr val="000000"/>
              </a:solidFill>
              <a:latin typeface="Arial"/>
              <a:ea typeface="Arial"/>
              <a:cs typeface="Arial"/>
              <a:sym typeface="Arial"/>
            </a:endParaRPr>
          </a:p>
          <a:p>
            <a:pPr marL="849630" marR="0" lvl="1" indent="-317500" algn="l" rtl="0">
              <a:lnSpc>
                <a:spcPct val="100000"/>
              </a:lnSpc>
              <a:spcBef>
                <a:spcPts val="985"/>
              </a:spcBef>
              <a:spcAft>
                <a:spcPts val="0"/>
              </a:spcAft>
              <a:buClr>
                <a:srgbClr val="212121"/>
              </a:buClr>
              <a:buSzPts val="1400"/>
              <a:buFont typeface="Arial"/>
              <a:buChar char="○"/>
            </a:pPr>
            <a:r>
              <a:rPr lang="en-US" sz="1400" b="0" i="0" u="none" strike="noStrike" cap="none">
                <a:solidFill>
                  <a:srgbClr val="212121"/>
                </a:solidFill>
                <a:latin typeface="Arial"/>
                <a:ea typeface="Arial"/>
                <a:cs typeface="Arial"/>
                <a:sym typeface="Arial"/>
              </a:rPr>
              <a:t>ROC - AUC Score</a:t>
            </a:r>
            <a:endParaRPr sz="1400" b="0" i="0" u="none" strike="noStrike" cap="none">
              <a:solidFill>
                <a:srgbClr val="000000"/>
              </a:solidFill>
              <a:latin typeface="Arial"/>
              <a:ea typeface="Arial"/>
              <a:cs typeface="Arial"/>
              <a:sym typeface="Arial"/>
            </a:endParaRPr>
          </a:p>
          <a:p>
            <a:pPr marL="392430" marR="0" lvl="0" indent="-317500" algn="l" rtl="0">
              <a:lnSpc>
                <a:spcPct val="100000"/>
              </a:lnSpc>
              <a:spcBef>
                <a:spcPts val="1000"/>
              </a:spcBef>
              <a:spcAft>
                <a:spcPts val="0"/>
              </a:spcAft>
              <a:buClr>
                <a:srgbClr val="212121"/>
              </a:buClr>
              <a:buSzPts val="1400"/>
              <a:buFont typeface="Arial"/>
              <a:buChar char="●"/>
            </a:pPr>
            <a:r>
              <a:rPr lang="en-US" sz="1600" b="0" i="0" u="none" strike="noStrike" cap="none">
                <a:solidFill>
                  <a:srgbClr val="212121"/>
                </a:solidFill>
                <a:latin typeface="Arial"/>
                <a:ea typeface="Arial"/>
                <a:cs typeface="Arial"/>
                <a:sym typeface="Arial"/>
              </a:rPr>
              <a:t>Imbalanced Data</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500887" y="512191"/>
            <a:ext cx="68562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In this session, we shall cover classification</a:t>
            </a:r>
            <a:endParaRPr sz="2800"/>
          </a:p>
        </p:txBody>
      </p:sp>
      <p:sp>
        <p:nvSpPr>
          <p:cNvPr id="95" name="Google Shape;95;p5"/>
          <p:cNvSpPr/>
          <p:nvPr/>
        </p:nvSpPr>
        <p:spPr>
          <a:xfrm>
            <a:off x="1102427" y="1384697"/>
            <a:ext cx="6557049" cy="342981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7"/>
          <p:cNvSpPr txBox="1">
            <a:spLocks noGrp="1"/>
          </p:cNvSpPr>
          <p:nvPr>
            <p:ph type="title"/>
          </p:nvPr>
        </p:nvSpPr>
        <p:spPr>
          <a:xfrm>
            <a:off x="500887" y="512191"/>
            <a:ext cx="3173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Supervised learning</a:t>
            </a:r>
            <a:endParaRPr sz="2800"/>
          </a:p>
        </p:txBody>
      </p:sp>
      <p:sp>
        <p:nvSpPr>
          <p:cNvPr id="106" name="Google Shape;106;p7"/>
          <p:cNvSpPr txBox="1"/>
          <p:nvPr/>
        </p:nvSpPr>
        <p:spPr>
          <a:xfrm>
            <a:off x="500887" y="1509573"/>
            <a:ext cx="7922259" cy="586105"/>
          </a:xfrm>
          <a:prstGeom prst="rect">
            <a:avLst/>
          </a:prstGeom>
          <a:noFill/>
          <a:ln>
            <a:noFill/>
          </a:ln>
        </p:spPr>
        <p:txBody>
          <a:bodyPr spcFirstLastPara="1" wrap="square" lIns="0" tIns="482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Supervised learning aims at finding a model that maps the output (target) variable to the</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input (predictor) variables</a:t>
            </a:r>
            <a:endParaRPr sz="1600" b="0" i="0" u="none" strike="noStrike" cap="none">
              <a:solidFill>
                <a:srgbClr val="000000"/>
              </a:solidFill>
              <a:latin typeface="Arial"/>
              <a:ea typeface="Arial"/>
              <a:cs typeface="Arial"/>
              <a:sym typeface="Arial"/>
            </a:endParaRPr>
          </a:p>
        </p:txBody>
      </p:sp>
      <p:sp>
        <p:nvSpPr>
          <p:cNvPr id="107" name="Google Shape;107;p7"/>
          <p:cNvSpPr txBox="1"/>
          <p:nvPr/>
        </p:nvSpPr>
        <p:spPr>
          <a:xfrm>
            <a:off x="1882139" y="2665475"/>
            <a:ext cx="1301750" cy="390525"/>
          </a:xfrm>
          <a:prstGeom prst="rect">
            <a:avLst/>
          </a:prstGeom>
          <a:solidFill>
            <a:srgbClr val="EDEDED"/>
          </a:solidFill>
          <a:ln w="9525" cap="flat" cmpd="sng">
            <a:solidFill>
              <a:srgbClr val="585858"/>
            </a:solidFill>
            <a:prstDash val="solid"/>
            <a:round/>
            <a:headEnd type="none" w="sm" len="sm"/>
            <a:tailEnd type="none" w="sm" len="sm"/>
          </a:ln>
        </p:spPr>
        <p:txBody>
          <a:bodyPr spcFirstLastPara="1" wrap="square" lIns="0" tIns="10150" rIns="0" bIns="0" anchor="t" anchorCtr="0">
            <a:spAutoFit/>
          </a:bodyPr>
          <a:lstStyle/>
          <a:p>
            <a:pPr marL="263525"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Supervised</a:t>
            </a:r>
            <a:endParaRPr sz="1200" b="0" i="0" u="none" strike="noStrike" cap="none">
              <a:solidFill>
                <a:srgbClr val="000000"/>
              </a:solidFill>
              <a:latin typeface="Arial"/>
              <a:ea typeface="Arial"/>
              <a:cs typeface="Arial"/>
              <a:sym typeface="Arial"/>
            </a:endParaRPr>
          </a:p>
          <a:p>
            <a:pPr marL="33401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algorithm</a:t>
            </a:r>
            <a:endParaRPr sz="1200" b="0" i="0" u="none" strike="noStrike" cap="none">
              <a:solidFill>
                <a:srgbClr val="000000"/>
              </a:solidFill>
              <a:latin typeface="Arial"/>
              <a:ea typeface="Arial"/>
              <a:cs typeface="Arial"/>
              <a:sym typeface="Arial"/>
            </a:endParaRPr>
          </a:p>
        </p:txBody>
      </p:sp>
      <p:sp>
        <p:nvSpPr>
          <p:cNvPr id="108" name="Google Shape;108;p7"/>
          <p:cNvSpPr txBox="1"/>
          <p:nvPr/>
        </p:nvSpPr>
        <p:spPr>
          <a:xfrm>
            <a:off x="500887" y="2736850"/>
            <a:ext cx="606425" cy="3917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Labelled</a:t>
            </a:r>
            <a:endParaRPr sz="12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data</a:t>
            </a:r>
            <a:endParaRPr sz="1200" b="0" i="0" u="none" strike="noStrike" cap="none">
              <a:solidFill>
                <a:srgbClr val="000000"/>
              </a:solidFill>
              <a:latin typeface="Arial"/>
              <a:ea typeface="Arial"/>
              <a:cs typeface="Arial"/>
              <a:sym typeface="Arial"/>
            </a:endParaRPr>
          </a:p>
        </p:txBody>
      </p:sp>
      <p:sp>
        <p:nvSpPr>
          <p:cNvPr id="109" name="Google Shape;109;p7"/>
          <p:cNvSpPr/>
          <p:nvPr/>
        </p:nvSpPr>
        <p:spPr>
          <a:xfrm>
            <a:off x="3183635" y="2822447"/>
            <a:ext cx="532765" cy="76200"/>
          </a:xfrm>
          <a:custGeom>
            <a:avLst/>
            <a:gdLst/>
            <a:ahLst/>
            <a:cxnLst/>
            <a:rect l="l" t="t" r="r" b="b"/>
            <a:pathLst>
              <a:path w="532764" h="76200" extrusionOk="0">
                <a:moveTo>
                  <a:pt x="456564" y="0"/>
                </a:moveTo>
                <a:lnTo>
                  <a:pt x="456564" y="76200"/>
                </a:lnTo>
                <a:lnTo>
                  <a:pt x="520064" y="44450"/>
                </a:lnTo>
                <a:lnTo>
                  <a:pt x="469264" y="44450"/>
                </a:lnTo>
                <a:lnTo>
                  <a:pt x="469264" y="31750"/>
                </a:lnTo>
                <a:lnTo>
                  <a:pt x="520064" y="31750"/>
                </a:lnTo>
                <a:lnTo>
                  <a:pt x="456564" y="0"/>
                </a:lnTo>
                <a:close/>
              </a:path>
              <a:path w="532764" h="76200" extrusionOk="0">
                <a:moveTo>
                  <a:pt x="456564" y="31750"/>
                </a:moveTo>
                <a:lnTo>
                  <a:pt x="0" y="31750"/>
                </a:lnTo>
                <a:lnTo>
                  <a:pt x="0" y="44450"/>
                </a:lnTo>
                <a:lnTo>
                  <a:pt x="456564" y="44450"/>
                </a:lnTo>
                <a:lnTo>
                  <a:pt x="456564" y="31750"/>
                </a:lnTo>
                <a:close/>
              </a:path>
              <a:path w="532764" h="76200" extrusionOk="0">
                <a:moveTo>
                  <a:pt x="520064" y="31750"/>
                </a:moveTo>
                <a:lnTo>
                  <a:pt x="469264" y="31750"/>
                </a:lnTo>
                <a:lnTo>
                  <a:pt x="469264" y="44450"/>
                </a:lnTo>
                <a:lnTo>
                  <a:pt x="520064" y="44450"/>
                </a:lnTo>
                <a:lnTo>
                  <a:pt x="532764" y="38100"/>
                </a:lnTo>
                <a:lnTo>
                  <a:pt x="520064" y="31750"/>
                </a:lnTo>
                <a:close/>
              </a:path>
            </a:pathLst>
          </a:custGeom>
          <a:solidFill>
            <a:srgbClr val="58585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 name="Google Shape;110;p7"/>
          <p:cNvSpPr/>
          <p:nvPr/>
        </p:nvSpPr>
        <p:spPr>
          <a:xfrm>
            <a:off x="1174953" y="2687192"/>
            <a:ext cx="721360" cy="372110"/>
          </a:xfrm>
          <a:custGeom>
            <a:avLst/>
            <a:gdLst/>
            <a:ahLst/>
            <a:cxnLst/>
            <a:rect l="l" t="t" r="r" b="b"/>
            <a:pathLst>
              <a:path w="721360" h="372110" extrusionOk="0">
                <a:moveTo>
                  <a:pt x="709104" y="340233"/>
                </a:moveTo>
                <a:lnTo>
                  <a:pt x="657529" y="340233"/>
                </a:lnTo>
                <a:lnTo>
                  <a:pt x="644829" y="340233"/>
                </a:lnTo>
                <a:lnTo>
                  <a:pt x="644575" y="371856"/>
                </a:lnTo>
                <a:lnTo>
                  <a:pt x="709104" y="340233"/>
                </a:lnTo>
                <a:close/>
              </a:path>
              <a:path w="721360" h="372110" extrusionOk="0">
                <a:moveTo>
                  <a:pt x="709104" y="242697"/>
                </a:moveTo>
                <a:lnTo>
                  <a:pt x="657529" y="242697"/>
                </a:lnTo>
                <a:lnTo>
                  <a:pt x="644829" y="242697"/>
                </a:lnTo>
                <a:lnTo>
                  <a:pt x="644575" y="274320"/>
                </a:lnTo>
                <a:lnTo>
                  <a:pt x="709104" y="242697"/>
                </a:lnTo>
                <a:close/>
              </a:path>
              <a:path w="721360" h="372110" extrusionOk="0">
                <a:moveTo>
                  <a:pt x="709104" y="145161"/>
                </a:moveTo>
                <a:lnTo>
                  <a:pt x="657529" y="145161"/>
                </a:lnTo>
                <a:lnTo>
                  <a:pt x="644829" y="145161"/>
                </a:lnTo>
                <a:lnTo>
                  <a:pt x="644575" y="176784"/>
                </a:lnTo>
                <a:lnTo>
                  <a:pt x="709104" y="145161"/>
                </a:lnTo>
                <a:close/>
              </a:path>
              <a:path w="721360" h="372110" extrusionOk="0">
                <a:moveTo>
                  <a:pt x="709104" y="44577"/>
                </a:moveTo>
                <a:lnTo>
                  <a:pt x="657529" y="44577"/>
                </a:lnTo>
                <a:lnTo>
                  <a:pt x="644829" y="44577"/>
                </a:lnTo>
                <a:lnTo>
                  <a:pt x="644575" y="76200"/>
                </a:lnTo>
                <a:lnTo>
                  <a:pt x="709104" y="44577"/>
                </a:lnTo>
                <a:close/>
              </a:path>
              <a:path w="721360" h="372110" extrusionOk="0">
                <a:moveTo>
                  <a:pt x="721029" y="334391"/>
                </a:moveTo>
                <a:lnTo>
                  <a:pt x="645210" y="295656"/>
                </a:lnTo>
                <a:lnTo>
                  <a:pt x="644944" y="327444"/>
                </a:lnTo>
                <a:lnTo>
                  <a:pt x="101" y="322453"/>
                </a:lnTo>
                <a:lnTo>
                  <a:pt x="0" y="335153"/>
                </a:lnTo>
                <a:lnTo>
                  <a:pt x="644829" y="340144"/>
                </a:lnTo>
                <a:lnTo>
                  <a:pt x="657529" y="340233"/>
                </a:lnTo>
                <a:lnTo>
                  <a:pt x="709307" y="340144"/>
                </a:lnTo>
                <a:lnTo>
                  <a:pt x="721029" y="334391"/>
                </a:lnTo>
                <a:close/>
              </a:path>
              <a:path w="721360" h="372110" extrusionOk="0">
                <a:moveTo>
                  <a:pt x="721029" y="236855"/>
                </a:moveTo>
                <a:lnTo>
                  <a:pt x="645210" y="198120"/>
                </a:lnTo>
                <a:lnTo>
                  <a:pt x="644944" y="229908"/>
                </a:lnTo>
                <a:lnTo>
                  <a:pt x="101" y="224917"/>
                </a:lnTo>
                <a:lnTo>
                  <a:pt x="0" y="237617"/>
                </a:lnTo>
                <a:lnTo>
                  <a:pt x="644829" y="242608"/>
                </a:lnTo>
                <a:lnTo>
                  <a:pt x="657529" y="242697"/>
                </a:lnTo>
                <a:lnTo>
                  <a:pt x="709307" y="242608"/>
                </a:lnTo>
                <a:lnTo>
                  <a:pt x="721029" y="236855"/>
                </a:lnTo>
                <a:close/>
              </a:path>
              <a:path w="721360" h="372110" extrusionOk="0">
                <a:moveTo>
                  <a:pt x="721029" y="139319"/>
                </a:moveTo>
                <a:lnTo>
                  <a:pt x="645210" y="100584"/>
                </a:lnTo>
                <a:lnTo>
                  <a:pt x="644944" y="132372"/>
                </a:lnTo>
                <a:lnTo>
                  <a:pt x="101" y="127381"/>
                </a:lnTo>
                <a:lnTo>
                  <a:pt x="0" y="140081"/>
                </a:lnTo>
                <a:lnTo>
                  <a:pt x="644829" y="145072"/>
                </a:lnTo>
                <a:lnTo>
                  <a:pt x="657529" y="145161"/>
                </a:lnTo>
                <a:lnTo>
                  <a:pt x="709307" y="145072"/>
                </a:lnTo>
                <a:lnTo>
                  <a:pt x="721029" y="139319"/>
                </a:lnTo>
                <a:close/>
              </a:path>
              <a:path w="721360" h="372110" extrusionOk="0">
                <a:moveTo>
                  <a:pt x="721029" y="38735"/>
                </a:moveTo>
                <a:lnTo>
                  <a:pt x="645210" y="0"/>
                </a:lnTo>
                <a:lnTo>
                  <a:pt x="644944" y="31788"/>
                </a:lnTo>
                <a:lnTo>
                  <a:pt x="101" y="26797"/>
                </a:lnTo>
                <a:lnTo>
                  <a:pt x="0" y="39497"/>
                </a:lnTo>
                <a:lnTo>
                  <a:pt x="644829" y="44488"/>
                </a:lnTo>
                <a:lnTo>
                  <a:pt x="657529" y="44577"/>
                </a:lnTo>
                <a:lnTo>
                  <a:pt x="709307" y="44488"/>
                </a:lnTo>
                <a:lnTo>
                  <a:pt x="721029" y="38735"/>
                </a:lnTo>
                <a:close/>
              </a:path>
            </a:pathLst>
          </a:custGeom>
          <a:solidFill>
            <a:srgbClr val="58585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111;p7"/>
          <p:cNvSpPr txBox="1"/>
          <p:nvPr/>
        </p:nvSpPr>
        <p:spPr>
          <a:xfrm>
            <a:off x="3707638" y="2697225"/>
            <a:ext cx="612775" cy="39116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Mapping  function</a:t>
            </a:r>
            <a:endParaRPr sz="1200" b="0" i="0" u="none" strike="noStrike" cap="none">
              <a:solidFill>
                <a:srgbClr val="000000"/>
              </a:solidFill>
              <a:latin typeface="Arial"/>
              <a:ea typeface="Arial"/>
              <a:cs typeface="Arial"/>
              <a:sym typeface="Arial"/>
            </a:endParaRPr>
          </a:p>
        </p:txBody>
      </p:sp>
      <p:sp>
        <p:nvSpPr>
          <p:cNvPr id="112" name="Google Shape;112;p7"/>
          <p:cNvSpPr/>
          <p:nvPr/>
        </p:nvSpPr>
        <p:spPr>
          <a:xfrm>
            <a:off x="4460747" y="2452116"/>
            <a:ext cx="0" cy="854710"/>
          </a:xfrm>
          <a:custGeom>
            <a:avLst/>
            <a:gdLst/>
            <a:ahLst/>
            <a:cxnLst/>
            <a:rect l="l" t="t" r="r" b="b"/>
            <a:pathLst>
              <a:path w="120000" h="854710" extrusionOk="0">
                <a:moveTo>
                  <a:pt x="0" y="0"/>
                </a:moveTo>
                <a:lnTo>
                  <a:pt x="0" y="854709"/>
                </a:lnTo>
              </a:path>
            </a:pathLst>
          </a:custGeom>
          <a:noFill/>
          <a:ln w="9525" cap="flat" cmpd="sng">
            <a:solidFill>
              <a:srgbClr val="58585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 name="Google Shape;113;p7"/>
          <p:cNvSpPr txBox="1"/>
          <p:nvPr/>
        </p:nvSpPr>
        <p:spPr>
          <a:xfrm>
            <a:off x="5780532" y="2686811"/>
            <a:ext cx="1301750" cy="390525"/>
          </a:xfrm>
          <a:prstGeom prst="rect">
            <a:avLst/>
          </a:prstGeom>
          <a:solidFill>
            <a:srgbClr val="EDEDED"/>
          </a:solidFill>
          <a:ln w="9525" cap="flat" cmpd="sng">
            <a:solidFill>
              <a:srgbClr val="585858"/>
            </a:solidFill>
            <a:prstDash val="solid"/>
            <a:round/>
            <a:headEnd type="none" w="sm" len="sm"/>
            <a:tailEnd type="none" w="sm" len="sm"/>
          </a:ln>
        </p:spPr>
        <p:txBody>
          <a:bodyPr spcFirstLastPara="1" wrap="square" lIns="0" tIns="8250" rIns="0" bIns="0" anchor="t" anchorCtr="0">
            <a:spAutoFit/>
          </a:bodyPr>
          <a:lstStyle/>
          <a:p>
            <a:pPr marL="381635" marR="349250" lvl="0" indent="-24763"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Mapping  function</a:t>
            </a:r>
            <a:endParaRPr sz="1200" b="0" i="0" u="none" strike="noStrike" cap="none">
              <a:solidFill>
                <a:srgbClr val="000000"/>
              </a:solidFill>
              <a:latin typeface="Arial"/>
              <a:ea typeface="Arial"/>
              <a:cs typeface="Arial"/>
              <a:sym typeface="Arial"/>
            </a:endParaRPr>
          </a:p>
        </p:txBody>
      </p:sp>
      <p:sp>
        <p:nvSpPr>
          <p:cNvPr id="114" name="Google Shape;114;p7"/>
          <p:cNvSpPr/>
          <p:nvPr/>
        </p:nvSpPr>
        <p:spPr>
          <a:xfrm>
            <a:off x="5058155" y="2824352"/>
            <a:ext cx="721360" cy="76200"/>
          </a:xfrm>
          <a:custGeom>
            <a:avLst/>
            <a:gdLst/>
            <a:ahLst/>
            <a:cxnLst/>
            <a:rect l="l" t="t" r="r" b="b"/>
            <a:pathLst>
              <a:path w="721360" h="76200" extrusionOk="0">
                <a:moveTo>
                  <a:pt x="645160" y="0"/>
                </a:moveTo>
                <a:lnTo>
                  <a:pt x="644895" y="31778"/>
                </a:lnTo>
                <a:lnTo>
                  <a:pt x="657606" y="31876"/>
                </a:lnTo>
                <a:lnTo>
                  <a:pt x="657479" y="44576"/>
                </a:lnTo>
                <a:lnTo>
                  <a:pt x="644788" y="44576"/>
                </a:lnTo>
                <a:lnTo>
                  <a:pt x="644525" y="76200"/>
                </a:lnTo>
                <a:lnTo>
                  <a:pt x="709057" y="44576"/>
                </a:lnTo>
                <a:lnTo>
                  <a:pt x="657479" y="44576"/>
                </a:lnTo>
                <a:lnTo>
                  <a:pt x="709257" y="44478"/>
                </a:lnTo>
                <a:lnTo>
                  <a:pt x="720979" y="38734"/>
                </a:lnTo>
                <a:lnTo>
                  <a:pt x="645160" y="0"/>
                </a:lnTo>
                <a:close/>
              </a:path>
              <a:path w="721360" h="76200" extrusionOk="0">
                <a:moveTo>
                  <a:pt x="644895" y="31778"/>
                </a:moveTo>
                <a:lnTo>
                  <a:pt x="644789" y="44478"/>
                </a:lnTo>
                <a:lnTo>
                  <a:pt x="657479" y="44576"/>
                </a:lnTo>
                <a:lnTo>
                  <a:pt x="657606" y="31876"/>
                </a:lnTo>
                <a:lnTo>
                  <a:pt x="644895" y="31778"/>
                </a:lnTo>
                <a:close/>
              </a:path>
              <a:path w="721360" h="76200" extrusionOk="0">
                <a:moveTo>
                  <a:pt x="0" y="26796"/>
                </a:moveTo>
                <a:lnTo>
                  <a:pt x="0" y="39496"/>
                </a:lnTo>
                <a:lnTo>
                  <a:pt x="644789" y="44478"/>
                </a:lnTo>
                <a:lnTo>
                  <a:pt x="644895" y="31778"/>
                </a:lnTo>
                <a:lnTo>
                  <a:pt x="0" y="26796"/>
                </a:lnTo>
                <a:close/>
              </a:path>
            </a:pathLst>
          </a:custGeom>
          <a:solidFill>
            <a:srgbClr val="58585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 name="Google Shape;115;p7"/>
          <p:cNvSpPr txBox="1"/>
          <p:nvPr/>
        </p:nvSpPr>
        <p:spPr>
          <a:xfrm>
            <a:off x="4628769" y="2736850"/>
            <a:ext cx="366395" cy="20827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Input</a:t>
            </a:r>
            <a:endParaRPr sz="1200" b="0" i="0" u="none" strike="noStrike" cap="none">
              <a:solidFill>
                <a:srgbClr val="000000"/>
              </a:solidFill>
              <a:latin typeface="Arial"/>
              <a:ea typeface="Arial"/>
              <a:cs typeface="Arial"/>
              <a:sym typeface="Arial"/>
            </a:endParaRPr>
          </a:p>
        </p:txBody>
      </p:sp>
      <p:sp>
        <p:nvSpPr>
          <p:cNvPr id="116" name="Google Shape;116;p7"/>
          <p:cNvSpPr/>
          <p:nvPr/>
        </p:nvSpPr>
        <p:spPr>
          <a:xfrm>
            <a:off x="7082028" y="2822447"/>
            <a:ext cx="532765" cy="76200"/>
          </a:xfrm>
          <a:custGeom>
            <a:avLst/>
            <a:gdLst/>
            <a:ahLst/>
            <a:cxnLst/>
            <a:rect l="l" t="t" r="r" b="b"/>
            <a:pathLst>
              <a:path w="532765" h="76200" extrusionOk="0">
                <a:moveTo>
                  <a:pt x="456565" y="0"/>
                </a:moveTo>
                <a:lnTo>
                  <a:pt x="456565" y="76200"/>
                </a:lnTo>
                <a:lnTo>
                  <a:pt x="520065" y="44450"/>
                </a:lnTo>
                <a:lnTo>
                  <a:pt x="469265" y="44450"/>
                </a:lnTo>
                <a:lnTo>
                  <a:pt x="469265" y="31750"/>
                </a:lnTo>
                <a:lnTo>
                  <a:pt x="520065" y="31750"/>
                </a:lnTo>
                <a:lnTo>
                  <a:pt x="456565" y="0"/>
                </a:lnTo>
                <a:close/>
              </a:path>
              <a:path w="532765" h="76200" extrusionOk="0">
                <a:moveTo>
                  <a:pt x="456565" y="31750"/>
                </a:moveTo>
                <a:lnTo>
                  <a:pt x="0" y="31750"/>
                </a:lnTo>
                <a:lnTo>
                  <a:pt x="0" y="44450"/>
                </a:lnTo>
                <a:lnTo>
                  <a:pt x="456565" y="44450"/>
                </a:lnTo>
                <a:lnTo>
                  <a:pt x="456565" y="31750"/>
                </a:lnTo>
                <a:close/>
              </a:path>
              <a:path w="532765" h="76200" extrusionOk="0">
                <a:moveTo>
                  <a:pt x="520065" y="31750"/>
                </a:moveTo>
                <a:lnTo>
                  <a:pt x="469265" y="31750"/>
                </a:lnTo>
                <a:lnTo>
                  <a:pt x="469265" y="44450"/>
                </a:lnTo>
                <a:lnTo>
                  <a:pt x="520065" y="44450"/>
                </a:lnTo>
                <a:lnTo>
                  <a:pt x="532765" y="38100"/>
                </a:lnTo>
                <a:lnTo>
                  <a:pt x="520065" y="31750"/>
                </a:lnTo>
                <a:close/>
              </a:path>
            </a:pathLst>
          </a:custGeom>
          <a:solidFill>
            <a:srgbClr val="58585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 name="Google Shape;117;p7"/>
          <p:cNvSpPr txBox="1"/>
          <p:nvPr/>
        </p:nvSpPr>
        <p:spPr>
          <a:xfrm>
            <a:off x="7659116" y="2760929"/>
            <a:ext cx="485140" cy="2089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Output</a:t>
            </a:r>
            <a:endParaRPr sz="1200" b="0" i="0" u="none" strike="noStrike" cap="none">
              <a:solidFill>
                <a:srgbClr val="000000"/>
              </a:solidFill>
              <a:latin typeface="Arial"/>
              <a:ea typeface="Arial"/>
              <a:cs typeface="Arial"/>
              <a:sym typeface="Arial"/>
            </a:endParaRPr>
          </a:p>
        </p:txBody>
      </p:sp>
      <p:sp>
        <p:nvSpPr>
          <p:cNvPr id="118" name="Google Shape;118;p7"/>
          <p:cNvSpPr txBox="1"/>
          <p:nvPr/>
        </p:nvSpPr>
        <p:spPr>
          <a:xfrm>
            <a:off x="640486" y="3246831"/>
            <a:ext cx="7836534" cy="1400810"/>
          </a:xfrm>
          <a:prstGeom prst="rect">
            <a:avLst/>
          </a:prstGeom>
          <a:noFill/>
          <a:ln>
            <a:noFill/>
          </a:ln>
        </p:spPr>
        <p:txBody>
          <a:bodyPr spcFirstLastPara="1" wrap="square" lIns="0" tIns="13950" rIns="0" bIns="0" anchor="t" anchorCtr="0">
            <a:spAutoFit/>
          </a:bodyPr>
          <a:lstStyle/>
          <a:p>
            <a:pPr marL="0" marR="179705"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Training	Testing</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950"/>
              <a:buFont typeface="Arial"/>
              <a:buNone/>
            </a:pPr>
            <a:endParaRPr sz="1950" b="0" i="0" u="none" strike="noStrike" cap="none">
              <a:solidFill>
                <a:srgbClr val="000000"/>
              </a:solidFill>
              <a:latin typeface="Arial"/>
              <a:ea typeface="Arial"/>
              <a:cs typeface="Arial"/>
              <a:sym typeface="Arial"/>
            </a:endParaRPr>
          </a:p>
          <a:p>
            <a:pPr marL="12700" marR="5080" lvl="0" indent="0" algn="l" rtl="0">
              <a:lnSpc>
                <a:spcPct val="1151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Example: Detection of phishing emails based on certain phrases like ‘You have won  million’. More such phrases are prespecified while training the model. So if a new email  also contains a similar phrase such emails can directly be tagged as spam.</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a:spLocks noGrp="1"/>
          </p:cNvSpPr>
          <p:nvPr>
            <p:ph type="title"/>
          </p:nvPr>
        </p:nvSpPr>
        <p:spPr>
          <a:xfrm>
            <a:off x="500887" y="512191"/>
            <a:ext cx="4739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Supervised learning problems</a:t>
            </a:r>
            <a:endParaRPr sz="2800"/>
          </a:p>
        </p:txBody>
      </p:sp>
      <p:sp>
        <p:nvSpPr>
          <p:cNvPr id="124" name="Google Shape;124;p8"/>
          <p:cNvSpPr txBox="1"/>
          <p:nvPr/>
        </p:nvSpPr>
        <p:spPr>
          <a:xfrm>
            <a:off x="500887" y="1657299"/>
            <a:ext cx="5548630" cy="149415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Supervised learning is mainly used for two types of problems: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30"/>
              </a:spcBef>
              <a:spcAft>
                <a:spcPts val="0"/>
              </a:spcAft>
              <a:buClr>
                <a:srgbClr val="000000"/>
              </a:buClr>
              <a:buSzPts val="2500"/>
              <a:buFont typeface="Arial"/>
              <a:buNone/>
            </a:pPr>
            <a:endParaRPr sz="2500" b="0" i="0" u="none" strike="noStrike" cap="none">
              <a:solidFill>
                <a:srgbClr val="000000"/>
              </a:solidFill>
              <a:latin typeface="Arial"/>
              <a:ea typeface="Arial"/>
              <a:cs typeface="Arial"/>
              <a:sym typeface="Arial"/>
            </a:endParaRPr>
          </a:p>
          <a:p>
            <a:pPr marL="469900" marR="0" lvl="0" indent="-33020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Regression problem</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0"/>
              </a:spcBef>
              <a:spcAft>
                <a:spcPts val="0"/>
              </a:spcAft>
              <a:buClr>
                <a:srgbClr val="000000"/>
              </a:buClr>
              <a:buSzPts val="2500"/>
              <a:buFont typeface="Arial"/>
              <a:buNone/>
            </a:pPr>
            <a:endParaRPr sz="2500" b="0" i="0" u="none" strike="noStrike" cap="none">
              <a:solidFill>
                <a:srgbClr val="000000"/>
              </a:solidFill>
              <a:latin typeface="Arial"/>
              <a:ea typeface="Arial"/>
              <a:cs typeface="Arial"/>
              <a:sym typeface="Arial"/>
            </a:endParaRPr>
          </a:p>
          <a:p>
            <a:pPr marL="469900" marR="0" lvl="0" indent="-33020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Classification problem</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9"/>
          <p:cNvSpPr txBox="1">
            <a:spLocks noGrp="1"/>
          </p:cNvSpPr>
          <p:nvPr>
            <p:ph type="title"/>
          </p:nvPr>
        </p:nvSpPr>
        <p:spPr>
          <a:xfrm>
            <a:off x="500887" y="512191"/>
            <a:ext cx="44049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Regression vs classification</a:t>
            </a:r>
            <a:endParaRPr sz="2800"/>
          </a:p>
        </p:txBody>
      </p:sp>
      <p:grpSp>
        <p:nvGrpSpPr>
          <p:cNvPr id="130" name="Google Shape;130;p9"/>
          <p:cNvGrpSpPr/>
          <p:nvPr/>
        </p:nvGrpSpPr>
        <p:grpSpPr>
          <a:xfrm>
            <a:off x="3281171" y="1059179"/>
            <a:ext cx="2234565" cy="658495"/>
            <a:chOff x="3281171" y="1059179"/>
            <a:chExt cx="2234565" cy="658495"/>
          </a:xfrm>
        </p:grpSpPr>
        <p:sp>
          <p:nvSpPr>
            <p:cNvPr id="131" name="Google Shape;131;p9"/>
            <p:cNvSpPr/>
            <p:nvPr/>
          </p:nvSpPr>
          <p:spPr>
            <a:xfrm>
              <a:off x="3281171" y="1059179"/>
              <a:ext cx="2234565" cy="658495"/>
            </a:xfrm>
            <a:custGeom>
              <a:avLst/>
              <a:gdLst/>
              <a:ahLst/>
              <a:cxnLst/>
              <a:rect l="l" t="t" r="r" b="b"/>
              <a:pathLst>
                <a:path w="2234565" h="658494" extrusionOk="0">
                  <a:moveTo>
                    <a:pt x="2124455" y="0"/>
                  </a:moveTo>
                  <a:lnTo>
                    <a:pt x="109727" y="0"/>
                  </a:lnTo>
                  <a:lnTo>
                    <a:pt x="67026" y="8626"/>
                  </a:lnTo>
                  <a:lnTo>
                    <a:pt x="32146" y="32146"/>
                  </a:lnTo>
                  <a:lnTo>
                    <a:pt x="8626" y="67026"/>
                  </a:lnTo>
                  <a:lnTo>
                    <a:pt x="0" y="109728"/>
                  </a:lnTo>
                  <a:lnTo>
                    <a:pt x="0" y="548640"/>
                  </a:lnTo>
                  <a:lnTo>
                    <a:pt x="8626" y="591341"/>
                  </a:lnTo>
                  <a:lnTo>
                    <a:pt x="32146" y="626221"/>
                  </a:lnTo>
                  <a:lnTo>
                    <a:pt x="67026" y="649741"/>
                  </a:lnTo>
                  <a:lnTo>
                    <a:pt x="109727" y="658368"/>
                  </a:lnTo>
                  <a:lnTo>
                    <a:pt x="2124455" y="658368"/>
                  </a:lnTo>
                  <a:lnTo>
                    <a:pt x="2167157" y="649741"/>
                  </a:lnTo>
                  <a:lnTo>
                    <a:pt x="2202037" y="626221"/>
                  </a:lnTo>
                  <a:lnTo>
                    <a:pt x="2225557" y="591341"/>
                  </a:lnTo>
                  <a:lnTo>
                    <a:pt x="2234183" y="548640"/>
                  </a:lnTo>
                  <a:lnTo>
                    <a:pt x="2234183" y="109728"/>
                  </a:lnTo>
                  <a:lnTo>
                    <a:pt x="2225557" y="67026"/>
                  </a:lnTo>
                  <a:lnTo>
                    <a:pt x="2202037" y="32146"/>
                  </a:lnTo>
                  <a:lnTo>
                    <a:pt x="2167157" y="8626"/>
                  </a:lnTo>
                  <a:lnTo>
                    <a:pt x="2124455" y="0"/>
                  </a:lnTo>
                  <a:close/>
                </a:path>
              </a:pathLst>
            </a:custGeom>
            <a:solidFill>
              <a:srgbClr val="3B78D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 name="Google Shape;132;p9"/>
            <p:cNvSpPr/>
            <p:nvPr/>
          </p:nvSpPr>
          <p:spPr>
            <a:xfrm>
              <a:off x="3281171" y="1059179"/>
              <a:ext cx="2234565" cy="658495"/>
            </a:xfrm>
            <a:custGeom>
              <a:avLst/>
              <a:gdLst/>
              <a:ahLst/>
              <a:cxnLst/>
              <a:rect l="l" t="t" r="r" b="b"/>
              <a:pathLst>
                <a:path w="2234565" h="658494" extrusionOk="0">
                  <a:moveTo>
                    <a:pt x="0" y="109728"/>
                  </a:moveTo>
                  <a:lnTo>
                    <a:pt x="8626" y="67026"/>
                  </a:lnTo>
                  <a:lnTo>
                    <a:pt x="32146" y="32146"/>
                  </a:lnTo>
                  <a:lnTo>
                    <a:pt x="67026" y="8626"/>
                  </a:lnTo>
                  <a:lnTo>
                    <a:pt x="109727" y="0"/>
                  </a:lnTo>
                  <a:lnTo>
                    <a:pt x="2124455" y="0"/>
                  </a:lnTo>
                  <a:lnTo>
                    <a:pt x="2167157" y="8626"/>
                  </a:lnTo>
                  <a:lnTo>
                    <a:pt x="2202037" y="32146"/>
                  </a:lnTo>
                  <a:lnTo>
                    <a:pt x="2225557" y="67026"/>
                  </a:lnTo>
                  <a:lnTo>
                    <a:pt x="2234183" y="109728"/>
                  </a:lnTo>
                  <a:lnTo>
                    <a:pt x="2234183" y="548640"/>
                  </a:lnTo>
                  <a:lnTo>
                    <a:pt x="2225557" y="591341"/>
                  </a:lnTo>
                  <a:lnTo>
                    <a:pt x="2202037" y="626221"/>
                  </a:lnTo>
                  <a:lnTo>
                    <a:pt x="2167157" y="649741"/>
                  </a:lnTo>
                  <a:lnTo>
                    <a:pt x="2124455" y="658368"/>
                  </a:lnTo>
                  <a:lnTo>
                    <a:pt x="109727" y="658368"/>
                  </a:lnTo>
                  <a:lnTo>
                    <a:pt x="67026" y="649741"/>
                  </a:lnTo>
                  <a:lnTo>
                    <a:pt x="32146" y="626221"/>
                  </a:lnTo>
                  <a:lnTo>
                    <a:pt x="8626" y="591341"/>
                  </a:lnTo>
                  <a:lnTo>
                    <a:pt x="0" y="548640"/>
                  </a:lnTo>
                  <a:lnTo>
                    <a:pt x="0" y="109728"/>
                  </a:lnTo>
                  <a:close/>
                </a:path>
              </a:pathLst>
            </a:custGeom>
            <a:noFill/>
            <a:ln w="9525" cap="flat" cmpd="sng">
              <a:solidFill>
                <a:srgbClr val="3B78D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3" name="Google Shape;133;p9"/>
          <p:cNvSpPr txBox="1"/>
          <p:nvPr/>
        </p:nvSpPr>
        <p:spPr>
          <a:xfrm>
            <a:off x="3575430" y="1265300"/>
            <a:ext cx="1645285" cy="238125"/>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Supervised Learning</a:t>
            </a:r>
            <a:endParaRPr sz="1400" b="0" i="0" u="none" strike="noStrike" cap="none">
              <a:solidFill>
                <a:srgbClr val="000000"/>
              </a:solidFill>
              <a:latin typeface="Arial"/>
              <a:ea typeface="Arial"/>
              <a:cs typeface="Arial"/>
              <a:sym typeface="Arial"/>
            </a:endParaRPr>
          </a:p>
        </p:txBody>
      </p:sp>
      <p:grpSp>
        <p:nvGrpSpPr>
          <p:cNvPr id="134" name="Google Shape;134;p9"/>
          <p:cNvGrpSpPr/>
          <p:nvPr/>
        </p:nvGrpSpPr>
        <p:grpSpPr>
          <a:xfrm>
            <a:off x="1031747" y="2241803"/>
            <a:ext cx="2231390" cy="661670"/>
            <a:chOff x="1031747" y="2241803"/>
            <a:chExt cx="2231390" cy="661670"/>
          </a:xfrm>
        </p:grpSpPr>
        <p:sp>
          <p:nvSpPr>
            <p:cNvPr id="135" name="Google Shape;135;p9"/>
            <p:cNvSpPr/>
            <p:nvPr/>
          </p:nvSpPr>
          <p:spPr>
            <a:xfrm>
              <a:off x="1031747" y="2241803"/>
              <a:ext cx="2231390" cy="661670"/>
            </a:xfrm>
            <a:custGeom>
              <a:avLst/>
              <a:gdLst/>
              <a:ahLst/>
              <a:cxnLst/>
              <a:rect l="l" t="t" r="r" b="b"/>
              <a:pathLst>
                <a:path w="2231390" h="661669" extrusionOk="0">
                  <a:moveTo>
                    <a:pt x="2120900" y="0"/>
                  </a:moveTo>
                  <a:lnTo>
                    <a:pt x="110236" y="0"/>
                  </a:lnTo>
                  <a:lnTo>
                    <a:pt x="67326" y="8669"/>
                  </a:lnTo>
                  <a:lnTo>
                    <a:pt x="32286" y="32305"/>
                  </a:lnTo>
                  <a:lnTo>
                    <a:pt x="8662" y="67347"/>
                  </a:lnTo>
                  <a:lnTo>
                    <a:pt x="0" y="110236"/>
                  </a:lnTo>
                  <a:lnTo>
                    <a:pt x="0" y="551180"/>
                  </a:lnTo>
                  <a:lnTo>
                    <a:pt x="8662" y="594068"/>
                  </a:lnTo>
                  <a:lnTo>
                    <a:pt x="32286" y="629110"/>
                  </a:lnTo>
                  <a:lnTo>
                    <a:pt x="67326" y="652746"/>
                  </a:lnTo>
                  <a:lnTo>
                    <a:pt x="110236" y="661415"/>
                  </a:lnTo>
                  <a:lnTo>
                    <a:pt x="2120900" y="661415"/>
                  </a:lnTo>
                  <a:lnTo>
                    <a:pt x="2163788" y="652746"/>
                  </a:lnTo>
                  <a:lnTo>
                    <a:pt x="2198830" y="629110"/>
                  </a:lnTo>
                  <a:lnTo>
                    <a:pt x="2222466" y="594068"/>
                  </a:lnTo>
                  <a:lnTo>
                    <a:pt x="2231136" y="551180"/>
                  </a:lnTo>
                  <a:lnTo>
                    <a:pt x="2231136" y="110236"/>
                  </a:lnTo>
                  <a:lnTo>
                    <a:pt x="2222466" y="67347"/>
                  </a:lnTo>
                  <a:lnTo>
                    <a:pt x="2198830" y="32305"/>
                  </a:lnTo>
                  <a:lnTo>
                    <a:pt x="2163788" y="8669"/>
                  </a:lnTo>
                  <a:lnTo>
                    <a:pt x="2120900" y="0"/>
                  </a:lnTo>
                  <a:close/>
                </a:path>
              </a:pathLst>
            </a:custGeom>
            <a:solidFill>
              <a:srgbClr val="3B78D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36;p9"/>
            <p:cNvSpPr/>
            <p:nvPr/>
          </p:nvSpPr>
          <p:spPr>
            <a:xfrm>
              <a:off x="1031747" y="2241803"/>
              <a:ext cx="2231390" cy="661670"/>
            </a:xfrm>
            <a:custGeom>
              <a:avLst/>
              <a:gdLst/>
              <a:ahLst/>
              <a:cxnLst/>
              <a:rect l="l" t="t" r="r" b="b"/>
              <a:pathLst>
                <a:path w="2231390" h="661669" extrusionOk="0">
                  <a:moveTo>
                    <a:pt x="0" y="110236"/>
                  </a:moveTo>
                  <a:lnTo>
                    <a:pt x="8662" y="67347"/>
                  </a:lnTo>
                  <a:lnTo>
                    <a:pt x="32286" y="32305"/>
                  </a:lnTo>
                  <a:lnTo>
                    <a:pt x="67326" y="8669"/>
                  </a:lnTo>
                  <a:lnTo>
                    <a:pt x="110236" y="0"/>
                  </a:lnTo>
                  <a:lnTo>
                    <a:pt x="2120900" y="0"/>
                  </a:lnTo>
                  <a:lnTo>
                    <a:pt x="2163788" y="8669"/>
                  </a:lnTo>
                  <a:lnTo>
                    <a:pt x="2198830" y="32305"/>
                  </a:lnTo>
                  <a:lnTo>
                    <a:pt x="2222466" y="67347"/>
                  </a:lnTo>
                  <a:lnTo>
                    <a:pt x="2231136" y="110236"/>
                  </a:lnTo>
                  <a:lnTo>
                    <a:pt x="2231136" y="551180"/>
                  </a:lnTo>
                  <a:lnTo>
                    <a:pt x="2222466" y="594068"/>
                  </a:lnTo>
                  <a:lnTo>
                    <a:pt x="2198830" y="629110"/>
                  </a:lnTo>
                  <a:lnTo>
                    <a:pt x="2163788" y="652746"/>
                  </a:lnTo>
                  <a:lnTo>
                    <a:pt x="2120900" y="661415"/>
                  </a:lnTo>
                  <a:lnTo>
                    <a:pt x="110236" y="661415"/>
                  </a:lnTo>
                  <a:lnTo>
                    <a:pt x="67326" y="652746"/>
                  </a:lnTo>
                  <a:lnTo>
                    <a:pt x="32286" y="629110"/>
                  </a:lnTo>
                  <a:lnTo>
                    <a:pt x="8662" y="594068"/>
                  </a:lnTo>
                  <a:lnTo>
                    <a:pt x="0" y="551180"/>
                  </a:lnTo>
                  <a:lnTo>
                    <a:pt x="0" y="110236"/>
                  </a:lnTo>
                  <a:close/>
                </a:path>
              </a:pathLst>
            </a:custGeom>
            <a:noFill/>
            <a:ln w="9525" cap="flat" cmpd="sng">
              <a:solidFill>
                <a:srgbClr val="3B78D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7" name="Google Shape;137;p9"/>
          <p:cNvSpPr txBox="1"/>
          <p:nvPr/>
        </p:nvSpPr>
        <p:spPr>
          <a:xfrm>
            <a:off x="1686305" y="2450972"/>
            <a:ext cx="916940" cy="238125"/>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Regression</a:t>
            </a:r>
            <a:endParaRPr sz="1400" b="0" i="0" u="none" strike="noStrike" cap="none">
              <a:solidFill>
                <a:srgbClr val="000000"/>
              </a:solidFill>
              <a:latin typeface="Arial"/>
              <a:ea typeface="Arial"/>
              <a:cs typeface="Arial"/>
              <a:sym typeface="Arial"/>
            </a:endParaRPr>
          </a:p>
        </p:txBody>
      </p:sp>
      <p:grpSp>
        <p:nvGrpSpPr>
          <p:cNvPr id="138" name="Google Shape;138;p9"/>
          <p:cNvGrpSpPr/>
          <p:nvPr/>
        </p:nvGrpSpPr>
        <p:grpSpPr>
          <a:xfrm>
            <a:off x="1031747" y="1717547"/>
            <a:ext cx="5467986" cy="2127885"/>
            <a:chOff x="1031747" y="1717547"/>
            <a:chExt cx="5467986" cy="2127885"/>
          </a:xfrm>
        </p:grpSpPr>
        <p:sp>
          <p:nvSpPr>
            <p:cNvPr id="139" name="Google Shape;139;p9"/>
            <p:cNvSpPr/>
            <p:nvPr/>
          </p:nvSpPr>
          <p:spPr>
            <a:xfrm>
              <a:off x="1031748" y="1717547"/>
              <a:ext cx="5467985" cy="2127885"/>
            </a:xfrm>
            <a:custGeom>
              <a:avLst/>
              <a:gdLst/>
              <a:ahLst/>
              <a:cxnLst/>
              <a:rect l="l" t="t" r="r" b="b"/>
              <a:pathLst>
                <a:path w="5467985" h="2127885" extrusionOk="0">
                  <a:moveTo>
                    <a:pt x="2231136" y="1576324"/>
                  </a:moveTo>
                  <a:lnTo>
                    <a:pt x="2222462" y="1533436"/>
                  </a:lnTo>
                  <a:lnTo>
                    <a:pt x="2198827" y="1498396"/>
                  </a:lnTo>
                  <a:lnTo>
                    <a:pt x="2163788" y="1474762"/>
                  </a:lnTo>
                  <a:lnTo>
                    <a:pt x="2120900" y="1466088"/>
                  </a:lnTo>
                  <a:lnTo>
                    <a:pt x="110236" y="1466088"/>
                  </a:lnTo>
                  <a:lnTo>
                    <a:pt x="67322" y="1474762"/>
                  </a:lnTo>
                  <a:lnTo>
                    <a:pt x="32283" y="1498396"/>
                  </a:lnTo>
                  <a:lnTo>
                    <a:pt x="8661" y="1533436"/>
                  </a:lnTo>
                  <a:lnTo>
                    <a:pt x="0" y="1576324"/>
                  </a:lnTo>
                  <a:lnTo>
                    <a:pt x="0" y="2017268"/>
                  </a:lnTo>
                  <a:lnTo>
                    <a:pt x="8661" y="2060168"/>
                  </a:lnTo>
                  <a:lnTo>
                    <a:pt x="32283" y="2095207"/>
                  </a:lnTo>
                  <a:lnTo>
                    <a:pt x="67322" y="2118842"/>
                  </a:lnTo>
                  <a:lnTo>
                    <a:pt x="110236" y="2127504"/>
                  </a:lnTo>
                  <a:lnTo>
                    <a:pt x="2120900" y="2127504"/>
                  </a:lnTo>
                  <a:lnTo>
                    <a:pt x="2163788" y="2118842"/>
                  </a:lnTo>
                  <a:lnTo>
                    <a:pt x="2198827" y="2095207"/>
                  </a:lnTo>
                  <a:lnTo>
                    <a:pt x="2222462" y="2060168"/>
                  </a:lnTo>
                  <a:lnTo>
                    <a:pt x="2231136" y="2017268"/>
                  </a:lnTo>
                  <a:lnTo>
                    <a:pt x="2231136" y="1576324"/>
                  </a:lnTo>
                  <a:close/>
                </a:path>
                <a:path w="5467985" h="2127885" extrusionOk="0">
                  <a:moveTo>
                    <a:pt x="5467731" y="448437"/>
                  </a:moveTo>
                  <a:lnTo>
                    <a:pt x="5435981" y="448437"/>
                  </a:lnTo>
                  <a:lnTo>
                    <a:pt x="5435981" y="268605"/>
                  </a:lnTo>
                  <a:lnTo>
                    <a:pt x="5435981" y="258826"/>
                  </a:lnTo>
                  <a:lnTo>
                    <a:pt x="5433060" y="255905"/>
                  </a:lnTo>
                  <a:lnTo>
                    <a:pt x="3373120" y="255905"/>
                  </a:lnTo>
                  <a:lnTo>
                    <a:pt x="3373120" y="0"/>
                  </a:lnTo>
                  <a:lnTo>
                    <a:pt x="3371342" y="0"/>
                  </a:lnTo>
                  <a:lnTo>
                    <a:pt x="3360420" y="0"/>
                  </a:lnTo>
                  <a:lnTo>
                    <a:pt x="3358642" y="0"/>
                  </a:lnTo>
                  <a:lnTo>
                    <a:pt x="3358642" y="255905"/>
                  </a:lnTo>
                  <a:lnTo>
                    <a:pt x="1112012" y="255905"/>
                  </a:lnTo>
                  <a:lnTo>
                    <a:pt x="1109218" y="258826"/>
                  </a:lnTo>
                  <a:lnTo>
                    <a:pt x="1109218" y="448437"/>
                  </a:lnTo>
                  <a:lnTo>
                    <a:pt x="1077468" y="448437"/>
                  </a:lnTo>
                  <a:lnTo>
                    <a:pt x="1115568" y="524637"/>
                  </a:lnTo>
                  <a:lnTo>
                    <a:pt x="1147318" y="461137"/>
                  </a:lnTo>
                  <a:lnTo>
                    <a:pt x="1153668" y="448437"/>
                  </a:lnTo>
                  <a:lnTo>
                    <a:pt x="1121918" y="448437"/>
                  </a:lnTo>
                  <a:lnTo>
                    <a:pt x="1121918" y="268605"/>
                  </a:lnTo>
                  <a:lnTo>
                    <a:pt x="3361436" y="268605"/>
                  </a:lnTo>
                  <a:lnTo>
                    <a:pt x="3370326" y="268605"/>
                  </a:lnTo>
                  <a:lnTo>
                    <a:pt x="5423281" y="268605"/>
                  </a:lnTo>
                  <a:lnTo>
                    <a:pt x="5423281" y="448437"/>
                  </a:lnTo>
                  <a:lnTo>
                    <a:pt x="5391531" y="448437"/>
                  </a:lnTo>
                  <a:lnTo>
                    <a:pt x="5429631" y="524637"/>
                  </a:lnTo>
                  <a:lnTo>
                    <a:pt x="5461381" y="461137"/>
                  </a:lnTo>
                  <a:lnTo>
                    <a:pt x="5467731" y="448437"/>
                  </a:lnTo>
                  <a:close/>
                </a:path>
              </a:pathLst>
            </a:custGeom>
            <a:solidFill>
              <a:srgbClr val="3B78D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 name="Google Shape;140;p9"/>
            <p:cNvSpPr/>
            <p:nvPr/>
          </p:nvSpPr>
          <p:spPr>
            <a:xfrm>
              <a:off x="1031747" y="3183635"/>
              <a:ext cx="2231390" cy="661670"/>
            </a:xfrm>
            <a:custGeom>
              <a:avLst/>
              <a:gdLst/>
              <a:ahLst/>
              <a:cxnLst/>
              <a:rect l="l" t="t" r="r" b="b"/>
              <a:pathLst>
                <a:path w="2231390" h="661670" extrusionOk="0">
                  <a:moveTo>
                    <a:pt x="0" y="110236"/>
                  </a:moveTo>
                  <a:lnTo>
                    <a:pt x="8662" y="67347"/>
                  </a:lnTo>
                  <a:lnTo>
                    <a:pt x="32286" y="32305"/>
                  </a:lnTo>
                  <a:lnTo>
                    <a:pt x="67326" y="8669"/>
                  </a:lnTo>
                  <a:lnTo>
                    <a:pt x="110236" y="0"/>
                  </a:lnTo>
                  <a:lnTo>
                    <a:pt x="2120900" y="0"/>
                  </a:lnTo>
                  <a:lnTo>
                    <a:pt x="2163788" y="8669"/>
                  </a:lnTo>
                  <a:lnTo>
                    <a:pt x="2198830" y="32305"/>
                  </a:lnTo>
                  <a:lnTo>
                    <a:pt x="2222466" y="67347"/>
                  </a:lnTo>
                  <a:lnTo>
                    <a:pt x="2231136" y="110236"/>
                  </a:lnTo>
                  <a:lnTo>
                    <a:pt x="2231136" y="551179"/>
                  </a:lnTo>
                  <a:lnTo>
                    <a:pt x="2222466" y="594068"/>
                  </a:lnTo>
                  <a:lnTo>
                    <a:pt x="2198830" y="629110"/>
                  </a:lnTo>
                  <a:lnTo>
                    <a:pt x="2163788" y="652746"/>
                  </a:lnTo>
                  <a:lnTo>
                    <a:pt x="2120900" y="661416"/>
                  </a:lnTo>
                  <a:lnTo>
                    <a:pt x="110236" y="661416"/>
                  </a:lnTo>
                  <a:lnTo>
                    <a:pt x="67326" y="652746"/>
                  </a:lnTo>
                  <a:lnTo>
                    <a:pt x="32286" y="629110"/>
                  </a:lnTo>
                  <a:lnTo>
                    <a:pt x="8662" y="594068"/>
                  </a:lnTo>
                  <a:lnTo>
                    <a:pt x="0" y="551179"/>
                  </a:lnTo>
                  <a:lnTo>
                    <a:pt x="0" y="110236"/>
                  </a:lnTo>
                  <a:close/>
                </a:path>
              </a:pathLst>
            </a:custGeom>
            <a:noFill/>
            <a:ln w="9525" cap="flat" cmpd="sng">
              <a:solidFill>
                <a:srgbClr val="3B78D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1" name="Google Shape;141;p9"/>
          <p:cNvSpPr txBox="1"/>
          <p:nvPr/>
        </p:nvSpPr>
        <p:spPr>
          <a:xfrm>
            <a:off x="1451610" y="3293744"/>
            <a:ext cx="1384935" cy="451484"/>
          </a:xfrm>
          <a:prstGeom prst="rect">
            <a:avLst/>
          </a:prstGeom>
          <a:noFill/>
          <a:ln>
            <a:noFill/>
          </a:ln>
        </p:spPr>
        <p:txBody>
          <a:bodyPr spcFirstLastPara="1" wrap="square" lIns="0" tIns="11425" rIns="0" bIns="0" anchor="t" anchorCtr="0">
            <a:spAutoFit/>
          </a:bodyPr>
          <a:lstStyle/>
          <a:p>
            <a:pPr marL="268605" marR="5080" lvl="0" indent="-256539"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Target variable is  continuous</a:t>
            </a:r>
            <a:endParaRPr sz="1400" b="0" i="0" u="none" strike="noStrike" cap="none">
              <a:solidFill>
                <a:srgbClr val="000000"/>
              </a:solidFill>
              <a:latin typeface="Arial"/>
              <a:ea typeface="Arial"/>
              <a:cs typeface="Arial"/>
              <a:sym typeface="Arial"/>
            </a:endParaRPr>
          </a:p>
        </p:txBody>
      </p:sp>
      <p:grpSp>
        <p:nvGrpSpPr>
          <p:cNvPr id="142" name="Google Shape;142;p9"/>
          <p:cNvGrpSpPr/>
          <p:nvPr/>
        </p:nvGrpSpPr>
        <p:grpSpPr>
          <a:xfrm>
            <a:off x="5344667" y="2241803"/>
            <a:ext cx="2234565" cy="661670"/>
            <a:chOff x="5344667" y="2241803"/>
            <a:chExt cx="2234565" cy="661670"/>
          </a:xfrm>
        </p:grpSpPr>
        <p:sp>
          <p:nvSpPr>
            <p:cNvPr id="143" name="Google Shape;143;p9"/>
            <p:cNvSpPr/>
            <p:nvPr/>
          </p:nvSpPr>
          <p:spPr>
            <a:xfrm>
              <a:off x="5344667" y="2241803"/>
              <a:ext cx="2234565" cy="661670"/>
            </a:xfrm>
            <a:custGeom>
              <a:avLst/>
              <a:gdLst/>
              <a:ahLst/>
              <a:cxnLst/>
              <a:rect l="l" t="t" r="r" b="b"/>
              <a:pathLst>
                <a:path w="2234565" h="661669" extrusionOk="0">
                  <a:moveTo>
                    <a:pt x="2123948" y="0"/>
                  </a:moveTo>
                  <a:lnTo>
                    <a:pt x="110236" y="0"/>
                  </a:lnTo>
                  <a:lnTo>
                    <a:pt x="67347" y="8669"/>
                  </a:lnTo>
                  <a:lnTo>
                    <a:pt x="32305" y="32305"/>
                  </a:lnTo>
                  <a:lnTo>
                    <a:pt x="8669" y="67347"/>
                  </a:lnTo>
                  <a:lnTo>
                    <a:pt x="0" y="110236"/>
                  </a:lnTo>
                  <a:lnTo>
                    <a:pt x="0" y="551180"/>
                  </a:lnTo>
                  <a:lnTo>
                    <a:pt x="8669" y="594068"/>
                  </a:lnTo>
                  <a:lnTo>
                    <a:pt x="32305" y="629110"/>
                  </a:lnTo>
                  <a:lnTo>
                    <a:pt x="67347" y="652746"/>
                  </a:lnTo>
                  <a:lnTo>
                    <a:pt x="110236" y="661415"/>
                  </a:lnTo>
                  <a:lnTo>
                    <a:pt x="2123948" y="661415"/>
                  </a:lnTo>
                  <a:lnTo>
                    <a:pt x="2166836" y="652746"/>
                  </a:lnTo>
                  <a:lnTo>
                    <a:pt x="2201878" y="629110"/>
                  </a:lnTo>
                  <a:lnTo>
                    <a:pt x="2225514" y="594068"/>
                  </a:lnTo>
                  <a:lnTo>
                    <a:pt x="2234184" y="551180"/>
                  </a:lnTo>
                  <a:lnTo>
                    <a:pt x="2234184" y="110236"/>
                  </a:lnTo>
                  <a:lnTo>
                    <a:pt x="2225514" y="67347"/>
                  </a:lnTo>
                  <a:lnTo>
                    <a:pt x="2201878" y="32305"/>
                  </a:lnTo>
                  <a:lnTo>
                    <a:pt x="2166836" y="8669"/>
                  </a:lnTo>
                  <a:lnTo>
                    <a:pt x="2123948" y="0"/>
                  </a:lnTo>
                  <a:close/>
                </a:path>
              </a:pathLst>
            </a:custGeom>
            <a:solidFill>
              <a:srgbClr val="3B78D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 name="Google Shape;144;p9"/>
            <p:cNvSpPr/>
            <p:nvPr/>
          </p:nvSpPr>
          <p:spPr>
            <a:xfrm>
              <a:off x="5344667" y="2241803"/>
              <a:ext cx="2234565" cy="661670"/>
            </a:xfrm>
            <a:custGeom>
              <a:avLst/>
              <a:gdLst/>
              <a:ahLst/>
              <a:cxnLst/>
              <a:rect l="l" t="t" r="r" b="b"/>
              <a:pathLst>
                <a:path w="2234565" h="661669" extrusionOk="0">
                  <a:moveTo>
                    <a:pt x="0" y="110236"/>
                  </a:moveTo>
                  <a:lnTo>
                    <a:pt x="8669" y="67347"/>
                  </a:lnTo>
                  <a:lnTo>
                    <a:pt x="32305" y="32305"/>
                  </a:lnTo>
                  <a:lnTo>
                    <a:pt x="67347" y="8669"/>
                  </a:lnTo>
                  <a:lnTo>
                    <a:pt x="110236" y="0"/>
                  </a:lnTo>
                  <a:lnTo>
                    <a:pt x="2123948" y="0"/>
                  </a:lnTo>
                  <a:lnTo>
                    <a:pt x="2166836" y="8669"/>
                  </a:lnTo>
                  <a:lnTo>
                    <a:pt x="2201878" y="32305"/>
                  </a:lnTo>
                  <a:lnTo>
                    <a:pt x="2225514" y="67347"/>
                  </a:lnTo>
                  <a:lnTo>
                    <a:pt x="2234184" y="110236"/>
                  </a:lnTo>
                  <a:lnTo>
                    <a:pt x="2234184" y="551180"/>
                  </a:lnTo>
                  <a:lnTo>
                    <a:pt x="2225514" y="594068"/>
                  </a:lnTo>
                  <a:lnTo>
                    <a:pt x="2201878" y="629110"/>
                  </a:lnTo>
                  <a:lnTo>
                    <a:pt x="2166836" y="652746"/>
                  </a:lnTo>
                  <a:lnTo>
                    <a:pt x="2123948" y="661415"/>
                  </a:lnTo>
                  <a:lnTo>
                    <a:pt x="110236" y="661415"/>
                  </a:lnTo>
                  <a:lnTo>
                    <a:pt x="67347" y="652746"/>
                  </a:lnTo>
                  <a:lnTo>
                    <a:pt x="32305" y="629110"/>
                  </a:lnTo>
                  <a:lnTo>
                    <a:pt x="8669" y="594068"/>
                  </a:lnTo>
                  <a:lnTo>
                    <a:pt x="0" y="551180"/>
                  </a:lnTo>
                  <a:lnTo>
                    <a:pt x="0" y="110236"/>
                  </a:lnTo>
                  <a:close/>
                </a:path>
              </a:pathLst>
            </a:custGeom>
            <a:noFill/>
            <a:ln w="9525" cap="flat" cmpd="sng">
              <a:solidFill>
                <a:srgbClr val="3B78D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5" name="Google Shape;145;p9"/>
          <p:cNvSpPr txBox="1"/>
          <p:nvPr/>
        </p:nvSpPr>
        <p:spPr>
          <a:xfrm>
            <a:off x="5930265" y="2450972"/>
            <a:ext cx="1066165" cy="238125"/>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Classification</a:t>
            </a:r>
            <a:endParaRPr sz="1400" b="0" i="0" u="none" strike="noStrike" cap="none">
              <a:solidFill>
                <a:srgbClr val="000000"/>
              </a:solidFill>
              <a:latin typeface="Arial"/>
              <a:ea typeface="Arial"/>
              <a:cs typeface="Arial"/>
              <a:sym typeface="Arial"/>
            </a:endParaRPr>
          </a:p>
        </p:txBody>
      </p:sp>
      <p:grpSp>
        <p:nvGrpSpPr>
          <p:cNvPr id="146" name="Google Shape;146;p9"/>
          <p:cNvGrpSpPr/>
          <p:nvPr/>
        </p:nvGrpSpPr>
        <p:grpSpPr>
          <a:xfrm>
            <a:off x="5344667" y="3153155"/>
            <a:ext cx="2234565" cy="658495"/>
            <a:chOff x="5344667" y="3153155"/>
            <a:chExt cx="2234565" cy="658495"/>
          </a:xfrm>
        </p:grpSpPr>
        <p:sp>
          <p:nvSpPr>
            <p:cNvPr id="147" name="Google Shape;147;p9"/>
            <p:cNvSpPr/>
            <p:nvPr/>
          </p:nvSpPr>
          <p:spPr>
            <a:xfrm>
              <a:off x="5344667" y="3153155"/>
              <a:ext cx="2234565" cy="658495"/>
            </a:xfrm>
            <a:custGeom>
              <a:avLst/>
              <a:gdLst/>
              <a:ahLst/>
              <a:cxnLst/>
              <a:rect l="l" t="t" r="r" b="b"/>
              <a:pathLst>
                <a:path w="2234565" h="658495" extrusionOk="0">
                  <a:moveTo>
                    <a:pt x="2124456" y="0"/>
                  </a:moveTo>
                  <a:lnTo>
                    <a:pt x="109728" y="0"/>
                  </a:lnTo>
                  <a:lnTo>
                    <a:pt x="67026" y="8626"/>
                  </a:lnTo>
                  <a:lnTo>
                    <a:pt x="32146" y="32146"/>
                  </a:lnTo>
                  <a:lnTo>
                    <a:pt x="8626" y="67026"/>
                  </a:lnTo>
                  <a:lnTo>
                    <a:pt x="0" y="109728"/>
                  </a:lnTo>
                  <a:lnTo>
                    <a:pt x="0" y="548640"/>
                  </a:lnTo>
                  <a:lnTo>
                    <a:pt x="8626" y="591341"/>
                  </a:lnTo>
                  <a:lnTo>
                    <a:pt x="32146" y="626221"/>
                  </a:lnTo>
                  <a:lnTo>
                    <a:pt x="67026" y="649741"/>
                  </a:lnTo>
                  <a:lnTo>
                    <a:pt x="109728" y="658368"/>
                  </a:lnTo>
                  <a:lnTo>
                    <a:pt x="2124456" y="658368"/>
                  </a:lnTo>
                  <a:lnTo>
                    <a:pt x="2167157" y="649741"/>
                  </a:lnTo>
                  <a:lnTo>
                    <a:pt x="2202037" y="626221"/>
                  </a:lnTo>
                  <a:lnTo>
                    <a:pt x="2225557" y="591341"/>
                  </a:lnTo>
                  <a:lnTo>
                    <a:pt x="2234184" y="548640"/>
                  </a:lnTo>
                  <a:lnTo>
                    <a:pt x="2234184" y="109728"/>
                  </a:lnTo>
                  <a:lnTo>
                    <a:pt x="2225557" y="67026"/>
                  </a:lnTo>
                  <a:lnTo>
                    <a:pt x="2202037" y="32146"/>
                  </a:lnTo>
                  <a:lnTo>
                    <a:pt x="2167157" y="8626"/>
                  </a:lnTo>
                  <a:lnTo>
                    <a:pt x="2124456" y="0"/>
                  </a:lnTo>
                  <a:close/>
                </a:path>
              </a:pathLst>
            </a:custGeom>
            <a:solidFill>
              <a:srgbClr val="3B78D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 name="Google Shape;148;p9"/>
            <p:cNvSpPr/>
            <p:nvPr/>
          </p:nvSpPr>
          <p:spPr>
            <a:xfrm>
              <a:off x="5344667" y="3153155"/>
              <a:ext cx="2234565" cy="658495"/>
            </a:xfrm>
            <a:custGeom>
              <a:avLst/>
              <a:gdLst/>
              <a:ahLst/>
              <a:cxnLst/>
              <a:rect l="l" t="t" r="r" b="b"/>
              <a:pathLst>
                <a:path w="2234565" h="658495" extrusionOk="0">
                  <a:moveTo>
                    <a:pt x="0" y="109728"/>
                  </a:moveTo>
                  <a:lnTo>
                    <a:pt x="8626" y="67026"/>
                  </a:lnTo>
                  <a:lnTo>
                    <a:pt x="32146" y="32146"/>
                  </a:lnTo>
                  <a:lnTo>
                    <a:pt x="67026" y="8626"/>
                  </a:lnTo>
                  <a:lnTo>
                    <a:pt x="109728" y="0"/>
                  </a:lnTo>
                  <a:lnTo>
                    <a:pt x="2124456" y="0"/>
                  </a:lnTo>
                  <a:lnTo>
                    <a:pt x="2167157" y="8626"/>
                  </a:lnTo>
                  <a:lnTo>
                    <a:pt x="2202037" y="32146"/>
                  </a:lnTo>
                  <a:lnTo>
                    <a:pt x="2225557" y="67026"/>
                  </a:lnTo>
                  <a:lnTo>
                    <a:pt x="2234184" y="109728"/>
                  </a:lnTo>
                  <a:lnTo>
                    <a:pt x="2234184" y="548640"/>
                  </a:lnTo>
                  <a:lnTo>
                    <a:pt x="2225557" y="591341"/>
                  </a:lnTo>
                  <a:lnTo>
                    <a:pt x="2202037" y="626221"/>
                  </a:lnTo>
                  <a:lnTo>
                    <a:pt x="2167157" y="649741"/>
                  </a:lnTo>
                  <a:lnTo>
                    <a:pt x="2124456" y="658368"/>
                  </a:lnTo>
                  <a:lnTo>
                    <a:pt x="109728" y="658368"/>
                  </a:lnTo>
                  <a:lnTo>
                    <a:pt x="67026" y="649741"/>
                  </a:lnTo>
                  <a:lnTo>
                    <a:pt x="32146" y="626221"/>
                  </a:lnTo>
                  <a:lnTo>
                    <a:pt x="8626" y="591341"/>
                  </a:lnTo>
                  <a:lnTo>
                    <a:pt x="0" y="548640"/>
                  </a:lnTo>
                  <a:lnTo>
                    <a:pt x="0" y="109728"/>
                  </a:lnTo>
                  <a:close/>
                </a:path>
              </a:pathLst>
            </a:custGeom>
            <a:noFill/>
            <a:ln w="9525" cap="flat" cmpd="sng">
              <a:solidFill>
                <a:srgbClr val="3B78D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9" name="Google Shape;149;p9"/>
          <p:cNvSpPr txBox="1"/>
          <p:nvPr/>
        </p:nvSpPr>
        <p:spPr>
          <a:xfrm>
            <a:off x="5768721" y="3261105"/>
            <a:ext cx="1384935" cy="451484"/>
          </a:xfrm>
          <a:prstGeom prst="rect">
            <a:avLst/>
          </a:prstGeom>
          <a:noFill/>
          <a:ln>
            <a:noFill/>
          </a:ln>
        </p:spPr>
        <p:txBody>
          <a:bodyPr spcFirstLastPara="1" wrap="square" lIns="0" tIns="11425"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Target variable is</a:t>
            </a:r>
            <a:endParaRPr sz="1400" b="0" i="0" u="none" strike="noStrike" cap="none">
              <a:solidFill>
                <a:srgbClr val="000000"/>
              </a:solidFill>
              <a:latin typeface="Arial"/>
              <a:ea typeface="Arial"/>
              <a:cs typeface="Arial"/>
              <a:sym typeface="Arial"/>
            </a:endParaRPr>
          </a:p>
          <a:p>
            <a:pPr marL="3175"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Arial"/>
                <a:ea typeface="Arial"/>
                <a:cs typeface="Arial"/>
                <a:sym typeface="Arial"/>
              </a:rPr>
              <a:t>categorical</a:t>
            </a:r>
            <a:endParaRPr sz="1400" b="0" i="0" u="none" strike="noStrike" cap="none">
              <a:solidFill>
                <a:srgbClr val="000000"/>
              </a:solidFill>
              <a:latin typeface="Arial"/>
              <a:ea typeface="Arial"/>
              <a:cs typeface="Arial"/>
              <a:sym typeface="Arial"/>
            </a:endParaRPr>
          </a:p>
        </p:txBody>
      </p:sp>
      <p:sp>
        <p:nvSpPr>
          <p:cNvPr id="150" name="Google Shape;150;p9"/>
          <p:cNvSpPr/>
          <p:nvPr/>
        </p:nvSpPr>
        <p:spPr>
          <a:xfrm>
            <a:off x="152400" y="4126991"/>
            <a:ext cx="3964624" cy="51315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1" name="Google Shape;151;p9"/>
          <p:cNvSpPr/>
          <p:nvPr/>
        </p:nvSpPr>
        <p:spPr>
          <a:xfrm>
            <a:off x="4572000" y="3953382"/>
            <a:ext cx="3928791" cy="88943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 name="Google Shape;152;p9"/>
          <p:cNvSpPr/>
          <p:nvPr/>
        </p:nvSpPr>
        <p:spPr>
          <a:xfrm>
            <a:off x="2109216" y="2903219"/>
            <a:ext cx="4392295" cy="281940"/>
          </a:xfrm>
          <a:custGeom>
            <a:avLst/>
            <a:gdLst/>
            <a:ahLst/>
            <a:cxnLst/>
            <a:rect l="l" t="t" r="r" b="b"/>
            <a:pathLst>
              <a:path w="4392295" h="281939" extrusionOk="0">
                <a:moveTo>
                  <a:pt x="76200" y="205486"/>
                </a:moveTo>
                <a:lnTo>
                  <a:pt x="44450" y="205486"/>
                </a:lnTo>
                <a:lnTo>
                  <a:pt x="44450" y="0"/>
                </a:lnTo>
                <a:lnTo>
                  <a:pt x="31750" y="0"/>
                </a:lnTo>
                <a:lnTo>
                  <a:pt x="31750" y="205486"/>
                </a:lnTo>
                <a:lnTo>
                  <a:pt x="0" y="205486"/>
                </a:lnTo>
                <a:lnTo>
                  <a:pt x="38100" y="281686"/>
                </a:lnTo>
                <a:lnTo>
                  <a:pt x="69850" y="218186"/>
                </a:lnTo>
                <a:lnTo>
                  <a:pt x="76200" y="205486"/>
                </a:lnTo>
                <a:close/>
              </a:path>
              <a:path w="4392295" h="281939" extrusionOk="0">
                <a:moveTo>
                  <a:pt x="4392168" y="205486"/>
                </a:moveTo>
                <a:lnTo>
                  <a:pt x="4360418" y="205486"/>
                </a:lnTo>
                <a:lnTo>
                  <a:pt x="4360418" y="0"/>
                </a:lnTo>
                <a:lnTo>
                  <a:pt x="4347718" y="0"/>
                </a:lnTo>
                <a:lnTo>
                  <a:pt x="4347718" y="205486"/>
                </a:lnTo>
                <a:lnTo>
                  <a:pt x="4315968" y="205486"/>
                </a:lnTo>
                <a:lnTo>
                  <a:pt x="4354068" y="281686"/>
                </a:lnTo>
                <a:lnTo>
                  <a:pt x="4385818" y="218186"/>
                </a:lnTo>
                <a:lnTo>
                  <a:pt x="4392168" y="205486"/>
                </a:lnTo>
                <a:close/>
              </a:path>
            </a:pathLst>
          </a:custGeom>
          <a:solidFill>
            <a:srgbClr val="3B78D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390550" y="2240356"/>
            <a:ext cx="30276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Classification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xfrm>
            <a:off x="500887" y="512191"/>
            <a:ext cx="17658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Class label</a:t>
            </a:r>
            <a:endParaRPr sz="2800"/>
          </a:p>
        </p:txBody>
      </p:sp>
      <p:sp>
        <p:nvSpPr>
          <p:cNvPr id="163" name="Google Shape;163;p11"/>
          <p:cNvSpPr txBox="1"/>
          <p:nvPr/>
        </p:nvSpPr>
        <p:spPr>
          <a:xfrm>
            <a:off x="500887" y="1645106"/>
            <a:ext cx="4027804" cy="200977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For classification, the target variable has</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categories.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 the example, Cold, Warm and Hot are the</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categories of the target variable.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These categories are called the </a:t>
            </a:r>
            <a:r>
              <a:rPr lang="en-US" sz="1600" b="0" i="0" u="none" strike="noStrike" cap="none">
                <a:solidFill>
                  <a:srgbClr val="24AAE1"/>
                </a:solidFill>
                <a:latin typeface="Arial"/>
                <a:ea typeface="Arial"/>
                <a:cs typeface="Arial"/>
                <a:sym typeface="Arial"/>
              </a:rPr>
              <a:t>class labels</a:t>
            </a:r>
            <a:r>
              <a:rPr lang="en-US" sz="1600" b="0" i="0" u="none" strike="noStrike" cap="none">
                <a:solidFill>
                  <a:srgbClr val="000000"/>
                </a:solidFill>
                <a:latin typeface="Arial"/>
                <a:ea typeface="Arial"/>
                <a:cs typeface="Arial"/>
                <a:sym typeface="Arial"/>
              </a:rPr>
              <a:t>.</a:t>
            </a:r>
            <a:endParaRPr sz="1600" b="0" i="0" u="none" strike="noStrike" cap="none">
              <a:solidFill>
                <a:srgbClr val="000000"/>
              </a:solidFill>
              <a:latin typeface="Arial"/>
              <a:ea typeface="Arial"/>
              <a:cs typeface="Arial"/>
              <a:sym typeface="Arial"/>
            </a:endParaRPr>
          </a:p>
        </p:txBody>
      </p:sp>
      <p:sp>
        <p:nvSpPr>
          <p:cNvPr id="164" name="Google Shape;164;p11"/>
          <p:cNvSpPr/>
          <p:nvPr/>
        </p:nvSpPr>
        <p:spPr>
          <a:xfrm>
            <a:off x="5092540" y="1435607"/>
            <a:ext cx="3651536" cy="256910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2"/>
          <p:cNvSpPr txBox="1">
            <a:spLocks noGrp="1"/>
          </p:cNvSpPr>
          <p:nvPr>
            <p:ph type="title"/>
          </p:nvPr>
        </p:nvSpPr>
        <p:spPr>
          <a:xfrm>
            <a:off x="500887" y="512191"/>
            <a:ext cx="2129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Classification</a:t>
            </a:r>
            <a:endParaRPr sz="2800"/>
          </a:p>
        </p:txBody>
      </p:sp>
      <p:sp>
        <p:nvSpPr>
          <p:cNvPr id="170" name="Google Shape;170;p12"/>
          <p:cNvSpPr txBox="1"/>
          <p:nvPr/>
        </p:nvSpPr>
        <p:spPr>
          <a:xfrm>
            <a:off x="628904" y="1645106"/>
            <a:ext cx="7618730" cy="2137410"/>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An instance is mapped to one of many available labels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1630" marR="0" lvl="0" indent="-329565" algn="l" rtl="0">
              <a:lnSpc>
                <a:spcPct val="100000"/>
              </a:lnSpc>
              <a:spcBef>
                <a:spcPts val="144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Labels are the fixed number of values taken by the target variable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1630" marR="5080" lvl="0" indent="-329565" algn="l" rtl="0">
              <a:lnSpc>
                <a:spcPct val="100000"/>
              </a:lnSpc>
              <a:spcBef>
                <a:spcPts val="143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machine learns the pattern from train data where the labels are known for all  instances. Then the learning can be used on new data where labels need to be  predicted</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title"/>
          </p:nvPr>
        </p:nvSpPr>
        <p:spPr>
          <a:xfrm>
            <a:off x="500887" y="512191"/>
            <a:ext cx="3512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Types of classification</a:t>
            </a:r>
            <a:endParaRPr sz="2800"/>
          </a:p>
        </p:txBody>
      </p:sp>
      <p:sp>
        <p:nvSpPr>
          <p:cNvPr id="182" name="Google Shape;182;p14"/>
          <p:cNvSpPr txBox="1"/>
          <p:nvPr/>
        </p:nvSpPr>
        <p:spPr>
          <a:xfrm>
            <a:off x="609025" y="1092619"/>
            <a:ext cx="6577330" cy="2379345"/>
          </a:xfrm>
          <a:prstGeom prst="rect">
            <a:avLst/>
          </a:prstGeom>
          <a:noFill/>
          <a:ln>
            <a:noFill/>
          </a:ln>
        </p:spPr>
        <p:txBody>
          <a:bodyPr spcFirstLastPara="1" wrap="square" lIns="0" tIns="1244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Binary classification:</a:t>
            </a:r>
            <a:endParaRPr sz="1600" b="0" i="0" u="none" strike="noStrike" cap="none" dirty="0">
              <a:solidFill>
                <a:srgbClr val="000000"/>
              </a:solidFill>
              <a:latin typeface="Arial"/>
              <a:ea typeface="Arial"/>
              <a:cs typeface="Arial"/>
              <a:sym typeface="Arial"/>
            </a:endParaRPr>
          </a:p>
          <a:p>
            <a:pPr marL="1713864" marR="0" lvl="0" indent="0" algn="l" rtl="0">
              <a:lnSpc>
                <a:spcPct val="100000"/>
              </a:lnSpc>
              <a:spcBef>
                <a:spcPts val="89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Classification with only </a:t>
            </a:r>
            <a:r>
              <a:rPr lang="en-US" sz="1600" b="0" i="0" u="none" strike="noStrike" cap="none" dirty="0">
                <a:solidFill>
                  <a:srgbClr val="24AAE1"/>
                </a:solidFill>
                <a:latin typeface="Arial"/>
                <a:ea typeface="Arial"/>
                <a:cs typeface="Arial"/>
                <a:sym typeface="Arial"/>
              </a:rPr>
              <a:t>two class labels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5"/>
              </a:spcBef>
              <a:spcAft>
                <a:spcPts val="0"/>
              </a:spcAft>
              <a:buClr>
                <a:srgbClr val="000000"/>
              </a:buClr>
              <a:buSzPts val="1500"/>
              <a:buFont typeface="Arial"/>
              <a:buNone/>
            </a:pPr>
            <a:endParaRPr sz="1500" b="0" i="0" u="none" strike="noStrike" cap="none" dirty="0">
              <a:solidFill>
                <a:srgbClr val="000000"/>
              </a:solidFill>
              <a:latin typeface="Arial"/>
              <a:ea typeface="Arial"/>
              <a:cs typeface="Arial"/>
              <a:sym typeface="Arial"/>
            </a:endParaRPr>
          </a:p>
          <a:p>
            <a:pPr marL="1713864"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Example: Emails can be classified into spam and ham</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45"/>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Multiclass classification:</a:t>
            </a:r>
            <a:endParaRPr sz="1600" b="0" i="0" u="none" strike="noStrike" cap="none" dirty="0">
              <a:solidFill>
                <a:srgbClr val="000000"/>
              </a:solidFill>
              <a:latin typeface="Arial"/>
              <a:ea typeface="Arial"/>
              <a:cs typeface="Arial"/>
              <a:sym typeface="Arial"/>
            </a:endParaRPr>
          </a:p>
          <a:p>
            <a:pPr marL="798830" marR="879475" lvl="0" indent="0" algn="l" rtl="0">
              <a:lnSpc>
                <a:spcPct val="126400"/>
              </a:lnSpc>
              <a:spcBef>
                <a:spcPts val="385"/>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Classification with </a:t>
            </a:r>
            <a:r>
              <a:rPr lang="en-US" sz="1600" b="0" i="0" u="none" strike="noStrike" cap="none" dirty="0">
                <a:solidFill>
                  <a:srgbClr val="24AAE1"/>
                </a:solidFill>
                <a:latin typeface="Arial"/>
                <a:ea typeface="Arial"/>
                <a:cs typeface="Arial"/>
                <a:sym typeface="Arial"/>
              </a:rPr>
              <a:t>more than two distinct class labels  </a:t>
            </a:r>
            <a:r>
              <a:rPr lang="en-US" sz="1600" b="0" i="0" u="none" strike="noStrike" cap="none" dirty="0">
                <a:solidFill>
                  <a:srgbClr val="000000"/>
                </a:solidFill>
                <a:latin typeface="Arial"/>
                <a:ea typeface="Arial"/>
                <a:cs typeface="Arial"/>
                <a:sym typeface="Arial"/>
              </a:rPr>
              <a:t>Example: Classification of land based on types of soils</a:t>
            </a:r>
            <a:endParaRPr sz="1600" b="0" i="0" u="none" strike="noStrike" cap="none" dirty="0">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0CD3BCFA-A36B-4141-AA85-6098E73D9627}"/>
              </a:ext>
            </a:extLst>
          </p:cNvPr>
          <p:cNvSpPr txBox="1"/>
          <p:nvPr/>
        </p:nvSpPr>
        <p:spPr>
          <a:xfrm>
            <a:off x="1914939" y="4159599"/>
            <a:ext cx="4572000" cy="738664"/>
          </a:xfrm>
          <a:prstGeom prst="rect">
            <a:avLst/>
          </a:prstGeom>
          <a:noFill/>
        </p:spPr>
        <p:txBody>
          <a:bodyPr wrap="square">
            <a:spAutoFit/>
          </a:bodyPr>
          <a:lstStyle/>
          <a:p>
            <a:pPr lvl="1"/>
            <a:r>
              <a:rPr lang="en-US" dirty="0"/>
              <a:t>Will a customer default? (Yes/No)</a:t>
            </a:r>
          </a:p>
          <a:p>
            <a:pPr lvl="1"/>
            <a:r>
              <a:rPr lang="en-US" dirty="0"/>
              <a:t>Is a transaction fraudulent?</a:t>
            </a:r>
          </a:p>
          <a:p>
            <a:pPr lvl="1"/>
            <a:r>
              <a:rPr lang="en-US" dirty="0"/>
              <a:t>Will a customer respond to an offer?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a:spLocks noGrp="1"/>
          </p:cNvSpPr>
          <p:nvPr>
            <p:ph type="title"/>
          </p:nvPr>
        </p:nvSpPr>
        <p:spPr>
          <a:xfrm>
            <a:off x="500887" y="512191"/>
            <a:ext cx="1785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CRISP-DM</a:t>
            </a:r>
            <a:endParaRPr sz="2800"/>
          </a:p>
        </p:txBody>
      </p:sp>
      <p:sp>
        <p:nvSpPr>
          <p:cNvPr id="193" name="Google Shape;193;p16"/>
          <p:cNvSpPr txBox="1"/>
          <p:nvPr/>
        </p:nvSpPr>
        <p:spPr>
          <a:xfrm>
            <a:off x="500887" y="2400376"/>
            <a:ext cx="8130540" cy="759460"/>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Cross Industry Standard Process for Data Mining (CRISP-DM) is a standard process used</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for data mining</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p:nvPr/>
        </p:nvSpPr>
        <p:spPr>
          <a:xfrm>
            <a:off x="4400041" y="776477"/>
            <a:ext cx="4584827" cy="423959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 name="Google Shape;199;p17"/>
          <p:cNvSpPr txBox="1"/>
          <p:nvPr/>
        </p:nvSpPr>
        <p:spPr>
          <a:xfrm>
            <a:off x="5263388" y="1452828"/>
            <a:ext cx="1020444" cy="391795"/>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Business</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5"/>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Understanding</a:t>
            </a:r>
            <a:endParaRPr sz="1200" b="0" i="0" u="none" strike="noStrike" cap="none">
              <a:solidFill>
                <a:srgbClr val="000000"/>
              </a:solidFill>
              <a:latin typeface="Arial"/>
              <a:ea typeface="Arial"/>
              <a:cs typeface="Arial"/>
              <a:sym typeface="Arial"/>
            </a:endParaRPr>
          </a:p>
        </p:txBody>
      </p:sp>
      <p:sp>
        <p:nvSpPr>
          <p:cNvPr id="200" name="Google Shape;200;p17"/>
          <p:cNvSpPr txBox="1"/>
          <p:nvPr/>
        </p:nvSpPr>
        <p:spPr>
          <a:xfrm>
            <a:off x="7112254" y="1452828"/>
            <a:ext cx="1020444" cy="391795"/>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Data</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5"/>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Understanding</a:t>
            </a:r>
            <a:endParaRPr sz="1200" b="0" i="0" u="none" strike="noStrike" cap="none">
              <a:solidFill>
                <a:srgbClr val="000000"/>
              </a:solidFill>
              <a:latin typeface="Arial"/>
              <a:ea typeface="Arial"/>
              <a:cs typeface="Arial"/>
              <a:sym typeface="Arial"/>
            </a:endParaRPr>
          </a:p>
        </p:txBody>
      </p:sp>
      <p:sp>
        <p:nvSpPr>
          <p:cNvPr id="201" name="Google Shape;201;p17"/>
          <p:cNvSpPr txBox="1"/>
          <p:nvPr/>
        </p:nvSpPr>
        <p:spPr>
          <a:xfrm>
            <a:off x="7650606" y="2342210"/>
            <a:ext cx="819150" cy="391795"/>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Data</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5"/>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Preparation</a:t>
            </a:r>
            <a:endParaRPr sz="1200" b="0" i="0" u="none" strike="noStrike" cap="none">
              <a:solidFill>
                <a:srgbClr val="000000"/>
              </a:solidFill>
              <a:latin typeface="Arial"/>
              <a:ea typeface="Arial"/>
              <a:cs typeface="Arial"/>
              <a:sym typeface="Arial"/>
            </a:endParaRPr>
          </a:p>
        </p:txBody>
      </p:sp>
      <p:sp>
        <p:nvSpPr>
          <p:cNvPr id="202" name="Google Shape;202;p17"/>
          <p:cNvSpPr txBox="1"/>
          <p:nvPr/>
        </p:nvSpPr>
        <p:spPr>
          <a:xfrm>
            <a:off x="7732903" y="3375405"/>
            <a:ext cx="648970" cy="20827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Modeling</a:t>
            </a:r>
            <a:endParaRPr sz="1200" b="0" i="0" u="none" strike="noStrike" cap="none">
              <a:solidFill>
                <a:srgbClr val="000000"/>
              </a:solidFill>
              <a:latin typeface="Arial"/>
              <a:ea typeface="Arial"/>
              <a:cs typeface="Arial"/>
              <a:sym typeface="Arial"/>
            </a:endParaRPr>
          </a:p>
        </p:txBody>
      </p:sp>
      <p:sp>
        <p:nvSpPr>
          <p:cNvPr id="203" name="Google Shape;203;p17"/>
          <p:cNvSpPr txBox="1"/>
          <p:nvPr/>
        </p:nvSpPr>
        <p:spPr>
          <a:xfrm>
            <a:off x="6321297" y="4296867"/>
            <a:ext cx="743585" cy="2089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Evaluation</a:t>
            </a:r>
            <a:endParaRPr sz="1200" b="0" i="0" u="none" strike="noStrike" cap="none">
              <a:solidFill>
                <a:srgbClr val="000000"/>
              </a:solidFill>
              <a:latin typeface="Arial"/>
              <a:ea typeface="Arial"/>
              <a:cs typeface="Arial"/>
              <a:sym typeface="Arial"/>
            </a:endParaRPr>
          </a:p>
        </p:txBody>
      </p:sp>
      <p:sp>
        <p:nvSpPr>
          <p:cNvPr id="204" name="Google Shape;204;p17"/>
          <p:cNvSpPr txBox="1"/>
          <p:nvPr/>
        </p:nvSpPr>
        <p:spPr>
          <a:xfrm>
            <a:off x="4819015" y="2825622"/>
            <a:ext cx="840740" cy="20827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Deployment</a:t>
            </a:r>
            <a:endParaRPr sz="1200" b="0" i="0" u="none" strike="noStrike" cap="none">
              <a:solidFill>
                <a:srgbClr val="000000"/>
              </a:solidFill>
              <a:latin typeface="Arial"/>
              <a:ea typeface="Arial"/>
              <a:cs typeface="Arial"/>
              <a:sym typeface="Arial"/>
            </a:endParaRPr>
          </a:p>
        </p:txBody>
      </p:sp>
      <p:sp>
        <p:nvSpPr>
          <p:cNvPr id="205" name="Google Shape;205;p17"/>
          <p:cNvSpPr txBox="1"/>
          <p:nvPr/>
        </p:nvSpPr>
        <p:spPr>
          <a:xfrm>
            <a:off x="6474078" y="2928366"/>
            <a:ext cx="348615" cy="20827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Data</a:t>
            </a:r>
            <a:endParaRPr sz="1200" b="0" i="0" u="none" strike="noStrike" cap="none">
              <a:solidFill>
                <a:srgbClr val="000000"/>
              </a:solidFill>
              <a:latin typeface="Arial"/>
              <a:ea typeface="Arial"/>
              <a:cs typeface="Arial"/>
              <a:sym typeface="Arial"/>
            </a:endParaRPr>
          </a:p>
        </p:txBody>
      </p:sp>
      <p:sp>
        <p:nvSpPr>
          <p:cNvPr id="206" name="Google Shape;206;p17"/>
          <p:cNvSpPr txBox="1"/>
          <p:nvPr/>
        </p:nvSpPr>
        <p:spPr>
          <a:xfrm>
            <a:off x="500887" y="1741730"/>
            <a:ext cx="2808605" cy="586105"/>
          </a:xfrm>
          <a:prstGeom prst="rect">
            <a:avLst/>
          </a:prstGeom>
          <a:noFill/>
          <a:ln>
            <a:noFill/>
          </a:ln>
        </p:spPr>
        <p:txBody>
          <a:bodyPr spcFirstLastPara="1" wrap="square" lIns="0" tIns="482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CRISP-DM breaks data mining</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into six phases:</a:t>
            </a:r>
            <a:endParaRPr sz="1600" b="0" i="0" u="none" strike="noStrike" cap="none">
              <a:solidFill>
                <a:srgbClr val="000000"/>
              </a:solidFill>
              <a:latin typeface="Arial"/>
              <a:ea typeface="Arial"/>
              <a:cs typeface="Arial"/>
              <a:sym typeface="Arial"/>
            </a:endParaRPr>
          </a:p>
        </p:txBody>
      </p:sp>
      <p:sp>
        <p:nvSpPr>
          <p:cNvPr id="207" name="Google Shape;207;p17"/>
          <p:cNvSpPr txBox="1"/>
          <p:nvPr/>
        </p:nvSpPr>
        <p:spPr>
          <a:xfrm>
            <a:off x="1098600" y="2506853"/>
            <a:ext cx="2258060" cy="1502410"/>
          </a:xfrm>
          <a:prstGeom prst="rect">
            <a:avLst/>
          </a:prstGeom>
          <a:noFill/>
          <a:ln>
            <a:noFill/>
          </a:ln>
        </p:spPr>
        <p:txBody>
          <a:bodyPr spcFirstLastPara="1" wrap="square" lIns="0" tIns="46975" rIns="0" bIns="0" anchor="t" anchorCtr="0">
            <a:spAutoFit/>
          </a:bodyPr>
          <a:lstStyle/>
          <a:p>
            <a:pPr marL="329565" marR="0" lvl="0" indent="-317500" algn="l" rtl="0">
              <a:lnSpc>
                <a:spcPct val="100000"/>
              </a:lnSpc>
              <a:spcBef>
                <a:spcPts val="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Business Understanding</a:t>
            </a:r>
            <a:endParaRPr sz="1400" b="0" i="0" u="none" strike="noStrike" cap="none">
              <a:solidFill>
                <a:srgbClr val="000000"/>
              </a:solidFill>
              <a:latin typeface="Arial"/>
              <a:ea typeface="Arial"/>
              <a:cs typeface="Arial"/>
              <a:sym typeface="Arial"/>
            </a:endParaRPr>
          </a:p>
          <a:p>
            <a:pPr marL="329565" marR="0" lvl="0" indent="-317500" algn="l" rtl="0">
              <a:lnSpc>
                <a:spcPct val="100000"/>
              </a:lnSpc>
              <a:spcBef>
                <a:spcPts val="265"/>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Data Understanding</a:t>
            </a:r>
            <a:endParaRPr sz="1400" b="0" i="0" u="none" strike="noStrike" cap="none">
              <a:solidFill>
                <a:srgbClr val="000000"/>
              </a:solidFill>
              <a:latin typeface="Arial"/>
              <a:ea typeface="Arial"/>
              <a:cs typeface="Arial"/>
              <a:sym typeface="Arial"/>
            </a:endParaRPr>
          </a:p>
          <a:p>
            <a:pPr marL="329565" marR="0" lvl="0" indent="-317500" algn="l" rtl="0">
              <a:lnSpc>
                <a:spcPct val="100000"/>
              </a:lnSpc>
              <a:spcBef>
                <a:spcPts val="24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Data Preparation</a:t>
            </a:r>
            <a:endParaRPr sz="1400" b="0" i="0" u="none" strike="noStrike" cap="none">
              <a:solidFill>
                <a:srgbClr val="000000"/>
              </a:solidFill>
              <a:latin typeface="Arial"/>
              <a:ea typeface="Arial"/>
              <a:cs typeface="Arial"/>
              <a:sym typeface="Arial"/>
            </a:endParaRPr>
          </a:p>
          <a:p>
            <a:pPr marL="329565" marR="0" lvl="0" indent="-317500" algn="l" rtl="0">
              <a:lnSpc>
                <a:spcPct val="100000"/>
              </a:lnSpc>
              <a:spcBef>
                <a:spcPts val="265"/>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Modeling</a:t>
            </a:r>
            <a:endParaRPr sz="1400" b="0" i="0" u="none" strike="noStrike" cap="none">
              <a:solidFill>
                <a:srgbClr val="000000"/>
              </a:solidFill>
              <a:latin typeface="Arial"/>
              <a:ea typeface="Arial"/>
              <a:cs typeface="Arial"/>
              <a:sym typeface="Arial"/>
            </a:endParaRPr>
          </a:p>
          <a:p>
            <a:pPr marL="329565" marR="0" lvl="0" indent="-317500" algn="l" rtl="0">
              <a:lnSpc>
                <a:spcPct val="100000"/>
              </a:lnSpc>
              <a:spcBef>
                <a:spcPts val="240"/>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Evaluation</a:t>
            </a:r>
            <a:endParaRPr sz="1400" b="0" i="0" u="none" strike="noStrike" cap="none">
              <a:solidFill>
                <a:srgbClr val="000000"/>
              </a:solidFill>
              <a:latin typeface="Arial"/>
              <a:ea typeface="Arial"/>
              <a:cs typeface="Arial"/>
              <a:sym typeface="Arial"/>
            </a:endParaRPr>
          </a:p>
          <a:p>
            <a:pPr marL="329565" marR="0" lvl="0" indent="-317500" algn="l" rtl="0">
              <a:lnSpc>
                <a:spcPct val="100000"/>
              </a:lnSpc>
              <a:spcBef>
                <a:spcPts val="265"/>
              </a:spcBef>
              <a:spcAft>
                <a:spcPts val="0"/>
              </a:spcAft>
              <a:buClr>
                <a:srgbClr val="000000"/>
              </a:buClr>
              <a:buSzPts val="1400"/>
              <a:buFont typeface="Arial"/>
              <a:buChar char="○"/>
            </a:pPr>
            <a:r>
              <a:rPr lang="en-US" sz="1400" b="0" i="0" u="none" strike="noStrike" cap="none">
                <a:solidFill>
                  <a:srgbClr val="000000"/>
                </a:solidFill>
                <a:latin typeface="Arial"/>
                <a:ea typeface="Arial"/>
                <a:cs typeface="Arial"/>
                <a:sym typeface="Arial"/>
              </a:rPr>
              <a:t>Deployment</a:t>
            </a:r>
            <a:endParaRPr sz="1400" b="0" i="0" u="none" strike="noStrike" cap="none">
              <a:solidFill>
                <a:srgbClr val="000000"/>
              </a:solidFill>
              <a:latin typeface="Arial"/>
              <a:ea typeface="Arial"/>
              <a:cs typeface="Arial"/>
              <a:sym typeface="Arial"/>
            </a:endParaRPr>
          </a:p>
        </p:txBody>
      </p:sp>
      <p:sp>
        <p:nvSpPr>
          <p:cNvPr id="208" name="Google Shape;208;p17"/>
          <p:cNvSpPr txBox="1">
            <a:spLocks noGrp="1"/>
          </p:cNvSpPr>
          <p:nvPr>
            <p:ph type="title"/>
          </p:nvPr>
        </p:nvSpPr>
        <p:spPr>
          <a:xfrm>
            <a:off x="500887" y="512191"/>
            <a:ext cx="30348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CRISP-DM phases</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1"/>
          <p:cNvSpPr txBox="1">
            <a:spLocks noGrp="1"/>
          </p:cNvSpPr>
          <p:nvPr>
            <p:ph type="title"/>
          </p:nvPr>
        </p:nvSpPr>
        <p:spPr>
          <a:xfrm>
            <a:off x="500887" y="512191"/>
            <a:ext cx="30519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Odds vs probability</a:t>
            </a:r>
            <a:endParaRPr sz="2800"/>
          </a:p>
        </p:txBody>
      </p:sp>
      <p:sp>
        <p:nvSpPr>
          <p:cNvPr id="346" name="Google Shape;346;p31"/>
          <p:cNvSpPr txBox="1"/>
          <p:nvPr/>
        </p:nvSpPr>
        <p:spPr>
          <a:xfrm>
            <a:off x="4925314" y="2160269"/>
            <a:ext cx="3502660" cy="758825"/>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4AAE1"/>
                </a:solidFill>
                <a:latin typeface="Arial"/>
                <a:ea typeface="Arial"/>
                <a:cs typeface="Arial"/>
                <a:sym typeface="Arial"/>
              </a:rPr>
              <a:t>Probability </a:t>
            </a:r>
            <a:r>
              <a:rPr lang="en-US" sz="1600" b="0" i="0" u="none" strike="noStrike" cap="none">
                <a:solidFill>
                  <a:srgbClr val="000000"/>
                </a:solidFill>
                <a:latin typeface="Arial"/>
                <a:ea typeface="Arial"/>
                <a:cs typeface="Arial"/>
                <a:sym typeface="Arial"/>
              </a:rPr>
              <a:t>of an event is the ratio of  number of observations in favour of an  event to all possible observations</a:t>
            </a:r>
            <a:endParaRPr sz="1600" b="0" i="0" u="none" strike="noStrike" cap="none">
              <a:solidFill>
                <a:srgbClr val="000000"/>
              </a:solidFill>
              <a:latin typeface="Arial"/>
              <a:ea typeface="Arial"/>
              <a:cs typeface="Arial"/>
              <a:sym typeface="Arial"/>
            </a:endParaRPr>
          </a:p>
        </p:txBody>
      </p:sp>
      <p:sp>
        <p:nvSpPr>
          <p:cNvPr id="347" name="Google Shape;347;p31"/>
          <p:cNvSpPr txBox="1"/>
          <p:nvPr/>
        </p:nvSpPr>
        <p:spPr>
          <a:xfrm>
            <a:off x="500887" y="2160269"/>
            <a:ext cx="3694429" cy="1002665"/>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4AAE1"/>
                </a:solidFill>
                <a:latin typeface="Arial"/>
                <a:ea typeface="Arial"/>
                <a:cs typeface="Arial"/>
                <a:sym typeface="Arial"/>
              </a:rPr>
              <a:t>Odds </a:t>
            </a:r>
            <a:r>
              <a:rPr lang="en-US" sz="1600" b="0" i="0" u="none" strike="noStrike" cap="none">
                <a:solidFill>
                  <a:srgbClr val="000000"/>
                </a:solidFill>
                <a:latin typeface="Arial"/>
                <a:ea typeface="Arial"/>
                <a:cs typeface="Arial"/>
                <a:sym typeface="Arial"/>
              </a:rPr>
              <a:t>of an event are the ratio of number  of observations in favour of an event to  number of observations not in favour of  the event</a:t>
            </a:r>
            <a:endParaRPr sz="1600" b="0" i="0" u="none" strike="noStrike" cap="none">
              <a:solidFill>
                <a:srgbClr val="000000"/>
              </a:solidFill>
              <a:latin typeface="Arial"/>
              <a:ea typeface="Arial"/>
              <a:cs typeface="Arial"/>
              <a:sym typeface="Arial"/>
            </a:endParaRPr>
          </a:p>
        </p:txBody>
      </p:sp>
      <p:sp>
        <p:nvSpPr>
          <p:cNvPr id="348" name="Google Shape;348;p31"/>
          <p:cNvSpPr/>
          <p:nvPr/>
        </p:nvSpPr>
        <p:spPr>
          <a:xfrm>
            <a:off x="4573523" y="1498091"/>
            <a:ext cx="0" cy="3202940"/>
          </a:xfrm>
          <a:custGeom>
            <a:avLst/>
            <a:gdLst/>
            <a:ahLst/>
            <a:cxnLst/>
            <a:rect l="l" t="t" r="r" b="b"/>
            <a:pathLst>
              <a:path w="120000" h="3202940" extrusionOk="0">
                <a:moveTo>
                  <a:pt x="0" y="0"/>
                </a:moveTo>
                <a:lnTo>
                  <a:pt x="0" y="3202495"/>
                </a:lnTo>
              </a:path>
            </a:pathLst>
          </a:custGeom>
          <a:noFill/>
          <a:ln w="9525" cap="flat" cmpd="sng">
            <a:solidFill>
              <a:srgbClr val="58585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9" name="Google Shape;349;p31"/>
          <p:cNvSpPr/>
          <p:nvPr/>
        </p:nvSpPr>
        <p:spPr>
          <a:xfrm>
            <a:off x="185928" y="3723301"/>
            <a:ext cx="4091193" cy="39590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0" name="Google Shape;350;p31"/>
          <p:cNvSpPr/>
          <p:nvPr/>
        </p:nvSpPr>
        <p:spPr>
          <a:xfrm>
            <a:off x="4669535" y="3728273"/>
            <a:ext cx="4446498" cy="39155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2"/>
          <p:cNvSpPr txBox="1">
            <a:spLocks noGrp="1"/>
          </p:cNvSpPr>
          <p:nvPr>
            <p:ph type="title"/>
          </p:nvPr>
        </p:nvSpPr>
        <p:spPr>
          <a:xfrm>
            <a:off x="500887" y="512191"/>
            <a:ext cx="30519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Odds vs probability</a:t>
            </a:r>
            <a:endParaRPr sz="2800"/>
          </a:p>
        </p:txBody>
      </p:sp>
      <p:sp>
        <p:nvSpPr>
          <p:cNvPr id="356" name="Google Shape;356;p32"/>
          <p:cNvSpPr txBox="1"/>
          <p:nvPr/>
        </p:nvSpPr>
        <p:spPr>
          <a:xfrm>
            <a:off x="4800346" y="2821050"/>
            <a:ext cx="3621404" cy="514984"/>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For the above data,, the probability of a</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patient having diabetes is given by,</a:t>
            </a:r>
            <a:endParaRPr sz="1600" b="0" i="0" u="none" strike="noStrike" cap="none">
              <a:solidFill>
                <a:srgbClr val="000000"/>
              </a:solidFill>
              <a:latin typeface="Arial"/>
              <a:ea typeface="Arial"/>
              <a:cs typeface="Arial"/>
              <a:sym typeface="Arial"/>
            </a:endParaRPr>
          </a:p>
        </p:txBody>
      </p:sp>
      <p:sp>
        <p:nvSpPr>
          <p:cNvPr id="357" name="Google Shape;357;p32"/>
          <p:cNvSpPr txBox="1"/>
          <p:nvPr/>
        </p:nvSpPr>
        <p:spPr>
          <a:xfrm>
            <a:off x="500887" y="2803905"/>
            <a:ext cx="3689350" cy="514984"/>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For the above data, the odds of a patient</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having diabetes is given by,</a:t>
            </a:r>
            <a:endParaRPr sz="1600" b="0" i="0" u="none" strike="noStrike" cap="none">
              <a:solidFill>
                <a:srgbClr val="000000"/>
              </a:solidFill>
              <a:latin typeface="Arial"/>
              <a:ea typeface="Arial"/>
              <a:cs typeface="Arial"/>
              <a:sym typeface="Arial"/>
            </a:endParaRPr>
          </a:p>
        </p:txBody>
      </p:sp>
      <p:sp>
        <p:nvSpPr>
          <p:cNvPr id="358" name="Google Shape;358;p32"/>
          <p:cNvSpPr/>
          <p:nvPr/>
        </p:nvSpPr>
        <p:spPr>
          <a:xfrm>
            <a:off x="78672" y="3870860"/>
            <a:ext cx="4383427" cy="4260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9" name="Google Shape;359;p32"/>
          <p:cNvSpPr/>
          <p:nvPr/>
        </p:nvSpPr>
        <p:spPr>
          <a:xfrm>
            <a:off x="4651247" y="3892190"/>
            <a:ext cx="4266380" cy="38362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0" name="Google Shape;360;p32"/>
          <p:cNvSpPr/>
          <p:nvPr/>
        </p:nvSpPr>
        <p:spPr>
          <a:xfrm>
            <a:off x="1534441" y="1664636"/>
            <a:ext cx="5977580" cy="932271"/>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1" name="Google Shape;361;p32"/>
          <p:cNvSpPr/>
          <p:nvPr/>
        </p:nvSpPr>
        <p:spPr>
          <a:xfrm>
            <a:off x="4573523" y="2814827"/>
            <a:ext cx="0" cy="1902460"/>
          </a:xfrm>
          <a:custGeom>
            <a:avLst/>
            <a:gdLst/>
            <a:ahLst/>
            <a:cxnLst/>
            <a:rect l="l" t="t" r="r" b="b"/>
            <a:pathLst>
              <a:path w="120000" h="1902460" extrusionOk="0">
                <a:moveTo>
                  <a:pt x="0" y="0"/>
                </a:moveTo>
                <a:lnTo>
                  <a:pt x="0" y="1902002"/>
                </a:lnTo>
              </a:path>
            </a:pathLst>
          </a:custGeom>
          <a:noFill/>
          <a:ln w="9525" cap="flat" cmpd="sng">
            <a:solidFill>
              <a:srgbClr val="58585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txBox="1">
            <a:spLocks noGrp="1"/>
          </p:cNvSpPr>
          <p:nvPr>
            <p:ph type="title"/>
          </p:nvPr>
        </p:nvSpPr>
        <p:spPr>
          <a:xfrm>
            <a:off x="500887" y="512191"/>
            <a:ext cx="1886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 of odds</a:t>
            </a:r>
            <a:endParaRPr sz="2800"/>
          </a:p>
        </p:txBody>
      </p:sp>
      <p:sp>
        <p:nvSpPr>
          <p:cNvPr id="367" name="Google Shape;367;p33"/>
          <p:cNvSpPr txBox="1"/>
          <p:nvPr/>
        </p:nvSpPr>
        <p:spPr>
          <a:xfrm>
            <a:off x="628904" y="3284347"/>
            <a:ext cx="8103870" cy="1374775"/>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As we can see if we only consider odds value, the magnitude for each class value</a:t>
            </a:r>
            <a:endParaRPr sz="1600" b="0" i="0" u="none" strike="noStrike" cap="none" dirty="0">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taken by variable is very different</a:t>
            </a:r>
            <a:endParaRPr sz="16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509"/>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Hence, the log(odds) value is considered; so that no matter whichever the class is, the</a:t>
            </a:r>
            <a:endParaRPr sz="1600" b="0" i="0" u="none" strike="noStrike" cap="none" dirty="0">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magnitude remains same</a:t>
            </a:r>
            <a:endParaRPr sz="16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505"/>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Log of odds is the </a:t>
            </a:r>
            <a:r>
              <a:rPr lang="en-US" sz="1600" b="0" i="0" u="none" strike="noStrike" cap="none" dirty="0">
                <a:solidFill>
                  <a:srgbClr val="24AAE1"/>
                </a:solidFill>
                <a:latin typeface="Arial"/>
                <a:ea typeface="Arial"/>
                <a:cs typeface="Arial"/>
                <a:sym typeface="Arial"/>
              </a:rPr>
              <a:t>logit function </a:t>
            </a:r>
            <a:r>
              <a:rPr lang="en-US" sz="1600" b="0" i="0" u="none" strike="noStrike" cap="none" dirty="0">
                <a:solidFill>
                  <a:srgbClr val="000000"/>
                </a:solidFill>
                <a:latin typeface="Arial"/>
                <a:ea typeface="Arial"/>
                <a:cs typeface="Arial"/>
                <a:sym typeface="Arial"/>
              </a:rPr>
              <a:t>used in logistic regression</a:t>
            </a:r>
            <a:endParaRPr sz="1600" b="0" i="0" u="none" strike="noStrike" cap="none" dirty="0">
              <a:solidFill>
                <a:srgbClr val="000000"/>
              </a:solidFill>
              <a:latin typeface="Arial"/>
              <a:ea typeface="Arial"/>
              <a:cs typeface="Arial"/>
              <a:sym typeface="Arial"/>
            </a:endParaRPr>
          </a:p>
        </p:txBody>
      </p:sp>
      <p:sp>
        <p:nvSpPr>
          <p:cNvPr id="368" name="Google Shape;368;p33"/>
          <p:cNvSpPr/>
          <p:nvPr/>
        </p:nvSpPr>
        <p:spPr>
          <a:xfrm>
            <a:off x="1142200" y="1482177"/>
            <a:ext cx="7202644" cy="126793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9" name="Google Shape;369;p33"/>
          <p:cNvSpPr txBox="1"/>
          <p:nvPr/>
        </p:nvSpPr>
        <p:spPr>
          <a:xfrm>
            <a:off x="1142200" y="2860158"/>
            <a:ext cx="7202644"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Note: ln=natural logarithm with base 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1"/>
          <p:cNvSpPr txBox="1"/>
          <p:nvPr/>
        </p:nvSpPr>
        <p:spPr>
          <a:xfrm>
            <a:off x="500887" y="512191"/>
            <a:ext cx="6066155" cy="4533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Arial"/>
                <a:ea typeface="Arial"/>
                <a:cs typeface="Arial"/>
                <a:sym typeface="Arial"/>
              </a:rPr>
              <a:t>Relation between odds and probability</a:t>
            </a:r>
            <a:endParaRPr sz="2800" b="0" i="0" u="none" strike="noStrike" cap="none">
              <a:solidFill>
                <a:srgbClr val="000000"/>
              </a:solidFill>
              <a:latin typeface="Arial"/>
              <a:ea typeface="Arial"/>
              <a:cs typeface="Arial"/>
              <a:sym typeface="Arial"/>
            </a:endParaRPr>
          </a:p>
        </p:txBody>
      </p:sp>
      <p:sp>
        <p:nvSpPr>
          <p:cNvPr id="375" name="Google Shape;375;p1"/>
          <p:cNvSpPr txBox="1"/>
          <p:nvPr/>
        </p:nvSpPr>
        <p:spPr>
          <a:xfrm>
            <a:off x="500887" y="1682876"/>
            <a:ext cx="2760345" cy="2705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If P(A) is probability of event A</a:t>
            </a:r>
            <a:endParaRPr sz="1600" b="0" i="0" u="none" strike="noStrike" cap="none">
              <a:solidFill>
                <a:srgbClr val="000000"/>
              </a:solidFill>
              <a:latin typeface="Arial"/>
              <a:ea typeface="Arial"/>
              <a:cs typeface="Arial"/>
              <a:sym typeface="Arial"/>
            </a:endParaRPr>
          </a:p>
        </p:txBody>
      </p:sp>
      <p:sp>
        <p:nvSpPr>
          <p:cNvPr id="376" name="Google Shape;376;p1"/>
          <p:cNvSpPr/>
          <p:nvPr/>
        </p:nvSpPr>
        <p:spPr>
          <a:xfrm>
            <a:off x="3395486" y="2205541"/>
            <a:ext cx="1850062" cy="56492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7" name="Google Shape;377;p1"/>
          <p:cNvSpPr/>
          <p:nvPr/>
        </p:nvSpPr>
        <p:spPr>
          <a:xfrm>
            <a:off x="2640036" y="2989783"/>
            <a:ext cx="2767587" cy="50941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8" name="Google Shape;378;p1"/>
          <p:cNvSpPr/>
          <p:nvPr/>
        </p:nvSpPr>
        <p:spPr>
          <a:xfrm>
            <a:off x="2599166" y="3736791"/>
            <a:ext cx="3292320" cy="59829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5"/>
          <p:cNvSpPr txBox="1">
            <a:spLocks noGrp="1"/>
          </p:cNvSpPr>
          <p:nvPr>
            <p:ph type="title"/>
          </p:nvPr>
        </p:nvSpPr>
        <p:spPr>
          <a:xfrm>
            <a:off x="500887" y="512191"/>
            <a:ext cx="1668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Odds ratio</a:t>
            </a:r>
            <a:endParaRPr sz="2800"/>
          </a:p>
        </p:txBody>
      </p:sp>
      <p:sp>
        <p:nvSpPr>
          <p:cNvPr id="384" name="Google Shape;384;p35"/>
          <p:cNvSpPr txBox="1"/>
          <p:nvPr/>
        </p:nvSpPr>
        <p:spPr>
          <a:xfrm>
            <a:off x="581050" y="1707260"/>
            <a:ext cx="7352665" cy="1246505"/>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Odds ratio refers to the ratio of odds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Odds ratio can be used to determine the impact of a feature on target variable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For our considered example the odds ratio can be calculated as,</a:t>
            </a:r>
            <a:endParaRPr sz="1600" b="0" i="0" u="none" strike="noStrike" cap="none">
              <a:solidFill>
                <a:srgbClr val="000000"/>
              </a:solidFill>
              <a:latin typeface="Arial"/>
              <a:ea typeface="Arial"/>
              <a:cs typeface="Arial"/>
              <a:sym typeface="Arial"/>
            </a:endParaRPr>
          </a:p>
        </p:txBody>
      </p:sp>
      <p:sp>
        <p:nvSpPr>
          <p:cNvPr id="385" name="Google Shape;385;p35"/>
          <p:cNvSpPr/>
          <p:nvPr/>
        </p:nvSpPr>
        <p:spPr>
          <a:xfrm>
            <a:off x="694944" y="3226774"/>
            <a:ext cx="7715341" cy="100658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37"/>
          <p:cNvSpPr/>
          <p:nvPr/>
        </p:nvSpPr>
        <p:spPr>
          <a:xfrm>
            <a:off x="592873" y="286707"/>
            <a:ext cx="1226729" cy="72979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1" name="Google Shape;391;p137"/>
          <p:cNvSpPr txBox="1"/>
          <p:nvPr/>
        </p:nvSpPr>
        <p:spPr>
          <a:xfrm>
            <a:off x="500887" y="1685481"/>
            <a:ext cx="7860665" cy="1489075"/>
          </a:xfrm>
          <a:prstGeom prst="rect">
            <a:avLst/>
          </a:prstGeom>
          <a:noFill/>
          <a:ln>
            <a:noFill/>
          </a:ln>
        </p:spPr>
        <p:txBody>
          <a:bodyPr spcFirstLastPara="1" wrap="square" lIns="0" tIns="13397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Question:</a:t>
            </a:r>
            <a:endParaRPr sz="1600" b="0" i="0" u="none" strike="noStrike" cap="none">
              <a:solidFill>
                <a:srgbClr val="000000"/>
              </a:solidFill>
              <a:latin typeface="Arial"/>
              <a:ea typeface="Arial"/>
              <a:cs typeface="Arial"/>
              <a:sym typeface="Arial"/>
            </a:endParaRPr>
          </a:p>
          <a:p>
            <a:pPr marL="12700" marR="5080" lvl="0" indent="0" algn="just" rtl="0">
              <a:lnSpc>
                <a:spcPct val="180000"/>
              </a:lnSpc>
              <a:spcBef>
                <a:spcPts val="254"/>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Patients with high sugar diet are considered more susceptible to diabetes. How can we  determine whether sugar content in diet has an impact on possibility of a patient getting  diagnosed with diabetes? Consider the following sample data.</a:t>
            </a:r>
            <a:endParaRPr sz="1600" b="0" i="0" u="none" strike="noStrike" cap="none">
              <a:solidFill>
                <a:srgbClr val="000000"/>
              </a:solidFill>
              <a:latin typeface="Arial"/>
              <a:ea typeface="Arial"/>
              <a:cs typeface="Arial"/>
              <a:sym typeface="Arial"/>
            </a:endParaRPr>
          </a:p>
        </p:txBody>
      </p:sp>
      <p:graphicFrame>
        <p:nvGraphicFramePr>
          <p:cNvPr id="392" name="Google Shape;392;p137"/>
          <p:cNvGraphicFramePr/>
          <p:nvPr/>
        </p:nvGraphicFramePr>
        <p:xfrm>
          <a:off x="584791" y="3464370"/>
          <a:ext cx="7960600" cy="1288375"/>
        </p:xfrm>
        <a:graphic>
          <a:graphicData uri="http://schemas.openxmlformats.org/drawingml/2006/table">
            <a:tbl>
              <a:tblPr firstRow="1" bandRow="1">
                <a:noFill/>
                <a:tableStyleId>{054B9F56-7B7F-47FA-B4B8-2D57FE789870}</a:tableStyleId>
              </a:tblPr>
              <a:tblGrid>
                <a:gridCol w="1747750">
                  <a:extLst>
                    <a:ext uri="{9D8B030D-6E8A-4147-A177-3AD203B41FA5}">
                      <a16:colId xmlns:a16="http://schemas.microsoft.com/office/drawing/2014/main" val="20000"/>
                    </a:ext>
                  </a:extLst>
                </a:gridCol>
                <a:gridCol w="636600">
                  <a:extLst>
                    <a:ext uri="{9D8B030D-6E8A-4147-A177-3AD203B41FA5}">
                      <a16:colId xmlns:a16="http://schemas.microsoft.com/office/drawing/2014/main" val="20001"/>
                    </a:ext>
                  </a:extLst>
                </a:gridCol>
                <a:gridCol w="616875">
                  <a:extLst>
                    <a:ext uri="{9D8B030D-6E8A-4147-A177-3AD203B41FA5}">
                      <a16:colId xmlns:a16="http://schemas.microsoft.com/office/drawing/2014/main" val="20002"/>
                    </a:ext>
                  </a:extLst>
                </a:gridCol>
                <a:gridCol w="627075">
                  <a:extLst>
                    <a:ext uri="{9D8B030D-6E8A-4147-A177-3AD203B41FA5}">
                      <a16:colId xmlns:a16="http://schemas.microsoft.com/office/drawing/2014/main" val="20003"/>
                    </a:ext>
                  </a:extLst>
                </a:gridCol>
                <a:gridCol w="616875">
                  <a:extLst>
                    <a:ext uri="{9D8B030D-6E8A-4147-A177-3AD203B41FA5}">
                      <a16:colId xmlns:a16="http://schemas.microsoft.com/office/drawing/2014/main" val="20004"/>
                    </a:ext>
                  </a:extLst>
                </a:gridCol>
                <a:gridCol w="627075">
                  <a:extLst>
                    <a:ext uri="{9D8B030D-6E8A-4147-A177-3AD203B41FA5}">
                      <a16:colId xmlns:a16="http://schemas.microsoft.com/office/drawing/2014/main" val="20005"/>
                    </a:ext>
                  </a:extLst>
                </a:gridCol>
                <a:gridCol w="627075">
                  <a:extLst>
                    <a:ext uri="{9D8B030D-6E8A-4147-A177-3AD203B41FA5}">
                      <a16:colId xmlns:a16="http://schemas.microsoft.com/office/drawing/2014/main" val="20006"/>
                    </a:ext>
                  </a:extLst>
                </a:gridCol>
                <a:gridCol w="627075">
                  <a:extLst>
                    <a:ext uri="{9D8B030D-6E8A-4147-A177-3AD203B41FA5}">
                      <a16:colId xmlns:a16="http://schemas.microsoft.com/office/drawing/2014/main" val="20007"/>
                    </a:ext>
                  </a:extLst>
                </a:gridCol>
                <a:gridCol w="627075">
                  <a:extLst>
                    <a:ext uri="{9D8B030D-6E8A-4147-A177-3AD203B41FA5}">
                      <a16:colId xmlns:a16="http://schemas.microsoft.com/office/drawing/2014/main" val="20008"/>
                    </a:ext>
                  </a:extLst>
                </a:gridCol>
                <a:gridCol w="627075">
                  <a:extLst>
                    <a:ext uri="{9D8B030D-6E8A-4147-A177-3AD203B41FA5}">
                      <a16:colId xmlns:a16="http://schemas.microsoft.com/office/drawing/2014/main" val="20009"/>
                    </a:ext>
                  </a:extLst>
                </a:gridCol>
                <a:gridCol w="580050">
                  <a:extLst>
                    <a:ext uri="{9D8B030D-6E8A-4147-A177-3AD203B41FA5}">
                      <a16:colId xmlns:a16="http://schemas.microsoft.com/office/drawing/2014/main" val="20010"/>
                    </a:ext>
                  </a:extLst>
                </a:gridCol>
              </a:tblGrid>
              <a:tr h="644200">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Sugar content in</a:t>
                      </a:r>
                      <a:endParaRPr sz="1600" u="none" strike="noStrike" cap="none">
                        <a:latin typeface="Arial"/>
                        <a:ea typeface="Arial"/>
                        <a:cs typeface="Arial"/>
                        <a:sym typeface="Arial"/>
                      </a:endParaRPr>
                    </a:p>
                    <a:p>
                      <a:pPr marL="0" marR="0" lvl="0" indent="0" algn="ctr" rtl="0">
                        <a:lnSpc>
                          <a:spcPct val="100000"/>
                        </a:lnSpc>
                        <a:spcBef>
                          <a:spcPts val="5"/>
                        </a:spcBef>
                        <a:spcAft>
                          <a:spcPts val="0"/>
                        </a:spcAft>
                        <a:buClr>
                          <a:srgbClr val="000000"/>
                        </a:buClr>
                        <a:buSzPts val="1600"/>
                        <a:buFont typeface="Arial"/>
                        <a:buNone/>
                      </a:pPr>
                      <a:r>
                        <a:rPr lang="en-US" sz="1600" u="none" strike="noStrike" cap="none">
                          <a:latin typeface="Arial"/>
                          <a:ea typeface="Arial"/>
                          <a:cs typeface="Arial"/>
                          <a:sym typeface="Arial"/>
                        </a:rPr>
                        <a:t>diet</a:t>
                      </a:r>
                      <a:endParaRPr sz="1600" u="none" strike="noStrike" cap="none">
                        <a:latin typeface="Arial"/>
                        <a:ea typeface="Arial"/>
                        <a:cs typeface="Arial"/>
                        <a:sym typeface="Arial"/>
                      </a:endParaRPr>
                    </a:p>
                  </a:txBody>
                  <a:tcPr marL="0" marR="0" marT="882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0795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High</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High</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29539"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Low</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High</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571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Low</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0541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High</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High</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698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Low</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444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High</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1016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Low</a:t>
                      </a:r>
                      <a:endParaRPr sz="1600" u="none" strike="noStrike" cap="none">
                        <a:latin typeface="Arial"/>
                        <a:ea typeface="Arial"/>
                        <a:cs typeface="Arial"/>
                        <a:sym typeface="Arial"/>
                      </a:endParaRPr>
                    </a:p>
                  </a:txBody>
                  <a:tcPr marL="0" marR="0" marT="57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44175">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Is the patient</a:t>
                      </a:r>
                      <a:endParaRPr sz="1600" u="none" strike="noStrike" cap="none">
                        <a:latin typeface="Arial"/>
                        <a:ea typeface="Arial"/>
                        <a:cs typeface="Arial"/>
                        <a:sym typeface="Arial"/>
                      </a:endParaRPr>
                    </a:p>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Diabetic?</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4160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3589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90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3589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17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17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138"/>
          <p:cNvSpPr/>
          <p:nvPr/>
        </p:nvSpPr>
        <p:spPr>
          <a:xfrm>
            <a:off x="592873" y="286708"/>
            <a:ext cx="1226729" cy="72979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8" name="Google Shape;398;p138"/>
          <p:cNvSpPr txBox="1">
            <a:spLocks noGrp="1"/>
          </p:cNvSpPr>
          <p:nvPr>
            <p:ph type="title"/>
          </p:nvPr>
        </p:nvSpPr>
        <p:spPr>
          <a:xfrm>
            <a:off x="500887" y="1226007"/>
            <a:ext cx="1113300" cy="3528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sz="2200"/>
              <a:t>Solution:</a:t>
            </a:r>
            <a:endParaRPr sz="2200"/>
          </a:p>
        </p:txBody>
      </p:sp>
      <p:sp>
        <p:nvSpPr>
          <p:cNvPr id="399" name="Google Shape;399;p138"/>
          <p:cNvSpPr txBox="1"/>
          <p:nvPr/>
        </p:nvSpPr>
        <p:spPr>
          <a:xfrm>
            <a:off x="525399" y="1708387"/>
            <a:ext cx="6103620" cy="628650"/>
          </a:xfrm>
          <a:prstGeom prst="rect">
            <a:avLst/>
          </a:prstGeom>
          <a:noFill/>
          <a:ln>
            <a:noFill/>
          </a:ln>
        </p:spPr>
        <p:txBody>
          <a:bodyPr spcFirstLastPara="1" wrap="square" lIns="0" tIns="698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From the given sample data we can calculate:</a:t>
            </a:r>
            <a:endParaRPr sz="1600" b="0" i="0" u="none" strike="noStrike" cap="none">
              <a:solidFill>
                <a:srgbClr val="000000"/>
              </a:solidFill>
              <a:latin typeface="Arial"/>
              <a:ea typeface="Arial"/>
              <a:cs typeface="Arial"/>
              <a:sym typeface="Arial"/>
            </a:endParaRPr>
          </a:p>
          <a:p>
            <a:pPr marL="140335" marR="0" lvl="0" indent="0" algn="l" rtl="0">
              <a:lnSpc>
                <a:spcPct val="100000"/>
              </a:lnSpc>
              <a:spcBef>
                <a:spcPts val="455"/>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1.	Odds of a patient having diabetes given he has high sugar diet</a:t>
            </a:r>
            <a:endParaRPr sz="1600" b="0" i="0" u="none" strike="noStrike" cap="none">
              <a:solidFill>
                <a:srgbClr val="000000"/>
              </a:solidFill>
              <a:latin typeface="Arial"/>
              <a:ea typeface="Arial"/>
              <a:cs typeface="Arial"/>
              <a:sym typeface="Arial"/>
            </a:endParaRPr>
          </a:p>
        </p:txBody>
      </p:sp>
      <p:sp>
        <p:nvSpPr>
          <p:cNvPr id="400" name="Google Shape;400;p138"/>
          <p:cNvSpPr/>
          <p:nvPr/>
        </p:nvSpPr>
        <p:spPr>
          <a:xfrm>
            <a:off x="1583679" y="2552929"/>
            <a:ext cx="6385072" cy="486009"/>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1" name="Google Shape;401;p138"/>
          <p:cNvSpPr txBox="1"/>
          <p:nvPr/>
        </p:nvSpPr>
        <p:spPr>
          <a:xfrm>
            <a:off x="628904" y="3479113"/>
            <a:ext cx="5896610"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2.	Odds of a patient having diabetes given he has low sugar diet</a:t>
            </a:r>
            <a:endParaRPr sz="1600" b="0" i="0" u="none" strike="noStrike" cap="none">
              <a:solidFill>
                <a:srgbClr val="000000"/>
              </a:solidFill>
              <a:latin typeface="Arial"/>
              <a:ea typeface="Arial"/>
              <a:cs typeface="Arial"/>
              <a:sym typeface="Arial"/>
            </a:endParaRPr>
          </a:p>
        </p:txBody>
      </p:sp>
      <p:sp>
        <p:nvSpPr>
          <p:cNvPr id="402" name="Google Shape;402;p138"/>
          <p:cNvSpPr/>
          <p:nvPr/>
        </p:nvSpPr>
        <p:spPr>
          <a:xfrm>
            <a:off x="1540019" y="4116612"/>
            <a:ext cx="6300581" cy="49542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139"/>
          <p:cNvSpPr/>
          <p:nvPr/>
        </p:nvSpPr>
        <p:spPr>
          <a:xfrm>
            <a:off x="0" y="0"/>
            <a:ext cx="381000" cy="685800"/>
          </a:xfrm>
          <a:custGeom>
            <a:avLst/>
            <a:gdLst/>
            <a:ahLst/>
            <a:cxnLst/>
            <a:rect l="l" t="t" r="r" b="b"/>
            <a:pathLst>
              <a:path w="381000" h="685800" extrusionOk="0">
                <a:moveTo>
                  <a:pt x="381000" y="0"/>
                </a:moveTo>
                <a:lnTo>
                  <a:pt x="0" y="0"/>
                </a:lnTo>
                <a:lnTo>
                  <a:pt x="0" y="685800"/>
                </a:lnTo>
                <a:lnTo>
                  <a:pt x="381000" y="685800"/>
                </a:lnTo>
                <a:lnTo>
                  <a:pt x="381000" y="0"/>
                </a:lnTo>
                <a:close/>
              </a:path>
            </a:pathLst>
          </a:custGeom>
          <a:solidFill>
            <a:srgbClr val="0E75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8" name="Google Shape;408;p139"/>
          <p:cNvSpPr/>
          <p:nvPr/>
        </p:nvSpPr>
        <p:spPr>
          <a:xfrm>
            <a:off x="0" y="685799"/>
            <a:ext cx="381000" cy="685800"/>
          </a:xfrm>
          <a:custGeom>
            <a:avLst/>
            <a:gdLst/>
            <a:ahLst/>
            <a:cxnLst/>
            <a:rect l="l" t="t" r="r" b="b"/>
            <a:pathLst>
              <a:path w="381000" h="685800" extrusionOk="0">
                <a:moveTo>
                  <a:pt x="381000" y="0"/>
                </a:moveTo>
                <a:lnTo>
                  <a:pt x="0" y="0"/>
                </a:lnTo>
                <a:lnTo>
                  <a:pt x="0" y="685800"/>
                </a:lnTo>
                <a:lnTo>
                  <a:pt x="381000" y="685800"/>
                </a:lnTo>
                <a:lnTo>
                  <a:pt x="381000" y="0"/>
                </a:lnTo>
                <a:close/>
              </a:path>
            </a:pathLst>
          </a:custGeom>
          <a:solidFill>
            <a:srgbClr val="24AAE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9" name="Google Shape;409;p139"/>
          <p:cNvSpPr/>
          <p:nvPr/>
        </p:nvSpPr>
        <p:spPr>
          <a:xfrm>
            <a:off x="592873" y="318605"/>
            <a:ext cx="1226729" cy="72979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0" name="Google Shape;410;p139"/>
          <p:cNvSpPr txBox="1"/>
          <p:nvPr/>
        </p:nvSpPr>
        <p:spPr>
          <a:xfrm>
            <a:off x="500887" y="1833498"/>
            <a:ext cx="3798570" cy="2705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From 1 and 2 we can calculate odds ratio:</a:t>
            </a:r>
            <a:endParaRPr sz="1600" b="0" i="0" u="none" strike="noStrike" cap="none">
              <a:solidFill>
                <a:srgbClr val="000000"/>
              </a:solidFill>
              <a:latin typeface="Arial"/>
              <a:ea typeface="Arial"/>
              <a:cs typeface="Arial"/>
              <a:sym typeface="Arial"/>
            </a:endParaRPr>
          </a:p>
        </p:txBody>
      </p:sp>
      <p:sp>
        <p:nvSpPr>
          <p:cNvPr id="411" name="Google Shape;411;p139"/>
          <p:cNvSpPr txBox="1">
            <a:spLocks noGrp="1"/>
          </p:cNvSpPr>
          <p:nvPr>
            <p:ph type="title"/>
          </p:nvPr>
        </p:nvSpPr>
        <p:spPr>
          <a:xfrm>
            <a:off x="500887" y="1226007"/>
            <a:ext cx="2404200" cy="3528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sz="2200"/>
              <a:t>Solution continued:</a:t>
            </a:r>
            <a:endParaRPr sz="2200"/>
          </a:p>
        </p:txBody>
      </p:sp>
      <p:sp>
        <p:nvSpPr>
          <p:cNvPr id="412" name="Google Shape;412;p139"/>
          <p:cNvSpPr txBox="1"/>
          <p:nvPr/>
        </p:nvSpPr>
        <p:spPr>
          <a:xfrm>
            <a:off x="516737" y="3715308"/>
            <a:ext cx="8039734" cy="514984"/>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Thus from the odds ratio we can see that patients with a high sugar diet are 6 times more</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susceptible to diabetes compared to patients who have a low sugar diet.</a:t>
            </a:r>
            <a:endParaRPr sz="1600" b="0" i="0" u="none" strike="noStrike" cap="none">
              <a:solidFill>
                <a:srgbClr val="000000"/>
              </a:solidFill>
              <a:latin typeface="Arial"/>
              <a:ea typeface="Arial"/>
              <a:cs typeface="Arial"/>
              <a:sym typeface="Arial"/>
            </a:endParaRPr>
          </a:p>
        </p:txBody>
      </p:sp>
      <p:sp>
        <p:nvSpPr>
          <p:cNvPr id="413" name="Google Shape;413;p139"/>
          <p:cNvSpPr/>
          <p:nvPr/>
        </p:nvSpPr>
        <p:spPr>
          <a:xfrm>
            <a:off x="292608" y="2506892"/>
            <a:ext cx="8446008" cy="719502"/>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9"/>
          <p:cNvSpPr txBox="1">
            <a:spLocks noGrp="1"/>
          </p:cNvSpPr>
          <p:nvPr>
            <p:ph type="title"/>
          </p:nvPr>
        </p:nvSpPr>
        <p:spPr>
          <a:xfrm>
            <a:off x="390550" y="2240356"/>
            <a:ext cx="65556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Binomial Logistic Regression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140"/>
          <p:cNvSpPr/>
          <p:nvPr/>
        </p:nvSpPr>
        <p:spPr>
          <a:xfrm>
            <a:off x="592873" y="318605"/>
            <a:ext cx="1226729" cy="72979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24" name="Google Shape;424;p140"/>
          <p:cNvSpPr txBox="1"/>
          <p:nvPr/>
        </p:nvSpPr>
        <p:spPr>
          <a:xfrm>
            <a:off x="500887" y="1506296"/>
            <a:ext cx="8159750" cy="1123950"/>
          </a:xfrm>
          <a:prstGeom prst="rect">
            <a:avLst/>
          </a:prstGeom>
          <a:noFill/>
          <a:ln>
            <a:noFill/>
          </a:ln>
        </p:spPr>
        <p:txBody>
          <a:bodyPr spcFirstLastPara="1" wrap="square" lIns="0" tIns="1346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Question:</a:t>
            </a:r>
            <a:endParaRPr sz="1600" b="0" i="0" u="none" strike="noStrike" cap="none">
              <a:solidFill>
                <a:srgbClr val="000000"/>
              </a:solidFill>
              <a:latin typeface="Arial"/>
              <a:ea typeface="Arial"/>
              <a:cs typeface="Arial"/>
              <a:sym typeface="Arial"/>
            </a:endParaRPr>
          </a:p>
          <a:p>
            <a:pPr marL="12700" marR="5080" lvl="0" indent="0" algn="l" rtl="0">
              <a:lnSpc>
                <a:spcPct val="1501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Consider the example below about whether or not a patient has diabetes based on plasma  score. Can we use linear regression line to predict the whether the patient is diabetic?</a:t>
            </a:r>
            <a:endParaRPr sz="1600" b="0" i="0" u="none" strike="noStrike" cap="none">
              <a:solidFill>
                <a:srgbClr val="000000"/>
              </a:solidFill>
              <a:latin typeface="Arial"/>
              <a:ea typeface="Arial"/>
              <a:cs typeface="Arial"/>
              <a:sym typeface="Arial"/>
            </a:endParaRPr>
          </a:p>
        </p:txBody>
      </p:sp>
      <p:graphicFrame>
        <p:nvGraphicFramePr>
          <p:cNvPr id="425" name="Google Shape;425;p140"/>
          <p:cNvGraphicFramePr/>
          <p:nvPr/>
        </p:nvGraphicFramePr>
        <p:xfrm>
          <a:off x="417271" y="3346894"/>
          <a:ext cx="8256325" cy="1260550"/>
        </p:xfrm>
        <a:graphic>
          <a:graphicData uri="http://schemas.openxmlformats.org/drawingml/2006/table">
            <a:tbl>
              <a:tblPr firstRow="1" bandRow="1">
                <a:noFill/>
                <a:tableStyleId>{054B9F56-7B7F-47FA-B4B8-2D57FE789870}</a:tableStyleId>
              </a:tblPr>
              <a:tblGrid>
                <a:gridCol w="1812925">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40075">
                  <a:extLst>
                    <a:ext uri="{9D8B030D-6E8A-4147-A177-3AD203B41FA5}">
                      <a16:colId xmlns:a16="http://schemas.microsoft.com/office/drawing/2014/main" val="20002"/>
                    </a:ext>
                  </a:extLst>
                </a:gridCol>
                <a:gridCol w="650250">
                  <a:extLst>
                    <a:ext uri="{9D8B030D-6E8A-4147-A177-3AD203B41FA5}">
                      <a16:colId xmlns:a16="http://schemas.microsoft.com/office/drawing/2014/main" val="20003"/>
                    </a:ext>
                  </a:extLst>
                </a:gridCol>
                <a:gridCol w="640075">
                  <a:extLst>
                    <a:ext uri="{9D8B030D-6E8A-4147-A177-3AD203B41FA5}">
                      <a16:colId xmlns:a16="http://schemas.microsoft.com/office/drawing/2014/main" val="20004"/>
                    </a:ext>
                  </a:extLst>
                </a:gridCol>
                <a:gridCol w="650250">
                  <a:extLst>
                    <a:ext uri="{9D8B030D-6E8A-4147-A177-3AD203B41FA5}">
                      <a16:colId xmlns:a16="http://schemas.microsoft.com/office/drawing/2014/main" val="20005"/>
                    </a:ext>
                  </a:extLst>
                </a:gridCol>
                <a:gridCol w="650250">
                  <a:extLst>
                    <a:ext uri="{9D8B030D-6E8A-4147-A177-3AD203B41FA5}">
                      <a16:colId xmlns:a16="http://schemas.microsoft.com/office/drawing/2014/main" val="20006"/>
                    </a:ext>
                  </a:extLst>
                </a:gridCol>
                <a:gridCol w="650250">
                  <a:extLst>
                    <a:ext uri="{9D8B030D-6E8A-4147-A177-3AD203B41FA5}">
                      <a16:colId xmlns:a16="http://schemas.microsoft.com/office/drawing/2014/main" val="20007"/>
                    </a:ext>
                  </a:extLst>
                </a:gridCol>
                <a:gridCol w="650250">
                  <a:extLst>
                    <a:ext uri="{9D8B030D-6E8A-4147-A177-3AD203B41FA5}">
                      <a16:colId xmlns:a16="http://schemas.microsoft.com/office/drawing/2014/main" val="20008"/>
                    </a:ext>
                  </a:extLst>
                </a:gridCol>
                <a:gridCol w="650250">
                  <a:extLst>
                    <a:ext uri="{9D8B030D-6E8A-4147-A177-3AD203B41FA5}">
                      <a16:colId xmlns:a16="http://schemas.microsoft.com/office/drawing/2014/main" val="20009"/>
                    </a:ext>
                  </a:extLst>
                </a:gridCol>
                <a:gridCol w="601350">
                  <a:extLst>
                    <a:ext uri="{9D8B030D-6E8A-4147-A177-3AD203B41FA5}">
                      <a16:colId xmlns:a16="http://schemas.microsoft.com/office/drawing/2014/main" val="20010"/>
                    </a:ext>
                  </a:extLst>
                </a:gridCol>
              </a:tblGrid>
              <a:tr h="590025">
                <a:tc>
                  <a:txBody>
                    <a:bodyPr/>
                    <a:lstStyle/>
                    <a:p>
                      <a:pPr marL="28702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Plasma score</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90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0574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90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5684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150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165</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54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115</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180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100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170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130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3398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166</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70525">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Is the patient</a:t>
                      </a:r>
                      <a:endParaRPr sz="16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Diabetic?</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9050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4732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254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2509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141"/>
          <p:cNvSpPr/>
          <p:nvPr/>
        </p:nvSpPr>
        <p:spPr>
          <a:xfrm>
            <a:off x="592873" y="318605"/>
            <a:ext cx="1226729" cy="72979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31" name="Google Shape;431;p141"/>
          <p:cNvSpPr txBox="1"/>
          <p:nvPr/>
        </p:nvSpPr>
        <p:spPr>
          <a:xfrm>
            <a:off x="500887" y="1506296"/>
            <a:ext cx="8100059" cy="1856105"/>
          </a:xfrm>
          <a:prstGeom prst="rect">
            <a:avLst/>
          </a:prstGeom>
          <a:noFill/>
          <a:ln>
            <a:noFill/>
          </a:ln>
        </p:spPr>
        <p:txBody>
          <a:bodyPr spcFirstLastPara="1" wrap="square" lIns="0" tIns="1346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Answer:</a:t>
            </a:r>
            <a:endParaRPr sz="1600" b="0" i="0" u="none" strike="noStrike" cap="none">
              <a:solidFill>
                <a:srgbClr val="000000"/>
              </a:solidFill>
              <a:latin typeface="Arial"/>
              <a:ea typeface="Arial"/>
              <a:cs typeface="Arial"/>
              <a:sym typeface="Arial"/>
            </a:endParaRPr>
          </a:p>
          <a:p>
            <a:pPr marL="12700" marR="5080" lvl="0" indent="0" algn="l" rtl="0">
              <a:lnSpc>
                <a:spcPct val="1501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example about whether or not a patient has diabetes based on plasma score is a  classification problem. Moreover, the target variable is categorical. Hence, we can not use  linear regression line to predict the whether the patient is diabetic. We classify them as  diabetic and non-diabetic.</a:t>
            </a:r>
            <a:endParaRPr sz="1600" b="0" i="0" u="none" strike="noStrike" cap="none">
              <a:solidFill>
                <a:srgbClr val="000000"/>
              </a:solidFill>
              <a:latin typeface="Arial"/>
              <a:ea typeface="Arial"/>
              <a:cs typeface="Arial"/>
              <a:sym typeface="Arial"/>
            </a:endParaRPr>
          </a:p>
        </p:txBody>
      </p:sp>
      <p:graphicFrame>
        <p:nvGraphicFramePr>
          <p:cNvPr id="432" name="Google Shape;432;p141"/>
          <p:cNvGraphicFramePr/>
          <p:nvPr/>
        </p:nvGraphicFramePr>
        <p:xfrm>
          <a:off x="417271" y="3346894"/>
          <a:ext cx="8256325" cy="1260550"/>
        </p:xfrm>
        <a:graphic>
          <a:graphicData uri="http://schemas.openxmlformats.org/drawingml/2006/table">
            <a:tbl>
              <a:tblPr firstRow="1" bandRow="1">
                <a:noFill/>
                <a:tableStyleId>{054B9F56-7B7F-47FA-B4B8-2D57FE789870}</a:tableStyleId>
              </a:tblPr>
              <a:tblGrid>
                <a:gridCol w="1812925">
                  <a:extLst>
                    <a:ext uri="{9D8B030D-6E8A-4147-A177-3AD203B41FA5}">
                      <a16:colId xmlns:a16="http://schemas.microsoft.com/office/drawing/2014/main" val="20000"/>
                    </a:ext>
                  </a:extLst>
                </a:gridCol>
                <a:gridCol w="660400">
                  <a:extLst>
                    <a:ext uri="{9D8B030D-6E8A-4147-A177-3AD203B41FA5}">
                      <a16:colId xmlns:a16="http://schemas.microsoft.com/office/drawing/2014/main" val="20001"/>
                    </a:ext>
                  </a:extLst>
                </a:gridCol>
                <a:gridCol w="640075">
                  <a:extLst>
                    <a:ext uri="{9D8B030D-6E8A-4147-A177-3AD203B41FA5}">
                      <a16:colId xmlns:a16="http://schemas.microsoft.com/office/drawing/2014/main" val="20002"/>
                    </a:ext>
                  </a:extLst>
                </a:gridCol>
                <a:gridCol w="650250">
                  <a:extLst>
                    <a:ext uri="{9D8B030D-6E8A-4147-A177-3AD203B41FA5}">
                      <a16:colId xmlns:a16="http://schemas.microsoft.com/office/drawing/2014/main" val="20003"/>
                    </a:ext>
                  </a:extLst>
                </a:gridCol>
                <a:gridCol w="640075">
                  <a:extLst>
                    <a:ext uri="{9D8B030D-6E8A-4147-A177-3AD203B41FA5}">
                      <a16:colId xmlns:a16="http://schemas.microsoft.com/office/drawing/2014/main" val="20004"/>
                    </a:ext>
                  </a:extLst>
                </a:gridCol>
                <a:gridCol w="650250">
                  <a:extLst>
                    <a:ext uri="{9D8B030D-6E8A-4147-A177-3AD203B41FA5}">
                      <a16:colId xmlns:a16="http://schemas.microsoft.com/office/drawing/2014/main" val="20005"/>
                    </a:ext>
                  </a:extLst>
                </a:gridCol>
                <a:gridCol w="650250">
                  <a:extLst>
                    <a:ext uri="{9D8B030D-6E8A-4147-A177-3AD203B41FA5}">
                      <a16:colId xmlns:a16="http://schemas.microsoft.com/office/drawing/2014/main" val="20006"/>
                    </a:ext>
                  </a:extLst>
                </a:gridCol>
                <a:gridCol w="650250">
                  <a:extLst>
                    <a:ext uri="{9D8B030D-6E8A-4147-A177-3AD203B41FA5}">
                      <a16:colId xmlns:a16="http://schemas.microsoft.com/office/drawing/2014/main" val="20007"/>
                    </a:ext>
                  </a:extLst>
                </a:gridCol>
                <a:gridCol w="650250">
                  <a:extLst>
                    <a:ext uri="{9D8B030D-6E8A-4147-A177-3AD203B41FA5}">
                      <a16:colId xmlns:a16="http://schemas.microsoft.com/office/drawing/2014/main" val="20008"/>
                    </a:ext>
                  </a:extLst>
                </a:gridCol>
                <a:gridCol w="650250">
                  <a:extLst>
                    <a:ext uri="{9D8B030D-6E8A-4147-A177-3AD203B41FA5}">
                      <a16:colId xmlns:a16="http://schemas.microsoft.com/office/drawing/2014/main" val="20009"/>
                    </a:ext>
                  </a:extLst>
                </a:gridCol>
                <a:gridCol w="601350">
                  <a:extLst>
                    <a:ext uri="{9D8B030D-6E8A-4147-A177-3AD203B41FA5}">
                      <a16:colId xmlns:a16="http://schemas.microsoft.com/office/drawing/2014/main" val="20010"/>
                    </a:ext>
                  </a:extLst>
                </a:gridCol>
              </a:tblGrid>
              <a:tr h="590025">
                <a:tc>
                  <a:txBody>
                    <a:bodyPr/>
                    <a:lstStyle/>
                    <a:p>
                      <a:pPr marL="28702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Plasma score</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90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0574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90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5684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150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165</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54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115</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17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180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100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170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130</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3398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166</a:t>
                      </a:r>
                      <a:endParaRPr sz="1600" u="none" strike="noStrike" cap="none">
                        <a:latin typeface="Arial"/>
                        <a:ea typeface="Arial"/>
                        <a:cs typeface="Arial"/>
                        <a:sym typeface="Arial"/>
                      </a:endParaRPr>
                    </a:p>
                  </a:txBody>
                  <a:tcPr marL="0" marR="0" marT="17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70525">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Is the patient</a:t>
                      </a:r>
                      <a:endParaRPr sz="16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Diabetic?</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9050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4732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254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12509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2"/>
          <p:cNvSpPr txBox="1">
            <a:spLocks noGrp="1"/>
          </p:cNvSpPr>
          <p:nvPr>
            <p:ph type="title"/>
          </p:nvPr>
        </p:nvSpPr>
        <p:spPr>
          <a:xfrm>
            <a:off x="500887" y="512191"/>
            <a:ext cx="2999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Logistic regression</a:t>
            </a:r>
            <a:endParaRPr sz="2800"/>
          </a:p>
        </p:txBody>
      </p:sp>
      <p:grpSp>
        <p:nvGrpSpPr>
          <p:cNvPr id="438" name="Google Shape;438;p42"/>
          <p:cNvGrpSpPr/>
          <p:nvPr/>
        </p:nvGrpSpPr>
        <p:grpSpPr>
          <a:xfrm>
            <a:off x="5454432" y="965581"/>
            <a:ext cx="1945005" cy="3840479"/>
            <a:chOff x="5465064" y="1142999"/>
            <a:chExt cx="1945005" cy="3840479"/>
          </a:xfrm>
        </p:grpSpPr>
        <p:sp>
          <p:nvSpPr>
            <p:cNvPr id="439" name="Google Shape;439;p42"/>
            <p:cNvSpPr/>
            <p:nvPr/>
          </p:nvSpPr>
          <p:spPr>
            <a:xfrm>
              <a:off x="5474208" y="1152143"/>
              <a:ext cx="1926336" cy="382219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0" name="Google Shape;440;p42"/>
            <p:cNvSpPr/>
            <p:nvPr/>
          </p:nvSpPr>
          <p:spPr>
            <a:xfrm>
              <a:off x="5465064" y="1142999"/>
              <a:ext cx="1945005" cy="3840479"/>
            </a:xfrm>
            <a:custGeom>
              <a:avLst/>
              <a:gdLst/>
              <a:ahLst/>
              <a:cxnLst/>
              <a:rect l="l" t="t" r="r" b="b"/>
              <a:pathLst>
                <a:path w="1945004" h="3840479" extrusionOk="0">
                  <a:moveTo>
                    <a:pt x="0" y="3840479"/>
                  </a:moveTo>
                  <a:lnTo>
                    <a:pt x="1944624" y="3840479"/>
                  </a:lnTo>
                  <a:lnTo>
                    <a:pt x="1944624" y="0"/>
                  </a:lnTo>
                  <a:lnTo>
                    <a:pt x="0" y="0"/>
                  </a:lnTo>
                  <a:lnTo>
                    <a:pt x="0" y="3840479"/>
                  </a:lnTo>
                  <a:close/>
                </a:path>
              </a:pathLst>
            </a:custGeom>
            <a:noFill/>
            <a:ln w="18275" cap="flat" cmpd="sng">
              <a:solidFill>
                <a:srgbClr val="58585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41" name="Google Shape;441;p42"/>
          <p:cNvSpPr txBox="1"/>
          <p:nvPr/>
        </p:nvSpPr>
        <p:spPr>
          <a:xfrm>
            <a:off x="628904" y="1645106"/>
            <a:ext cx="4305300" cy="2985770"/>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Here on we shall consider the adjacent data</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182880" lvl="0" indent="-329565" algn="just"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data tells us the presence of one fish  depending on the density of other fish in a  lake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4445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If they compete with each other, then the  higher density of one may suggest the  absence of the other whereas if they are  symbiotic, high density of one may promote  the other</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3"/>
          <p:cNvSpPr txBox="1">
            <a:spLocks noGrp="1"/>
          </p:cNvSpPr>
          <p:nvPr>
            <p:ph type="title"/>
          </p:nvPr>
        </p:nvSpPr>
        <p:spPr>
          <a:xfrm>
            <a:off x="500887" y="512191"/>
            <a:ext cx="2999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Logistic regression</a:t>
            </a:r>
            <a:endParaRPr sz="2800"/>
          </a:p>
        </p:txBody>
      </p:sp>
      <p:sp>
        <p:nvSpPr>
          <p:cNvPr id="447" name="Google Shape;447;p43"/>
          <p:cNvSpPr txBox="1"/>
          <p:nvPr/>
        </p:nvSpPr>
        <p:spPr>
          <a:xfrm>
            <a:off x="628904" y="1645106"/>
            <a:ext cx="4399915" cy="514984"/>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Consider the scatter plot of the previous data</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(data on slide 42)</a:t>
            </a:r>
            <a:endParaRPr sz="1600" b="0" i="0" u="none" strike="noStrike" cap="none">
              <a:solidFill>
                <a:srgbClr val="000000"/>
              </a:solidFill>
              <a:latin typeface="Arial"/>
              <a:ea typeface="Arial"/>
              <a:cs typeface="Arial"/>
              <a:sym typeface="Arial"/>
            </a:endParaRPr>
          </a:p>
        </p:txBody>
      </p:sp>
      <p:sp>
        <p:nvSpPr>
          <p:cNvPr id="448" name="Google Shape;448;p43"/>
          <p:cNvSpPr txBox="1"/>
          <p:nvPr/>
        </p:nvSpPr>
        <p:spPr>
          <a:xfrm>
            <a:off x="628904" y="2767406"/>
            <a:ext cx="3063875"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Fit a linear regression line to it</a:t>
            </a:r>
            <a:endParaRPr sz="1600" b="0" i="0" u="none" strike="noStrike" cap="none">
              <a:solidFill>
                <a:srgbClr val="000000"/>
              </a:solidFill>
              <a:latin typeface="Arial"/>
              <a:ea typeface="Arial"/>
              <a:cs typeface="Arial"/>
              <a:sym typeface="Arial"/>
            </a:endParaRPr>
          </a:p>
        </p:txBody>
      </p:sp>
      <p:sp>
        <p:nvSpPr>
          <p:cNvPr id="449" name="Google Shape;449;p43"/>
          <p:cNvSpPr txBox="1"/>
          <p:nvPr/>
        </p:nvSpPr>
        <p:spPr>
          <a:xfrm>
            <a:off x="628904" y="3648913"/>
            <a:ext cx="4523105" cy="514984"/>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Note the line is not a true representative of the</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data</a:t>
            </a:r>
            <a:endParaRPr sz="1600" b="0" i="0" u="none" strike="noStrike" cap="none">
              <a:solidFill>
                <a:srgbClr val="000000"/>
              </a:solidFill>
              <a:latin typeface="Arial"/>
              <a:ea typeface="Arial"/>
              <a:cs typeface="Arial"/>
              <a:sym typeface="Arial"/>
            </a:endParaRPr>
          </a:p>
        </p:txBody>
      </p:sp>
      <p:sp>
        <p:nvSpPr>
          <p:cNvPr id="450" name="Google Shape;450;p43"/>
          <p:cNvSpPr/>
          <p:nvPr/>
        </p:nvSpPr>
        <p:spPr>
          <a:xfrm>
            <a:off x="5652545" y="1490513"/>
            <a:ext cx="2557229" cy="128161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1" name="Google Shape;451;p43"/>
          <p:cNvSpPr/>
          <p:nvPr/>
        </p:nvSpPr>
        <p:spPr>
          <a:xfrm>
            <a:off x="5638821" y="3258406"/>
            <a:ext cx="2543505" cy="127538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4"/>
          <p:cNvSpPr txBox="1">
            <a:spLocks noGrp="1"/>
          </p:cNvSpPr>
          <p:nvPr>
            <p:ph type="title"/>
          </p:nvPr>
        </p:nvSpPr>
        <p:spPr>
          <a:xfrm>
            <a:off x="500887" y="512191"/>
            <a:ext cx="2999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Logistic regression</a:t>
            </a:r>
            <a:endParaRPr sz="2800"/>
          </a:p>
        </p:txBody>
      </p:sp>
      <p:grpSp>
        <p:nvGrpSpPr>
          <p:cNvPr id="457" name="Google Shape;457;p44"/>
          <p:cNvGrpSpPr/>
          <p:nvPr/>
        </p:nvGrpSpPr>
        <p:grpSpPr>
          <a:xfrm>
            <a:off x="5332505" y="3322361"/>
            <a:ext cx="2557229" cy="1281616"/>
            <a:chOff x="5332505" y="3322361"/>
            <a:chExt cx="2557229" cy="1281616"/>
          </a:xfrm>
        </p:grpSpPr>
        <p:sp>
          <p:nvSpPr>
            <p:cNvPr id="458" name="Google Shape;458;p44"/>
            <p:cNvSpPr/>
            <p:nvPr/>
          </p:nvSpPr>
          <p:spPr>
            <a:xfrm>
              <a:off x="5332505" y="3322361"/>
              <a:ext cx="2557229" cy="128161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59" name="Google Shape;459;p44"/>
            <p:cNvSpPr/>
            <p:nvPr/>
          </p:nvSpPr>
          <p:spPr>
            <a:xfrm>
              <a:off x="5554979" y="3421379"/>
              <a:ext cx="2228215" cy="1012190"/>
            </a:xfrm>
            <a:custGeom>
              <a:avLst/>
              <a:gdLst/>
              <a:ahLst/>
              <a:cxnLst/>
              <a:rect l="l" t="t" r="r" b="b"/>
              <a:pathLst>
                <a:path w="2228215" h="1012189" extrusionOk="0">
                  <a:moveTo>
                    <a:pt x="2228088" y="0"/>
                  </a:moveTo>
                  <a:lnTo>
                    <a:pt x="2198273" y="1034"/>
                  </a:lnTo>
                  <a:lnTo>
                    <a:pt x="2160055" y="1975"/>
                  </a:lnTo>
                  <a:lnTo>
                    <a:pt x="2114839" y="2917"/>
                  </a:lnTo>
                  <a:lnTo>
                    <a:pt x="2064027" y="3951"/>
                  </a:lnTo>
                  <a:lnTo>
                    <a:pt x="2009022" y="5170"/>
                  </a:lnTo>
                  <a:lnTo>
                    <a:pt x="1951227" y="6667"/>
                  </a:lnTo>
                  <a:lnTo>
                    <a:pt x="1892047" y="8535"/>
                  </a:lnTo>
                  <a:lnTo>
                    <a:pt x="1832882" y="10865"/>
                  </a:lnTo>
                  <a:lnTo>
                    <a:pt x="1775138" y="13751"/>
                  </a:lnTo>
                  <a:lnTo>
                    <a:pt x="1720217" y="17286"/>
                  </a:lnTo>
                  <a:lnTo>
                    <a:pt x="1669522" y="21561"/>
                  </a:lnTo>
                  <a:lnTo>
                    <a:pt x="1624456" y="26670"/>
                  </a:lnTo>
                  <a:lnTo>
                    <a:pt x="1570491" y="32535"/>
                  </a:lnTo>
                  <a:lnTo>
                    <a:pt x="1519774" y="36398"/>
                  </a:lnTo>
                  <a:lnTo>
                    <a:pt x="1471939" y="39755"/>
                  </a:lnTo>
                  <a:lnTo>
                    <a:pt x="1426622" y="44103"/>
                  </a:lnTo>
                  <a:lnTo>
                    <a:pt x="1383459" y="50939"/>
                  </a:lnTo>
                  <a:lnTo>
                    <a:pt x="1342084" y="61759"/>
                  </a:lnTo>
                  <a:lnTo>
                    <a:pt x="1302132" y="78061"/>
                  </a:lnTo>
                  <a:lnTo>
                    <a:pt x="1263240" y="101341"/>
                  </a:lnTo>
                  <a:lnTo>
                    <a:pt x="1225042" y="133096"/>
                  </a:lnTo>
                  <a:lnTo>
                    <a:pt x="1196990" y="164548"/>
                  </a:lnTo>
                  <a:lnTo>
                    <a:pt x="1169787" y="203190"/>
                  </a:lnTo>
                  <a:lnTo>
                    <a:pt x="1143414" y="247652"/>
                  </a:lnTo>
                  <a:lnTo>
                    <a:pt x="1117858" y="296562"/>
                  </a:lnTo>
                  <a:lnTo>
                    <a:pt x="1093103" y="348551"/>
                  </a:lnTo>
                  <a:lnTo>
                    <a:pt x="1069133" y="402247"/>
                  </a:lnTo>
                  <a:lnTo>
                    <a:pt x="1045933" y="456279"/>
                  </a:lnTo>
                  <a:lnTo>
                    <a:pt x="1023488" y="509277"/>
                  </a:lnTo>
                  <a:lnTo>
                    <a:pt x="1001781" y="559870"/>
                  </a:lnTo>
                  <a:lnTo>
                    <a:pt x="980799" y="606688"/>
                  </a:lnTo>
                  <a:lnTo>
                    <a:pt x="960524" y="648359"/>
                  </a:lnTo>
                  <a:lnTo>
                    <a:pt x="940943" y="683514"/>
                  </a:lnTo>
                  <a:lnTo>
                    <a:pt x="899179" y="748206"/>
                  </a:lnTo>
                  <a:lnTo>
                    <a:pt x="863962" y="795213"/>
                  </a:lnTo>
                  <a:lnTo>
                    <a:pt x="831873" y="830288"/>
                  </a:lnTo>
                  <a:lnTo>
                    <a:pt x="799491" y="859183"/>
                  </a:lnTo>
                  <a:lnTo>
                    <a:pt x="763397" y="887653"/>
                  </a:lnTo>
                  <a:lnTo>
                    <a:pt x="728433" y="915142"/>
                  </a:lnTo>
                  <a:lnTo>
                    <a:pt x="696895" y="937798"/>
                  </a:lnTo>
                  <a:lnTo>
                    <a:pt x="661541" y="956474"/>
                  </a:lnTo>
                  <a:lnTo>
                    <a:pt x="615130" y="972024"/>
                  </a:lnTo>
                  <a:lnTo>
                    <a:pt x="550418" y="985304"/>
                  </a:lnTo>
                  <a:lnTo>
                    <a:pt x="510982" y="990492"/>
                  </a:lnTo>
                  <a:lnTo>
                    <a:pt x="463422" y="994827"/>
                  </a:lnTo>
                  <a:lnTo>
                    <a:pt x="409738" y="998408"/>
                  </a:lnTo>
                  <a:lnTo>
                    <a:pt x="351933" y="1001336"/>
                  </a:lnTo>
                  <a:lnTo>
                    <a:pt x="292006" y="1003710"/>
                  </a:lnTo>
                  <a:lnTo>
                    <a:pt x="231961" y="1005630"/>
                  </a:lnTo>
                  <a:lnTo>
                    <a:pt x="173798" y="1007197"/>
                  </a:lnTo>
                  <a:lnTo>
                    <a:pt x="119519" y="1008511"/>
                  </a:lnTo>
                  <a:lnTo>
                    <a:pt x="71125" y="1009672"/>
                  </a:lnTo>
                  <a:lnTo>
                    <a:pt x="30618" y="1010780"/>
                  </a:lnTo>
                  <a:lnTo>
                    <a:pt x="0" y="1011936"/>
                  </a:lnTo>
                </a:path>
              </a:pathLst>
            </a:custGeom>
            <a:noFill/>
            <a:ln w="952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60" name="Google Shape;460;p44"/>
          <p:cNvSpPr txBox="1"/>
          <p:nvPr/>
        </p:nvSpPr>
        <p:spPr>
          <a:xfrm>
            <a:off x="628904" y="1645106"/>
            <a:ext cx="3947160" cy="514984"/>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A S-shaped curve as in the figure below</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gives the true relationship</a:t>
            </a:r>
            <a:endParaRPr sz="1600" b="0" i="0" u="none" strike="noStrike" cap="none">
              <a:solidFill>
                <a:srgbClr val="000000"/>
              </a:solidFill>
              <a:latin typeface="Arial"/>
              <a:ea typeface="Arial"/>
              <a:cs typeface="Arial"/>
              <a:sym typeface="Arial"/>
            </a:endParaRPr>
          </a:p>
        </p:txBody>
      </p:sp>
      <p:sp>
        <p:nvSpPr>
          <p:cNvPr id="461" name="Google Shape;461;p44"/>
          <p:cNvSpPr txBox="1"/>
          <p:nvPr/>
        </p:nvSpPr>
        <p:spPr>
          <a:xfrm>
            <a:off x="628904" y="3405377"/>
            <a:ext cx="3672204" cy="514984"/>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Such a curve is given by the </a:t>
            </a:r>
            <a:r>
              <a:rPr lang="en-US" sz="1600" b="0" i="0" u="none" strike="noStrike" cap="none">
                <a:solidFill>
                  <a:srgbClr val="24AAE1"/>
                </a:solidFill>
                <a:latin typeface="Arial"/>
                <a:ea typeface="Arial"/>
                <a:cs typeface="Arial"/>
                <a:sym typeface="Arial"/>
              </a:rPr>
              <a:t>sigmoid</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24AAE1"/>
                </a:solidFill>
                <a:latin typeface="Arial"/>
                <a:ea typeface="Arial"/>
                <a:cs typeface="Arial"/>
                <a:sym typeface="Arial"/>
              </a:rPr>
              <a:t>function</a:t>
            </a:r>
            <a:endParaRPr sz="1600" b="0" i="0" u="none" strike="noStrike" cap="none">
              <a:solidFill>
                <a:srgbClr val="000000"/>
              </a:solidFill>
              <a:latin typeface="Arial"/>
              <a:ea typeface="Arial"/>
              <a:cs typeface="Arial"/>
              <a:sym typeface="Arial"/>
            </a:endParaRPr>
          </a:p>
        </p:txBody>
      </p:sp>
      <p:sp>
        <p:nvSpPr>
          <p:cNvPr id="462" name="Google Shape;462;p44"/>
          <p:cNvSpPr/>
          <p:nvPr/>
        </p:nvSpPr>
        <p:spPr>
          <a:xfrm>
            <a:off x="5477277" y="1188814"/>
            <a:ext cx="2543505" cy="127538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5"/>
          <p:cNvSpPr txBox="1">
            <a:spLocks noGrp="1"/>
          </p:cNvSpPr>
          <p:nvPr>
            <p:ph type="title"/>
          </p:nvPr>
        </p:nvSpPr>
        <p:spPr>
          <a:xfrm>
            <a:off x="500887" y="512191"/>
            <a:ext cx="43815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What is a sigmoid function?</a:t>
            </a:r>
            <a:endParaRPr sz="2800"/>
          </a:p>
        </p:txBody>
      </p:sp>
      <p:grpSp>
        <p:nvGrpSpPr>
          <p:cNvPr id="468" name="Google Shape;468;p45"/>
          <p:cNvGrpSpPr/>
          <p:nvPr/>
        </p:nvGrpSpPr>
        <p:grpSpPr>
          <a:xfrm>
            <a:off x="4927122" y="2330238"/>
            <a:ext cx="3366473" cy="2031423"/>
            <a:chOff x="4927122" y="2330238"/>
            <a:chExt cx="3366473" cy="2031423"/>
          </a:xfrm>
        </p:grpSpPr>
        <p:sp>
          <p:nvSpPr>
            <p:cNvPr id="469" name="Google Shape;469;p45"/>
            <p:cNvSpPr/>
            <p:nvPr/>
          </p:nvSpPr>
          <p:spPr>
            <a:xfrm>
              <a:off x="4927122" y="2330238"/>
              <a:ext cx="3366473" cy="203142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70" name="Google Shape;470;p45"/>
            <p:cNvSpPr/>
            <p:nvPr/>
          </p:nvSpPr>
          <p:spPr>
            <a:xfrm>
              <a:off x="5091683" y="2446019"/>
              <a:ext cx="3154680" cy="1694814"/>
            </a:xfrm>
            <a:custGeom>
              <a:avLst/>
              <a:gdLst/>
              <a:ahLst/>
              <a:cxnLst/>
              <a:rect l="l" t="t" r="r" b="b"/>
              <a:pathLst>
                <a:path w="3154679" h="1694814" extrusionOk="0">
                  <a:moveTo>
                    <a:pt x="3154680" y="0"/>
                  </a:moveTo>
                  <a:lnTo>
                    <a:pt x="3091492" y="2406"/>
                  </a:lnTo>
                  <a:lnTo>
                    <a:pt x="3051273" y="3511"/>
                  </a:lnTo>
                  <a:lnTo>
                    <a:pt x="3006237" y="4625"/>
                  </a:lnTo>
                  <a:lnTo>
                    <a:pt x="2957079" y="5801"/>
                  </a:lnTo>
                  <a:lnTo>
                    <a:pt x="2904500" y="7093"/>
                  </a:lnTo>
                  <a:lnTo>
                    <a:pt x="2849197" y="8556"/>
                  </a:lnTo>
                  <a:lnTo>
                    <a:pt x="2791868" y="10245"/>
                  </a:lnTo>
                  <a:lnTo>
                    <a:pt x="2733212" y="12214"/>
                  </a:lnTo>
                  <a:lnTo>
                    <a:pt x="2673927" y="14518"/>
                  </a:lnTo>
                  <a:lnTo>
                    <a:pt x="2614711" y="17210"/>
                  </a:lnTo>
                  <a:lnTo>
                    <a:pt x="2556262" y="20345"/>
                  </a:lnTo>
                  <a:lnTo>
                    <a:pt x="2499279" y="23978"/>
                  </a:lnTo>
                  <a:lnTo>
                    <a:pt x="2444460" y="28163"/>
                  </a:lnTo>
                  <a:lnTo>
                    <a:pt x="2392503" y="32955"/>
                  </a:lnTo>
                  <a:lnTo>
                    <a:pt x="2344107" y="38408"/>
                  </a:lnTo>
                  <a:lnTo>
                    <a:pt x="2299969" y="44577"/>
                  </a:lnTo>
                  <a:lnTo>
                    <a:pt x="2246565" y="51893"/>
                  </a:lnTo>
                  <a:lnTo>
                    <a:pt x="2195438" y="57225"/>
                  </a:lnTo>
                  <a:lnTo>
                    <a:pt x="2146417" y="61404"/>
                  </a:lnTo>
                  <a:lnTo>
                    <a:pt x="2099331" y="65263"/>
                  </a:lnTo>
                  <a:lnTo>
                    <a:pt x="2054010" y="69636"/>
                  </a:lnTo>
                  <a:lnTo>
                    <a:pt x="2010282" y="75354"/>
                  </a:lnTo>
                  <a:lnTo>
                    <a:pt x="1967977" y="83250"/>
                  </a:lnTo>
                  <a:lnTo>
                    <a:pt x="1926923" y="94158"/>
                  </a:lnTo>
                  <a:lnTo>
                    <a:pt x="1886949" y="108910"/>
                  </a:lnTo>
                  <a:lnTo>
                    <a:pt x="1847885" y="128338"/>
                  </a:lnTo>
                  <a:lnTo>
                    <a:pt x="1809559" y="153276"/>
                  </a:lnTo>
                  <a:lnTo>
                    <a:pt x="1771800" y="184556"/>
                  </a:lnTo>
                  <a:lnTo>
                    <a:pt x="1734439" y="223012"/>
                  </a:lnTo>
                  <a:lnTo>
                    <a:pt x="1710464" y="253019"/>
                  </a:lnTo>
                  <a:lnTo>
                    <a:pt x="1686925" y="287695"/>
                  </a:lnTo>
                  <a:lnTo>
                    <a:pt x="1663817" y="326544"/>
                  </a:lnTo>
                  <a:lnTo>
                    <a:pt x="1641134" y="369069"/>
                  </a:lnTo>
                  <a:lnTo>
                    <a:pt x="1618872" y="414774"/>
                  </a:lnTo>
                  <a:lnTo>
                    <a:pt x="1597027" y="463163"/>
                  </a:lnTo>
                  <a:lnTo>
                    <a:pt x="1575593" y="513740"/>
                  </a:lnTo>
                  <a:lnTo>
                    <a:pt x="1554566" y="566009"/>
                  </a:lnTo>
                  <a:lnTo>
                    <a:pt x="1533941" y="619474"/>
                  </a:lnTo>
                  <a:lnTo>
                    <a:pt x="1513713" y="673639"/>
                  </a:lnTo>
                  <a:lnTo>
                    <a:pt x="1493877" y="728008"/>
                  </a:lnTo>
                  <a:lnTo>
                    <a:pt x="1474429" y="782085"/>
                  </a:lnTo>
                  <a:lnTo>
                    <a:pt x="1455364" y="835373"/>
                  </a:lnTo>
                  <a:lnTo>
                    <a:pt x="1436677" y="887377"/>
                  </a:lnTo>
                  <a:lnTo>
                    <a:pt x="1418363" y="937601"/>
                  </a:lnTo>
                  <a:lnTo>
                    <a:pt x="1400418" y="985548"/>
                  </a:lnTo>
                  <a:lnTo>
                    <a:pt x="1382837" y="1030723"/>
                  </a:lnTo>
                  <a:lnTo>
                    <a:pt x="1365615" y="1072629"/>
                  </a:lnTo>
                  <a:lnTo>
                    <a:pt x="1348748" y="1110770"/>
                  </a:lnTo>
                  <a:lnTo>
                    <a:pt x="1293927" y="1216343"/>
                  </a:lnTo>
                  <a:lnTo>
                    <a:pt x="1259955" y="1275062"/>
                  </a:lnTo>
                  <a:lnTo>
                    <a:pt x="1229132" y="1323159"/>
                  </a:lnTo>
                  <a:lnTo>
                    <a:pt x="1200277" y="1362983"/>
                  </a:lnTo>
                  <a:lnTo>
                    <a:pt x="1172207" y="1396884"/>
                  </a:lnTo>
                  <a:lnTo>
                    <a:pt x="1143742" y="1427214"/>
                  </a:lnTo>
                  <a:lnTo>
                    <a:pt x="1113699" y="1456323"/>
                  </a:lnTo>
                  <a:lnTo>
                    <a:pt x="1080896" y="1486560"/>
                  </a:lnTo>
                  <a:lnTo>
                    <a:pt x="1044607" y="1520327"/>
                  </a:lnTo>
                  <a:lnTo>
                    <a:pt x="1012279" y="1549759"/>
                  </a:lnTo>
                  <a:lnTo>
                    <a:pt x="980176" y="1575375"/>
                  </a:lnTo>
                  <a:lnTo>
                    <a:pt x="944560" y="1597696"/>
                  </a:lnTo>
                  <a:lnTo>
                    <a:pt x="901695" y="1617242"/>
                  </a:lnTo>
                  <a:lnTo>
                    <a:pt x="847844" y="1634531"/>
                  </a:lnTo>
                  <a:lnTo>
                    <a:pt x="779271" y="1650085"/>
                  </a:lnTo>
                  <a:lnTo>
                    <a:pt x="739563" y="1656603"/>
                  </a:lnTo>
                  <a:lnTo>
                    <a:pt x="693266" y="1662329"/>
                  </a:lnTo>
                  <a:lnTo>
                    <a:pt x="641498" y="1667328"/>
                  </a:lnTo>
                  <a:lnTo>
                    <a:pt x="585375" y="1671666"/>
                  </a:lnTo>
                  <a:lnTo>
                    <a:pt x="526015" y="1675410"/>
                  </a:lnTo>
                  <a:lnTo>
                    <a:pt x="464533" y="1678625"/>
                  </a:lnTo>
                  <a:lnTo>
                    <a:pt x="402047" y="1681378"/>
                  </a:lnTo>
                  <a:lnTo>
                    <a:pt x="339673" y="1683735"/>
                  </a:lnTo>
                  <a:lnTo>
                    <a:pt x="278528" y="1685761"/>
                  </a:lnTo>
                  <a:lnTo>
                    <a:pt x="219728" y="1687524"/>
                  </a:lnTo>
                  <a:lnTo>
                    <a:pt x="164391" y="1689088"/>
                  </a:lnTo>
                  <a:lnTo>
                    <a:pt x="113633" y="1690521"/>
                  </a:lnTo>
                  <a:lnTo>
                    <a:pt x="68571" y="1691887"/>
                  </a:lnTo>
                  <a:lnTo>
                    <a:pt x="30320" y="1693254"/>
                  </a:lnTo>
                  <a:lnTo>
                    <a:pt x="0" y="1694688"/>
                  </a:lnTo>
                </a:path>
              </a:pathLst>
            </a:custGeom>
            <a:noFill/>
            <a:ln w="952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71" name="Google Shape;471;p45"/>
          <p:cNvSpPr txBox="1"/>
          <p:nvPr/>
        </p:nvSpPr>
        <p:spPr>
          <a:xfrm>
            <a:off x="628904" y="1645106"/>
            <a:ext cx="3909695" cy="752750"/>
          </a:xfrm>
          <a:prstGeom prst="rect">
            <a:avLst/>
          </a:prstGeom>
          <a:noFill/>
          <a:ln>
            <a:noFill/>
          </a:ln>
        </p:spPr>
        <p:txBody>
          <a:bodyPr spcFirstLastPara="1" wrap="square" lIns="0" tIns="13950" rIns="0" bIns="0" anchor="t" anchorCtr="0">
            <a:spAutoFit/>
          </a:bodyPr>
          <a:lstStyle/>
          <a:p>
            <a:pPr marL="341630" marR="5080" lvl="0" indent="-329565" algn="just"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sigmoid function is a mathematical  function which is S-shaped and is given  by</a:t>
            </a:r>
            <a:endParaRPr sz="1600" b="0" i="0" u="none" strike="noStrike" cap="none">
              <a:solidFill>
                <a:srgbClr val="000000"/>
              </a:solidFill>
              <a:latin typeface="Arial"/>
              <a:ea typeface="Arial"/>
              <a:cs typeface="Arial"/>
              <a:sym typeface="Arial"/>
            </a:endParaRPr>
          </a:p>
        </p:txBody>
      </p:sp>
      <p:sp>
        <p:nvSpPr>
          <p:cNvPr id="472" name="Google Shape;472;p45"/>
          <p:cNvSpPr txBox="1"/>
          <p:nvPr/>
        </p:nvSpPr>
        <p:spPr>
          <a:xfrm>
            <a:off x="628904" y="3150501"/>
            <a:ext cx="3962761" cy="260307"/>
          </a:xfrm>
          <a:prstGeom prst="rect">
            <a:avLst/>
          </a:prstGeom>
          <a:noFill/>
          <a:ln>
            <a:noFill/>
          </a:ln>
        </p:spPr>
        <p:txBody>
          <a:bodyPr spcFirstLastPara="1" wrap="square" lIns="0" tIns="13950" rIns="0" bIns="0" anchor="t" anchorCtr="0">
            <a:spAutoFit/>
          </a:bodyPr>
          <a:lstStyle/>
          <a:p>
            <a:pPr marL="297815"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exists between 0 to 1</a:t>
            </a:r>
            <a:endParaRPr sz="1600" b="0" i="0" u="none" strike="noStrike" cap="none">
              <a:solidFill>
                <a:srgbClr val="000000"/>
              </a:solidFill>
              <a:latin typeface="Arial"/>
              <a:ea typeface="Arial"/>
              <a:cs typeface="Arial"/>
              <a:sym typeface="Arial"/>
            </a:endParaRPr>
          </a:p>
        </p:txBody>
      </p:sp>
      <p:pic>
        <p:nvPicPr>
          <p:cNvPr id="473" name="Google Shape;473;p45"/>
          <p:cNvPicPr preferRelativeResize="0"/>
          <p:nvPr/>
        </p:nvPicPr>
        <p:blipFill rotWithShape="1">
          <a:blip r:embed="rId4">
            <a:alphaModFix/>
          </a:blip>
          <a:srcRect/>
          <a:stretch/>
        </p:blipFill>
        <p:spPr>
          <a:xfrm>
            <a:off x="1294509" y="2397856"/>
            <a:ext cx="2922370" cy="67095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46"/>
          <p:cNvSpPr txBox="1">
            <a:spLocks noGrp="1"/>
          </p:cNvSpPr>
          <p:nvPr>
            <p:ph type="title"/>
          </p:nvPr>
        </p:nvSpPr>
        <p:spPr>
          <a:xfrm>
            <a:off x="500887" y="512191"/>
            <a:ext cx="2999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Logistic regression</a:t>
            </a:r>
            <a:endParaRPr sz="2800"/>
          </a:p>
        </p:txBody>
      </p:sp>
      <p:sp>
        <p:nvSpPr>
          <p:cNvPr id="479" name="Google Shape;479;p46"/>
          <p:cNvSpPr txBox="1"/>
          <p:nvPr/>
        </p:nvSpPr>
        <p:spPr>
          <a:xfrm>
            <a:off x="628904" y="1645106"/>
            <a:ext cx="7907655" cy="1765300"/>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Logistic regression is a binary classification algorithm</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predicts the probability of occurrence of a class label. Based on these probabilities</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5"/>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data points are labelled</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A threshold (or cut-off; commonly a threshold of 0.5 is used) is fixed, then</a:t>
            </a:r>
            <a:endParaRPr sz="1600" b="0" i="0" u="none" strike="noStrike" cap="none">
              <a:solidFill>
                <a:srgbClr val="000000"/>
              </a:solidFill>
              <a:latin typeface="Arial"/>
              <a:ea typeface="Arial"/>
              <a:cs typeface="Arial"/>
              <a:sym typeface="Arial"/>
            </a:endParaRPr>
          </a:p>
        </p:txBody>
      </p:sp>
      <p:graphicFrame>
        <p:nvGraphicFramePr>
          <p:cNvPr id="480" name="Google Shape;480;p46"/>
          <p:cNvGraphicFramePr/>
          <p:nvPr/>
        </p:nvGraphicFramePr>
        <p:xfrm>
          <a:off x="2697035" y="3624897"/>
          <a:ext cx="4046875" cy="1188675"/>
        </p:xfrm>
        <a:graphic>
          <a:graphicData uri="http://schemas.openxmlformats.org/drawingml/2006/table">
            <a:tbl>
              <a:tblPr firstRow="1" bandRow="1">
                <a:noFill/>
                <a:tableStyleId>{054B9F56-7B7F-47FA-B4B8-2D57FE789870}</a:tableStyleId>
              </a:tblPr>
              <a:tblGrid>
                <a:gridCol w="2167900">
                  <a:extLst>
                    <a:ext uri="{9D8B030D-6E8A-4147-A177-3AD203B41FA5}">
                      <a16:colId xmlns:a16="http://schemas.microsoft.com/office/drawing/2014/main" val="20000"/>
                    </a:ext>
                  </a:extLst>
                </a:gridCol>
                <a:gridCol w="1878975">
                  <a:extLst>
                    <a:ext uri="{9D8B030D-6E8A-4147-A177-3AD203B41FA5}">
                      <a16:colId xmlns:a16="http://schemas.microsoft.com/office/drawing/2014/main" val="20001"/>
                    </a:ext>
                  </a:extLst>
                </a:gridCol>
              </a:tblGrid>
              <a:tr h="3962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EEEE"/>
                    </a:solidFill>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Classify as</a:t>
                      </a:r>
                      <a:endParaRPr sz="1400" u="none" strike="noStrike" cap="none">
                        <a:latin typeface="Arial"/>
                        <a:ea typeface="Arial"/>
                        <a:cs typeface="Arial"/>
                        <a:sym typeface="Arial"/>
                      </a:endParaRPr>
                    </a:p>
                  </a:txBody>
                  <a:tcPr marL="0" marR="0" marT="895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EEEEE"/>
                    </a:solidFill>
                  </a:tcPr>
                </a:tc>
                <a:extLst>
                  <a:ext uri="{0D108BD9-81ED-4DB2-BD59-A6C34878D82A}">
                    <a16:rowId xmlns:a16="http://schemas.microsoft.com/office/drawing/2014/main" val="10000"/>
                  </a:ext>
                </a:extLst>
              </a:tr>
              <a:tr h="396200">
                <a:tc>
                  <a:txBody>
                    <a:bodyPr/>
                    <a:lstStyle/>
                    <a:p>
                      <a:pPr marL="92075"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threshold &lt; probability</a:t>
                      </a:r>
                      <a:endParaRPr sz="1400" u="none" strike="noStrike" cap="none">
                        <a:latin typeface="Arial"/>
                        <a:ea typeface="Arial"/>
                        <a:cs typeface="Arial"/>
                        <a:sym typeface="Arial"/>
                      </a:endParaRPr>
                    </a:p>
                  </a:txBody>
                  <a:tcPr marL="0" marR="0" marT="895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Presence of fish</a:t>
                      </a:r>
                      <a:endParaRPr sz="1400" u="none" strike="noStrike" cap="none">
                        <a:latin typeface="Arial"/>
                        <a:ea typeface="Arial"/>
                        <a:cs typeface="Arial"/>
                        <a:sym typeface="Arial"/>
                      </a:endParaRPr>
                    </a:p>
                  </a:txBody>
                  <a:tcPr marL="0" marR="0" marT="895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96225">
                <a:tc>
                  <a:txBody>
                    <a:bodyPr/>
                    <a:lstStyle/>
                    <a:p>
                      <a:pPr marL="92075"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Probability &gt; threshold</a:t>
                      </a:r>
                      <a:endParaRPr sz="1400" u="none" strike="noStrike" cap="none">
                        <a:latin typeface="Arial"/>
                        <a:ea typeface="Arial"/>
                        <a:cs typeface="Arial"/>
                        <a:sym typeface="Arial"/>
                      </a:endParaRPr>
                    </a:p>
                  </a:txBody>
                  <a:tcPr marL="0" marR="0" marT="9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Absence of fish</a:t>
                      </a:r>
                      <a:endParaRPr sz="1400" u="none" strike="noStrike" cap="none">
                        <a:latin typeface="Arial"/>
                        <a:ea typeface="Arial"/>
                        <a:cs typeface="Arial"/>
                        <a:sym typeface="Arial"/>
                      </a:endParaRPr>
                    </a:p>
                  </a:txBody>
                  <a:tcPr marL="0" marR="0" marT="901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7"/>
          <p:cNvSpPr txBox="1">
            <a:spLocks noGrp="1"/>
          </p:cNvSpPr>
          <p:nvPr>
            <p:ph type="title"/>
          </p:nvPr>
        </p:nvSpPr>
        <p:spPr>
          <a:xfrm>
            <a:off x="500887" y="512191"/>
            <a:ext cx="50724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Main steps in logistic regression</a:t>
            </a:r>
            <a:endParaRPr sz="2800"/>
          </a:p>
        </p:txBody>
      </p:sp>
      <p:sp>
        <p:nvSpPr>
          <p:cNvPr id="486" name="Google Shape;486;p47"/>
          <p:cNvSpPr txBox="1"/>
          <p:nvPr/>
        </p:nvSpPr>
        <p:spPr>
          <a:xfrm>
            <a:off x="500887" y="1632966"/>
            <a:ext cx="7774940" cy="514350"/>
          </a:xfrm>
          <a:prstGeom prst="rect">
            <a:avLst/>
          </a:prstGeom>
          <a:noFill/>
          <a:ln>
            <a:noFill/>
          </a:ln>
        </p:spPr>
        <p:txBody>
          <a:bodyPr spcFirstLastPara="1" wrap="square" lIns="0" tIns="13325" rIns="0" bIns="0" anchor="t" anchorCtr="0">
            <a:spAutoFit/>
          </a:bodyPr>
          <a:lstStyle/>
          <a:p>
            <a:pPr marL="12700" marR="508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Consider that logistic regression is used to identify whether or not a patient is suffering  from diabetes</a:t>
            </a:r>
            <a:endParaRPr sz="1600" b="0" i="0" u="none" strike="noStrike" cap="none">
              <a:solidFill>
                <a:srgbClr val="000000"/>
              </a:solidFill>
              <a:latin typeface="Arial"/>
              <a:ea typeface="Arial"/>
              <a:cs typeface="Arial"/>
              <a:sym typeface="Arial"/>
            </a:endParaRPr>
          </a:p>
        </p:txBody>
      </p:sp>
      <p:sp>
        <p:nvSpPr>
          <p:cNvPr id="487" name="Google Shape;487;p47"/>
          <p:cNvSpPr/>
          <p:nvPr/>
        </p:nvSpPr>
        <p:spPr>
          <a:xfrm>
            <a:off x="1671827" y="2400300"/>
            <a:ext cx="5410200" cy="1957070"/>
          </a:xfrm>
          <a:custGeom>
            <a:avLst/>
            <a:gdLst/>
            <a:ahLst/>
            <a:cxnLst/>
            <a:rect l="l" t="t" r="r" b="b"/>
            <a:pathLst>
              <a:path w="5410200" h="1957070" extrusionOk="0">
                <a:moveTo>
                  <a:pt x="0" y="1956816"/>
                </a:moveTo>
                <a:lnTo>
                  <a:pt x="5410200" y="1956816"/>
                </a:lnTo>
                <a:lnTo>
                  <a:pt x="5410200" y="0"/>
                </a:lnTo>
                <a:lnTo>
                  <a:pt x="0" y="0"/>
                </a:lnTo>
                <a:lnTo>
                  <a:pt x="0" y="1956816"/>
                </a:lnTo>
                <a:close/>
              </a:path>
            </a:pathLst>
          </a:custGeom>
          <a:noFill/>
          <a:ln w="39600"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8" name="Google Shape;488;p47"/>
          <p:cNvSpPr txBox="1"/>
          <p:nvPr/>
        </p:nvSpPr>
        <p:spPr>
          <a:xfrm>
            <a:off x="3308096" y="2473528"/>
            <a:ext cx="213550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666666"/>
                </a:solidFill>
                <a:latin typeface="Arial"/>
                <a:ea typeface="Arial"/>
                <a:cs typeface="Arial"/>
                <a:sym typeface="Arial"/>
              </a:rPr>
              <a:t>Logistic regression</a:t>
            </a:r>
            <a:endParaRPr sz="1800" b="0" i="0" u="none" strike="noStrike" cap="none">
              <a:solidFill>
                <a:srgbClr val="000000"/>
              </a:solidFill>
              <a:latin typeface="Arial"/>
              <a:ea typeface="Arial"/>
              <a:cs typeface="Arial"/>
              <a:sym typeface="Arial"/>
            </a:endParaRPr>
          </a:p>
        </p:txBody>
      </p:sp>
      <p:sp>
        <p:nvSpPr>
          <p:cNvPr id="489" name="Google Shape;489;p47"/>
          <p:cNvSpPr txBox="1"/>
          <p:nvPr/>
        </p:nvSpPr>
        <p:spPr>
          <a:xfrm>
            <a:off x="7642859" y="3765803"/>
            <a:ext cx="1301750" cy="591820"/>
          </a:xfrm>
          <a:prstGeom prst="rect">
            <a:avLst/>
          </a:prstGeom>
          <a:solidFill>
            <a:srgbClr val="EDEBE0"/>
          </a:solidFill>
          <a:ln w="9525" cap="flat" cmpd="sng">
            <a:solidFill>
              <a:srgbClr val="000000"/>
            </a:solidFill>
            <a:prstDash val="solid"/>
            <a:round/>
            <a:headEnd type="none" w="sm" len="sm"/>
            <a:tailEnd type="none" w="sm" len="sm"/>
          </a:ln>
        </p:spPr>
        <p:txBody>
          <a:bodyPr spcFirstLastPara="1" wrap="square" lIns="0" tIns="2525" rIns="0" bIns="0" anchor="t" anchorCtr="0">
            <a:spAutoFit/>
          </a:bodyPr>
          <a:lstStyle/>
          <a:p>
            <a:pPr marL="0" marR="0" lvl="0" indent="0" algn="l" rtl="0">
              <a:lnSpc>
                <a:spcPct val="100000"/>
              </a:lnSpc>
              <a:spcBef>
                <a:spcPts val="0"/>
              </a:spcBef>
              <a:spcAft>
                <a:spcPts val="0"/>
              </a:spcAft>
              <a:buClr>
                <a:srgbClr val="000000"/>
              </a:buClr>
              <a:buSzPts val="1250"/>
              <a:buFont typeface="Arial"/>
              <a:buNone/>
            </a:pPr>
            <a:endParaRPr sz="1250" b="0" i="0" u="none" strike="noStrike" cap="none">
              <a:solidFill>
                <a:srgbClr val="000000"/>
              </a:solidFill>
              <a:latin typeface="Times New Roman"/>
              <a:ea typeface="Times New Roman"/>
              <a:cs typeface="Times New Roman"/>
              <a:sym typeface="Times New Roman"/>
            </a:endParaRPr>
          </a:p>
          <a:p>
            <a:pPr marL="10795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Fish is absent</a:t>
            </a:r>
            <a:endParaRPr sz="1400" b="0" i="0" u="none" strike="noStrike" cap="none">
              <a:solidFill>
                <a:srgbClr val="000000"/>
              </a:solidFill>
              <a:latin typeface="Arial"/>
              <a:ea typeface="Arial"/>
              <a:cs typeface="Arial"/>
              <a:sym typeface="Arial"/>
            </a:endParaRPr>
          </a:p>
        </p:txBody>
      </p:sp>
      <p:grpSp>
        <p:nvGrpSpPr>
          <p:cNvPr id="490" name="Google Shape;490;p47"/>
          <p:cNvGrpSpPr/>
          <p:nvPr/>
        </p:nvGrpSpPr>
        <p:grpSpPr>
          <a:xfrm>
            <a:off x="4183379" y="2903219"/>
            <a:ext cx="2844165" cy="862965"/>
            <a:chOff x="4183379" y="2903219"/>
            <a:chExt cx="2844165" cy="862965"/>
          </a:xfrm>
        </p:grpSpPr>
        <p:sp>
          <p:nvSpPr>
            <p:cNvPr id="491" name="Google Shape;491;p47"/>
            <p:cNvSpPr/>
            <p:nvPr/>
          </p:nvSpPr>
          <p:spPr>
            <a:xfrm>
              <a:off x="4183379" y="2903219"/>
              <a:ext cx="2844165" cy="862965"/>
            </a:xfrm>
            <a:custGeom>
              <a:avLst/>
              <a:gdLst/>
              <a:ahLst/>
              <a:cxnLst/>
              <a:rect l="l" t="t" r="r" b="b"/>
              <a:pathLst>
                <a:path w="2844165" h="862964" extrusionOk="0">
                  <a:moveTo>
                    <a:pt x="1421892" y="0"/>
                  </a:moveTo>
                  <a:lnTo>
                    <a:pt x="0" y="431292"/>
                  </a:lnTo>
                  <a:lnTo>
                    <a:pt x="1421892" y="862584"/>
                  </a:lnTo>
                  <a:lnTo>
                    <a:pt x="2843784" y="431292"/>
                  </a:lnTo>
                  <a:lnTo>
                    <a:pt x="1421892" y="0"/>
                  </a:lnTo>
                  <a:close/>
                </a:path>
              </a:pathLst>
            </a:custGeom>
            <a:solidFill>
              <a:srgbClr val="EDEBE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2" name="Google Shape;492;p47"/>
            <p:cNvSpPr/>
            <p:nvPr/>
          </p:nvSpPr>
          <p:spPr>
            <a:xfrm>
              <a:off x="4183379" y="2903219"/>
              <a:ext cx="2844165" cy="862965"/>
            </a:xfrm>
            <a:custGeom>
              <a:avLst/>
              <a:gdLst/>
              <a:ahLst/>
              <a:cxnLst/>
              <a:rect l="l" t="t" r="r" b="b"/>
              <a:pathLst>
                <a:path w="2844165" h="862964" extrusionOk="0">
                  <a:moveTo>
                    <a:pt x="0" y="431292"/>
                  </a:moveTo>
                  <a:lnTo>
                    <a:pt x="1421892" y="0"/>
                  </a:lnTo>
                  <a:lnTo>
                    <a:pt x="2843784" y="431292"/>
                  </a:lnTo>
                  <a:lnTo>
                    <a:pt x="1421892" y="862584"/>
                  </a:lnTo>
                  <a:lnTo>
                    <a:pt x="0" y="4312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93" name="Google Shape;493;p47"/>
          <p:cNvSpPr txBox="1"/>
          <p:nvPr/>
        </p:nvSpPr>
        <p:spPr>
          <a:xfrm>
            <a:off x="4857241" y="3120008"/>
            <a:ext cx="1470025" cy="421640"/>
          </a:xfrm>
          <a:prstGeom prst="rect">
            <a:avLst/>
          </a:prstGeom>
          <a:noFill/>
          <a:ln>
            <a:noFill/>
          </a:ln>
        </p:spPr>
        <p:txBody>
          <a:bodyPr spcFirstLastPara="1" wrap="square" lIns="0" tIns="12050" rIns="0" bIns="0" anchor="t" anchorCtr="0">
            <a:spAutoFit/>
          </a:bodyPr>
          <a:lstStyle/>
          <a:p>
            <a:pPr marL="38100" marR="30480" lvl="0" indent="457200" algn="l" rtl="0">
              <a:lnSpc>
                <a:spcPct val="100000"/>
              </a:lnSpc>
              <a:spcBef>
                <a:spcPts val="0"/>
              </a:spcBef>
              <a:spcAft>
                <a:spcPts val="0"/>
              </a:spcAft>
              <a:buClr>
                <a:srgbClr val="000000"/>
              </a:buClr>
              <a:buSzPts val="1300"/>
              <a:buFont typeface="Arial"/>
              <a:buNone/>
            </a:pPr>
            <a:r>
              <a:rPr lang="en-US" sz="1300" b="0" i="0" u="none" strike="noStrike" cap="none">
                <a:solidFill>
                  <a:srgbClr val="000000"/>
                </a:solidFill>
                <a:latin typeface="Arial"/>
                <a:ea typeface="Arial"/>
                <a:cs typeface="Arial"/>
                <a:sym typeface="Arial"/>
              </a:rPr>
              <a:t>Is  P</a:t>
            </a:r>
            <a:r>
              <a:rPr lang="en-US" sz="1275" b="0" i="0" u="none" strike="noStrike" cap="none" baseline="-25000">
                <a:solidFill>
                  <a:srgbClr val="000000"/>
                </a:solidFill>
                <a:latin typeface="Arial"/>
                <a:ea typeface="Arial"/>
                <a:cs typeface="Arial"/>
                <a:sym typeface="Arial"/>
              </a:rPr>
              <a:t>present</a:t>
            </a:r>
            <a:r>
              <a:rPr lang="en-US" sz="1300" b="0" i="0" u="none" strike="noStrike" cap="none">
                <a:solidFill>
                  <a:srgbClr val="000000"/>
                </a:solidFill>
                <a:latin typeface="Arial"/>
                <a:ea typeface="Arial"/>
                <a:cs typeface="Arial"/>
                <a:sym typeface="Arial"/>
              </a:rPr>
              <a:t>&gt;Threshold?</a:t>
            </a:r>
            <a:endParaRPr sz="1300" b="0" i="0" u="none" strike="noStrike" cap="none">
              <a:solidFill>
                <a:srgbClr val="000000"/>
              </a:solidFill>
              <a:latin typeface="Arial"/>
              <a:ea typeface="Arial"/>
              <a:cs typeface="Arial"/>
              <a:sym typeface="Arial"/>
            </a:endParaRPr>
          </a:p>
        </p:txBody>
      </p:sp>
      <p:sp>
        <p:nvSpPr>
          <p:cNvPr id="494" name="Google Shape;494;p47"/>
          <p:cNvSpPr txBox="1"/>
          <p:nvPr/>
        </p:nvSpPr>
        <p:spPr>
          <a:xfrm>
            <a:off x="7642859" y="2415539"/>
            <a:ext cx="1301750" cy="591820"/>
          </a:xfrm>
          <a:prstGeom prst="rect">
            <a:avLst/>
          </a:prstGeom>
          <a:solidFill>
            <a:srgbClr val="EDEBE0"/>
          </a:solidFill>
          <a:ln w="9525" cap="flat" cmpd="sng">
            <a:solidFill>
              <a:srgbClr val="000000"/>
            </a:solidFill>
            <a:prstDash val="solid"/>
            <a:round/>
            <a:headEnd type="none" w="sm" len="sm"/>
            <a:tailEnd type="none" w="sm" len="sm"/>
          </a:ln>
        </p:spPr>
        <p:txBody>
          <a:bodyPr spcFirstLastPara="1" wrap="square" lIns="0" tIns="78100" rIns="0" bIns="0" anchor="t" anchorCtr="0">
            <a:spAutoFit/>
          </a:bodyPr>
          <a:lstStyle/>
          <a:p>
            <a:pPr marL="4191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Fish is</a:t>
            </a:r>
            <a:endParaRPr sz="1400" b="0" i="0" u="none" strike="noStrike" cap="none">
              <a:solidFill>
                <a:srgbClr val="000000"/>
              </a:solidFill>
              <a:latin typeface="Arial"/>
              <a:ea typeface="Arial"/>
              <a:cs typeface="Arial"/>
              <a:sym typeface="Arial"/>
            </a:endParaRPr>
          </a:p>
          <a:p>
            <a:pPr marL="35814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present</a:t>
            </a:r>
            <a:endParaRPr sz="1400" b="0" i="0" u="none" strike="noStrike" cap="none">
              <a:solidFill>
                <a:srgbClr val="000000"/>
              </a:solidFill>
              <a:latin typeface="Arial"/>
              <a:ea typeface="Arial"/>
              <a:cs typeface="Arial"/>
              <a:sym typeface="Arial"/>
            </a:endParaRPr>
          </a:p>
        </p:txBody>
      </p:sp>
      <p:sp>
        <p:nvSpPr>
          <p:cNvPr id="495" name="Google Shape;495;p47"/>
          <p:cNvSpPr txBox="1"/>
          <p:nvPr/>
        </p:nvSpPr>
        <p:spPr>
          <a:xfrm>
            <a:off x="202692" y="2955035"/>
            <a:ext cx="1301750" cy="756285"/>
          </a:xfrm>
          <a:prstGeom prst="rect">
            <a:avLst/>
          </a:prstGeom>
          <a:solidFill>
            <a:srgbClr val="EDEBE0"/>
          </a:solidFill>
          <a:ln w="9525" cap="flat" cmpd="sng">
            <a:solidFill>
              <a:srgbClr val="000000"/>
            </a:solidFill>
            <a:prstDash val="solid"/>
            <a:round/>
            <a:headEnd type="none" w="sm" len="sm"/>
            <a:tailEnd type="none" w="sm" len="sm"/>
          </a:ln>
        </p:spPr>
        <p:txBody>
          <a:bodyPr spcFirstLastPara="1" wrap="square" lIns="0" tIns="165725" rIns="0" bIns="0" anchor="t" anchorCtr="0">
            <a:spAutoFit/>
          </a:bodyPr>
          <a:lstStyle/>
          <a:p>
            <a:pPr marL="320040" marR="221615" lvl="0" indent="-33655" algn="l" rtl="0">
              <a:lnSpc>
                <a:spcPct val="104299"/>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Input data  instance</a:t>
            </a:r>
            <a:endParaRPr sz="1400" b="0" i="0" u="none" strike="noStrike" cap="none">
              <a:solidFill>
                <a:srgbClr val="000000"/>
              </a:solidFill>
              <a:latin typeface="Arial"/>
              <a:ea typeface="Arial"/>
              <a:cs typeface="Arial"/>
              <a:sym typeface="Arial"/>
            </a:endParaRPr>
          </a:p>
        </p:txBody>
      </p:sp>
      <p:sp>
        <p:nvSpPr>
          <p:cNvPr id="496" name="Google Shape;496;p47"/>
          <p:cNvSpPr txBox="1"/>
          <p:nvPr/>
        </p:nvSpPr>
        <p:spPr>
          <a:xfrm>
            <a:off x="1964435" y="2955035"/>
            <a:ext cx="1758950" cy="756285"/>
          </a:xfrm>
          <a:prstGeom prst="rect">
            <a:avLst/>
          </a:prstGeom>
          <a:solidFill>
            <a:srgbClr val="EDEBE0"/>
          </a:solidFill>
          <a:ln w="9525" cap="flat" cmpd="sng">
            <a:solidFill>
              <a:srgbClr val="000000"/>
            </a:solidFill>
            <a:prstDash val="solid"/>
            <a:round/>
            <a:headEnd type="none" w="sm" len="sm"/>
            <a:tailEnd type="none" w="sm" len="sm"/>
          </a:ln>
        </p:spPr>
        <p:txBody>
          <a:bodyPr spcFirstLastPara="1" wrap="square" lIns="0" tIns="1250"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54610" marR="0" lvl="0" indent="0" algn="ctr" rtl="0">
              <a:lnSpc>
                <a:spcPct val="100000"/>
              </a:lnSpc>
              <a:spcBef>
                <a:spcPts val="5"/>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Predict probability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335"/>
              </a:spcBef>
              <a:spcAft>
                <a:spcPts val="0"/>
              </a:spcAft>
              <a:buClr>
                <a:srgbClr val="000000"/>
              </a:buClr>
              <a:buSzPts val="2100"/>
              <a:buFont typeface="Arial"/>
              <a:buNone/>
            </a:pPr>
            <a:r>
              <a:rPr lang="en-US" sz="2100" b="0" i="0" u="none" strike="noStrike" cap="none" baseline="30000">
                <a:solidFill>
                  <a:srgbClr val="000000"/>
                </a:solidFill>
                <a:latin typeface="Arial"/>
                <a:ea typeface="Arial"/>
                <a:cs typeface="Arial"/>
                <a:sym typeface="Arial"/>
              </a:rPr>
              <a:t>for P</a:t>
            </a:r>
            <a:r>
              <a:rPr lang="en-US" sz="900" b="0" i="0" u="none" strike="noStrike" cap="none">
                <a:solidFill>
                  <a:srgbClr val="000000"/>
                </a:solidFill>
                <a:latin typeface="Arial"/>
                <a:ea typeface="Arial"/>
                <a:cs typeface="Arial"/>
                <a:sym typeface="Arial"/>
              </a:rPr>
              <a:t>present</a:t>
            </a:r>
            <a:endParaRPr sz="900" b="0" i="0" u="none" strike="noStrike" cap="none">
              <a:solidFill>
                <a:srgbClr val="000000"/>
              </a:solidFill>
              <a:latin typeface="Arial"/>
              <a:ea typeface="Arial"/>
              <a:cs typeface="Arial"/>
              <a:sym typeface="Arial"/>
            </a:endParaRPr>
          </a:p>
        </p:txBody>
      </p:sp>
      <p:sp>
        <p:nvSpPr>
          <p:cNvPr id="497" name="Google Shape;497;p47"/>
          <p:cNvSpPr/>
          <p:nvPr/>
        </p:nvSpPr>
        <p:spPr>
          <a:xfrm>
            <a:off x="1504188" y="2673095"/>
            <a:ext cx="6139815" cy="1427480"/>
          </a:xfrm>
          <a:custGeom>
            <a:avLst/>
            <a:gdLst/>
            <a:ahLst/>
            <a:cxnLst/>
            <a:rect l="l" t="t" r="r" b="b"/>
            <a:pathLst>
              <a:path w="6139815" h="1427479" extrusionOk="0">
                <a:moveTo>
                  <a:pt x="460502" y="659892"/>
                </a:moveTo>
                <a:lnTo>
                  <a:pt x="447802" y="653542"/>
                </a:lnTo>
                <a:lnTo>
                  <a:pt x="384302" y="621792"/>
                </a:lnTo>
                <a:lnTo>
                  <a:pt x="384302" y="653542"/>
                </a:lnTo>
                <a:lnTo>
                  <a:pt x="0" y="653542"/>
                </a:lnTo>
                <a:lnTo>
                  <a:pt x="0" y="666242"/>
                </a:lnTo>
                <a:lnTo>
                  <a:pt x="384302" y="666242"/>
                </a:lnTo>
                <a:lnTo>
                  <a:pt x="384302" y="697992"/>
                </a:lnTo>
                <a:lnTo>
                  <a:pt x="447802" y="666242"/>
                </a:lnTo>
                <a:lnTo>
                  <a:pt x="460502" y="659892"/>
                </a:lnTo>
                <a:close/>
              </a:path>
              <a:path w="6139815" h="1427479" extrusionOk="0">
                <a:moveTo>
                  <a:pt x="2679446" y="659892"/>
                </a:moveTo>
                <a:lnTo>
                  <a:pt x="2666746" y="653542"/>
                </a:lnTo>
                <a:lnTo>
                  <a:pt x="2603246" y="621792"/>
                </a:lnTo>
                <a:lnTo>
                  <a:pt x="2603246" y="653542"/>
                </a:lnTo>
                <a:lnTo>
                  <a:pt x="2218944" y="653542"/>
                </a:lnTo>
                <a:lnTo>
                  <a:pt x="2218944" y="666242"/>
                </a:lnTo>
                <a:lnTo>
                  <a:pt x="2603246" y="666242"/>
                </a:lnTo>
                <a:lnTo>
                  <a:pt x="2603246" y="697992"/>
                </a:lnTo>
                <a:lnTo>
                  <a:pt x="2666746" y="666242"/>
                </a:lnTo>
                <a:lnTo>
                  <a:pt x="2679446" y="659892"/>
                </a:lnTo>
                <a:close/>
              </a:path>
              <a:path w="6139815" h="1427479" extrusionOk="0">
                <a:moveTo>
                  <a:pt x="6139307" y="1389113"/>
                </a:moveTo>
                <a:lnTo>
                  <a:pt x="6126607" y="1382763"/>
                </a:lnTo>
                <a:lnTo>
                  <a:pt x="6063107" y="1351013"/>
                </a:lnTo>
                <a:lnTo>
                  <a:pt x="6063107" y="1382763"/>
                </a:lnTo>
                <a:lnTo>
                  <a:pt x="4108958" y="1382763"/>
                </a:lnTo>
                <a:lnTo>
                  <a:pt x="4108958" y="1092708"/>
                </a:lnTo>
                <a:lnTo>
                  <a:pt x="4096258" y="1092708"/>
                </a:lnTo>
                <a:lnTo>
                  <a:pt x="4096258" y="1392618"/>
                </a:lnTo>
                <a:lnTo>
                  <a:pt x="4099052" y="1395463"/>
                </a:lnTo>
                <a:lnTo>
                  <a:pt x="6063107" y="1395463"/>
                </a:lnTo>
                <a:lnTo>
                  <a:pt x="6063107" y="1427213"/>
                </a:lnTo>
                <a:lnTo>
                  <a:pt x="6126607" y="1395463"/>
                </a:lnTo>
                <a:lnTo>
                  <a:pt x="6139307" y="1389113"/>
                </a:lnTo>
                <a:close/>
              </a:path>
              <a:path w="6139815" h="1427479" extrusionOk="0">
                <a:moveTo>
                  <a:pt x="6139307" y="38100"/>
                </a:moveTo>
                <a:lnTo>
                  <a:pt x="6126607" y="31750"/>
                </a:lnTo>
                <a:lnTo>
                  <a:pt x="6063107" y="0"/>
                </a:lnTo>
                <a:lnTo>
                  <a:pt x="6063107" y="31750"/>
                </a:lnTo>
                <a:lnTo>
                  <a:pt x="4099052" y="31750"/>
                </a:lnTo>
                <a:lnTo>
                  <a:pt x="4096258" y="34544"/>
                </a:lnTo>
                <a:lnTo>
                  <a:pt x="4096258" y="229235"/>
                </a:lnTo>
                <a:lnTo>
                  <a:pt x="4108958" y="229235"/>
                </a:lnTo>
                <a:lnTo>
                  <a:pt x="4108958" y="44450"/>
                </a:lnTo>
                <a:lnTo>
                  <a:pt x="6063107" y="44450"/>
                </a:lnTo>
                <a:lnTo>
                  <a:pt x="6063107" y="76200"/>
                </a:lnTo>
                <a:lnTo>
                  <a:pt x="6126607" y="44450"/>
                </a:lnTo>
                <a:lnTo>
                  <a:pt x="6139307" y="381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8" name="Google Shape;498;p47"/>
          <p:cNvSpPr txBox="1"/>
          <p:nvPr/>
        </p:nvSpPr>
        <p:spPr>
          <a:xfrm>
            <a:off x="7197089" y="4088079"/>
            <a:ext cx="275083" cy="22698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No</a:t>
            </a:r>
            <a:endParaRPr sz="1400" b="0" i="0" u="none" strike="noStrike" cap="none">
              <a:solidFill>
                <a:srgbClr val="000000"/>
              </a:solidFill>
              <a:latin typeface="Arial"/>
              <a:ea typeface="Arial"/>
              <a:cs typeface="Arial"/>
              <a:sym typeface="Arial"/>
            </a:endParaRPr>
          </a:p>
        </p:txBody>
      </p:sp>
      <p:sp>
        <p:nvSpPr>
          <p:cNvPr id="499" name="Google Shape;499;p47"/>
          <p:cNvSpPr txBox="1"/>
          <p:nvPr/>
        </p:nvSpPr>
        <p:spPr>
          <a:xfrm>
            <a:off x="7144893" y="2470480"/>
            <a:ext cx="494919" cy="227611"/>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Yes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8"/>
          <p:cNvSpPr txBox="1">
            <a:spLocks noGrp="1"/>
          </p:cNvSpPr>
          <p:nvPr>
            <p:ph type="title"/>
          </p:nvPr>
        </p:nvSpPr>
        <p:spPr>
          <a:xfrm>
            <a:off x="500887" y="512191"/>
            <a:ext cx="2999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Logistic regression</a:t>
            </a:r>
            <a:endParaRPr sz="2800"/>
          </a:p>
        </p:txBody>
      </p:sp>
      <p:sp>
        <p:nvSpPr>
          <p:cNvPr id="505" name="Google Shape;505;p48"/>
          <p:cNvSpPr txBox="1"/>
          <p:nvPr/>
        </p:nvSpPr>
        <p:spPr>
          <a:xfrm>
            <a:off x="628904" y="1645106"/>
            <a:ext cx="3502660"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logistics regression is given by</a:t>
            </a:r>
            <a:endParaRPr sz="1600" b="0" i="0" u="none" strike="noStrike" cap="none">
              <a:solidFill>
                <a:srgbClr val="000000"/>
              </a:solidFill>
              <a:latin typeface="Arial"/>
              <a:ea typeface="Arial"/>
              <a:cs typeface="Arial"/>
              <a:sym typeface="Arial"/>
            </a:endParaRPr>
          </a:p>
        </p:txBody>
      </p:sp>
      <p:sp>
        <p:nvSpPr>
          <p:cNvPr id="506" name="Google Shape;506;p48"/>
          <p:cNvSpPr txBox="1"/>
          <p:nvPr/>
        </p:nvSpPr>
        <p:spPr>
          <a:xfrm>
            <a:off x="628904" y="3037458"/>
            <a:ext cx="8015605" cy="1383665"/>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Here, π(x) is the conditional expectation of the outcome given the values for</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independent variables, i.e. E(Y|X)</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predicts the probability of occurrence of a class label by fitting the data to a function</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called logit function, hence called logit regression</a:t>
            </a:r>
            <a:endParaRPr sz="1600" b="0" i="0" u="none" strike="noStrike" cap="none">
              <a:solidFill>
                <a:srgbClr val="000000"/>
              </a:solidFill>
              <a:latin typeface="Arial"/>
              <a:ea typeface="Arial"/>
              <a:cs typeface="Arial"/>
              <a:sym typeface="Arial"/>
            </a:endParaRPr>
          </a:p>
        </p:txBody>
      </p:sp>
      <p:sp>
        <p:nvSpPr>
          <p:cNvPr id="507" name="Google Shape;507;p48"/>
          <p:cNvSpPr/>
          <p:nvPr/>
        </p:nvSpPr>
        <p:spPr>
          <a:xfrm>
            <a:off x="3316662" y="2036553"/>
            <a:ext cx="2743600" cy="62823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49"/>
          <p:cNvSpPr txBox="1">
            <a:spLocks noGrp="1"/>
          </p:cNvSpPr>
          <p:nvPr>
            <p:ph type="title"/>
          </p:nvPr>
        </p:nvSpPr>
        <p:spPr>
          <a:xfrm>
            <a:off x="500887" y="512191"/>
            <a:ext cx="6597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Probability as output of logistic regression</a:t>
            </a:r>
            <a:endParaRPr sz="2800"/>
          </a:p>
        </p:txBody>
      </p:sp>
      <p:sp>
        <p:nvSpPr>
          <p:cNvPr id="513" name="Google Shape;513;p49"/>
          <p:cNvSpPr txBox="1"/>
          <p:nvPr/>
        </p:nvSpPr>
        <p:spPr>
          <a:xfrm>
            <a:off x="552704" y="1514678"/>
            <a:ext cx="7938770" cy="2786640"/>
          </a:xfrm>
          <a:prstGeom prst="rect">
            <a:avLst/>
          </a:prstGeom>
          <a:noFill/>
          <a:ln>
            <a:noFill/>
          </a:ln>
        </p:spPr>
        <p:txBody>
          <a:bodyPr spcFirstLastPara="1" wrap="square" lIns="0" tIns="13950" rIns="0" bIns="0" anchor="t" anchorCtr="0">
            <a:spAutoFit/>
          </a:bodyPr>
          <a:lstStyle/>
          <a:p>
            <a:pPr marL="374650" marR="0" lvl="0" indent="-285750"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logistic regression model is given by</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pPr marL="417830" marR="0" lvl="0" indent="-329565" algn="l" rtl="0">
              <a:lnSpc>
                <a:spcPct val="100000"/>
              </a:lnSpc>
              <a:spcBef>
                <a:spcPts val="173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Taking limits tending to -∞ on both side,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2100"/>
              <a:buFont typeface="Arial"/>
              <a:buNone/>
            </a:pPr>
            <a:endParaRPr sz="2100" b="0" i="0" u="none" strike="noStrike" cap="none">
              <a:solidFill>
                <a:srgbClr val="000000"/>
              </a:solidFill>
              <a:latin typeface="Arial"/>
              <a:ea typeface="Arial"/>
              <a:cs typeface="Arial"/>
              <a:sym typeface="Arial"/>
            </a:endParaRPr>
          </a:p>
          <a:p>
            <a:pPr marL="4178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Taking limits tending to ∞ on both side,</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5"/>
              </a:spcBef>
              <a:spcAft>
                <a:spcPts val="0"/>
              </a:spcAft>
              <a:buClr>
                <a:srgbClr val="000000"/>
              </a:buClr>
              <a:buSzPts val="2100"/>
              <a:buFont typeface="Arial"/>
              <a:buNone/>
            </a:pPr>
            <a:endParaRPr sz="2100" b="0" i="0" u="none" strike="noStrike" cap="none">
              <a:solidFill>
                <a:srgbClr val="000000"/>
              </a:solidFill>
              <a:latin typeface="Arial"/>
              <a:ea typeface="Arial"/>
              <a:cs typeface="Arial"/>
              <a:sym typeface="Arial"/>
            </a:endParaRPr>
          </a:p>
          <a:p>
            <a:pPr marL="4178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Thus π(x) lies in-between 0 and 1, i.e. π(x) </a:t>
            </a:r>
            <a:r>
              <a:rPr lang="en-US" sz="1600" b="0" i="0" u="none" strike="noStrike" cap="none">
                <a:solidFill>
                  <a:srgbClr val="000000"/>
                </a:solidFill>
                <a:latin typeface="Verdana"/>
                <a:ea typeface="Verdana"/>
                <a:cs typeface="Verdana"/>
                <a:sym typeface="Verdana"/>
              </a:rPr>
              <a:t>∈ </a:t>
            </a:r>
            <a:r>
              <a:rPr lang="en-US" sz="1600" b="0" i="0" u="none" strike="noStrike" cap="none">
                <a:solidFill>
                  <a:srgbClr val="000000"/>
                </a:solidFill>
                <a:latin typeface="Arial"/>
                <a:ea typeface="Arial"/>
                <a:cs typeface="Arial"/>
                <a:sym typeface="Arial"/>
              </a:rPr>
              <a:t>[0,1] and can be viewed as probability</a:t>
            </a:r>
            <a:endParaRPr sz="1600" b="0" i="0" u="none" strike="noStrike" cap="none">
              <a:solidFill>
                <a:srgbClr val="000000"/>
              </a:solidFill>
              <a:latin typeface="Arial"/>
              <a:ea typeface="Arial"/>
              <a:cs typeface="Arial"/>
              <a:sym typeface="Arial"/>
            </a:endParaRPr>
          </a:p>
        </p:txBody>
      </p:sp>
      <p:sp>
        <p:nvSpPr>
          <p:cNvPr id="514" name="Google Shape;514;p49"/>
          <p:cNvSpPr/>
          <p:nvPr/>
        </p:nvSpPr>
        <p:spPr>
          <a:xfrm>
            <a:off x="4700015" y="3139660"/>
            <a:ext cx="1304533" cy="32852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5" name="Google Shape;515;p49"/>
          <p:cNvSpPr/>
          <p:nvPr/>
        </p:nvSpPr>
        <p:spPr>
          <a:xfrm>
            <a:off x="4666488" y="2280124"/>
            <a:ext cx="1313688" cy="32389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6" name="Google Shape;516;p49"/>
          <p:cNvSpPr/>
          <p:nvPr/>
        </p:nvSpPr>
        <p:spPr>
          <a:xfrm>
            <a:off x="4767071" y="1461681"/>
            <a:ext cx="1571200" cy="36091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0"/>
          <p:cNvSpPr txBox="1">
            <a:spLocks noGrp="1"/>
          </p:cNvSpPr>
          <p:nvPr>
            <p:ph type="title"/>
          </p:nvPr>
        </p:nvSpPr>
        <p:spPr>
          <a:xfrm>
            <a:off x="500887" y="512191"/>
            <a:ext cx="2999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Logistic regression</a:t>
            </a:r>
            <a:endParaRPr sz="2800"/>
          </a:p>
        </p:txBody>
      </p:sp>
      <p:sp>
        <p:nvSpPr>
          <p:cNvPr id="522" name="Google Shape;522;p50"/>
          <p:cNvSpPr txBox="1"/>
          <p:nvPr/>
        </p:nvSpPr>
        <p:spPr>
          <a:xfrm>
            <a:off x="4404740" y="1547039"/>
            <a:ext cx="4392295" cy="2522855"/>
          </a:xfrm>
          <a:prstGeom prst="rect">
            <a:avLst/>
          </a:prstGeom>
          <a:noFill/>
          <a:ln>
            <a:noFill/>
          </a:ln>
        </p:spPr>
        <p:txBody>
          <a:bodyPr spcFirstLastPara="1" wrap="square" lIns="0" tIns="48250" rIns="0" bIns="0" anchor="t" anchorCtr="0">
            <a:spAutoFit/>
          </a:bodyPr>
          <a:lstStyle/>
          <a:p>
            <a:pPr marL="342265"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Since we are predicting probabilities values</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need to be between 0 and 1</a:t>
            </a:r>
            <a:endParaRPr sz="1600" b="0" i="0" u="none" strike="noStrike" cap="none">
              <a:solidFill>
                <a:srgbClr val="000000"/>
              </a:solidFill>
              <a:latin typeface="Arial"/>
              <a:ea typeface="Arial"/>
              <a:cs typeface="Arial"/>
              <a:sym typeface="Arial"/>
            </a:endParaRPr>
          </a:p>
          <a:p>
            <a:pPr marL="341630" marR="5080" lvl="0" indent="-329565" algn="l" rtl="0">
              <a:lnSpc>
                <a:spcPct val="115100"/>
              </a:lnSpc>
              <a:spcBef>
                <a:spcPts val="101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Consider the points A and B for which values  for plasma score are 80 and 177  respectively, probability values are out of the  expected </a:t>
            </a:r>
            <a:r>
              <a:rPr lang="en-US" sz="1600" b="0" i="0" u="none" strike="noStrike" cap="none">
                <a:solidFill>
                  <a:srgbClr val="24AAE1"/>
                </a:solidFill>
                <a:latin typeface="Arial"/>
                <a:ea typeface="Arial"/>
                <a:cs typeface="Arial"/>
                <a:sym typeface="Arial"/>
              </a:rPr>
              <a:t>range 0 to 1</a:t>
            </a:r>
            <a:endParaRPr sz="1600" b="0" i="0" u="none" strike="noStrike" cap="none">
              <a:solidFill>
                <a:srgbClr val="000000"/>
              </a:solidFill>
              <a:latin typeface="Arial"/>
              <a:ea typeface="Arial"/>
              <a:cs typeface="Arial"/>
              <a:sym typeface="Arial"/>
            </a:endParaRPr>
          </a:p>
          <a:p>
            <a:pPr marL="342265" marR="0" lvl="0" indent="-329565" algn="l" rtl="0">
              <a:lnSpc>
                <a:spcPct val="100000"/>
              </a:lnSpc>
              <a:spcBef>
                <a:spcPts val="127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Hence linear regression cannot be directly</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used to predict probabilities</a:t>
            </a:r>
            <a:endParaRPr sz="1600" b="0" i="0" u="none" strike="noStrike" cap="none">
              <a:solidFill>
                <a:srgbClr val="000000"/>
              </a:solidFill>
              <a:latin typeface="Arial"/>
              <a:ea typeface="Arial"/>
              <a:cs typeface="Arial"/>
              <a:sym typeface="Arial"/>
            </a:endParaRPr>
          </a:p>
        </p:txBody>
      </p:sp>
      <p:sp>
        <p:nvSpPr>
          <p:cNvPr id="523" name="Google Shape;523;p50"/>
          <p:cNvSpPr/>
          <p:nvPr/>
        </p:nvSpPr>
        <p:spPr>
          <a:xfrm>
            <a:off x="423740" y="1982791"/>
            <a:ext cx="3552290" cy="178141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51"/>
          <p:cNvSpPr txBox="1">
            <a:spLocks noGrp="1"/>
          </p:cNvSpPr>
          <p:nvPr>
            <p:ph type="title"/>
          </p:nvPr>
        </p:nvSpPr>
        <p:spPr>
          <a:xfrm>
            <a:off x="500887" y="512191"/>
            <a:ext cx="1056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Usage</a:t>
            </a:r>
            <a:endParaRPr sz="2800"/>
          </a:p>
        </p:txBody>
      </p:sp>
      <p:sp>
        <p:nvSpPr>
          <p:cNvPr id="529" name="Google Shape;529;p51"/>
          <p:cNvSpPr txBox="1"/>
          <p:nvPr/>
        </p:nvSpPr>
        <p:spPr>
          <a:xfrm>
            <a:off x="628904" y="1657299"/>
            <a:ext cx="8062595" cy="312610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Classification:</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ICU in a hospital is assigned on priority to high risk patients. Logistic regression</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can be used to classify the list of patients into high risk and low risk records.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Profiling:</a:t>
            </a:r>
            <a:endParaRPr sz="1600" b="0" i="0" u="none" strike="noStrike" cap="none">
              <a:solidFill>
                <a:srgbClr val="000000"/>
              </a:solidFill>
              <a:latin typeface="Arial"/>
              <a:ea typeface="Arial"/>
              <a:cs typeface="Arial"/>
              <a:sym typeface="Arial"/>
            </a:endParaRPr>
          </a:p>
          <a:p>
            <a:pPr marL="341630" marR="5080" lvl="0" indent="0" algn="l" rtl="0">
              <a:lnSpc>
                <a:spcPct val="115100"/>
              </a:lnSpc>
              <a:spcBef>
                <a:spcPts val="161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Nuclear fuel companies moderate various factors like pressure, temperature, etc. to  produce high yielding and low yielding fuels. Based on different parameters for the  current day, it can be predetermined whether the fuel produced will be high yielding or  not. The company can then alter the parameters to produce high yielding fuel every  day.</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142"/>
          <p:cNvSpPr/>
          <p:nvPr/>
        </p:nvSpPr>
        <p:spPr>
          <a:xfrm>
            <a:off x="592873" y="318605"/>
            <a:ext cx="1226729" cy="72979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7" name="Google Shape;607;p142"/>
          <p:cNvSpPr txBox="1"/>
          <p:nvPr/>
        </p:nvSpPr>
        <p:spPr>
          <a:xfrm>
            <a:off x="500278" y="1799600"/>
            <a:ext cx="8156575" cy="1489710"/>
          </a:xfrm>
          <a:prstGeom prst="rect">
            <a:avLst/>
          </a:prstGeom>
          <a:noFill/>
          <a:ln>
            <a:noFill/>
          </a:ln>
        </p:spPr>
        <p:txBody>
          <a:bodyPr spcFirstLastPara="1" wrap="square" lIns="0" tIns="1346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Question:</a:t>
            </a:r>
            <a:endParaRPr sz="1600" b="0" i="0" u="none" strike="noStrike" cap="none">
              <a:solidFill>
                <a:srgbClr val="000000"/>
              </a:solidFill>
              <a:latin typeface="Arial"/>
              <a:ea typeface="Arial"/>
              <a:cs typeface="Arial"/>
              <a:sym typeface="Arial"/>
            </a:endParaRPr>
          </a:p>
          <a:p>
            <a:pPr marL="12700" marR="5080" lvl="0" indent="0" algn="l" rtl="0">
              <a:lnSpc>
                <a:spcPct val="1501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Consider the example below about whether or not a patient has diabetes based on plasma  score. Since the logistic regression equation for this example will represent a straight line  can we determine the residual values?</a:t>
            </a:r>
            <a:endParaRPr sz="1600" b="0" i="0" u="none" strike="noStrike" cap="none">
              <a:solidFill>
                <a:srgbClr val="000000"/>
              </a:solidFill>
              <a:latin typeface="Arial"/>
              <a:ea typeface="Arial"/>
              <a:cs typeface="Arial"/>
              <a:sym typeface="Arial"/>
            </a:endParaRPr>
          </a:p>
        </p:txBody>
      </p:sp>
      <p:graphicFrame>
        <p:nvGraphicFramePr>
          <p:cNvPr id="608" name="Google Shape;608;p142"/>
          <p:cNvGraphicFramePr/>
          <p:nvPr/>
        </p:nvGraphicFramePr>
        <p:xfrm>
          <a:off x="1661350" y="3501326"/>
          <a:ext cx="5812775" cy="1214400"/>
        </p:xfrm>
        <a:graphic>
          <a:graphicData uri="http://schemas.openxmlformats.org/drawingml/2006/table">
            <a:tbl>
              <a:tblPr firstRow="1" bandRow="1">
                <a:noFill/>
                <a:tableStyleId>{054B9F56-7B7F-47FA-B4B8-2D57FE789870}</a:tableStyleId>
              </a:tblPr>
              <a:tblGrid>
                <a:gridCol w="1504325">
                  <a:extLst>
                    <a:ext uri="{9D8B030D-6E8A-4147-A177-3AD203B41FA5}">
                      <a16:colId xmlns:a16="http://schemas.microsoft.com/office/drawing/2014/main" val="20000"/>
                    </a:ext>
                  </a:extLst>
                </a:gridCol>
                <a:gridCol w="548000">
                  <a:extLst>
                    <a:ext uri="{9D8B030D-6E8A-4147-A177-3AD203B41FA5}">
                      <a16:colId xmlns:a16="http://schemas.microsoft.com/office/drawing/2014/main" val="20001"/>
                    </a:ext>
                  </a:extLst>
                </a:gridCol>
                <a:gridCol w="530850">
                  <a:extLst>
                    <a:ext uri="{9D8B030D-6E8A-4147-A177-3AD203B41FA5}">
                      <a16:colId xmlns:a16="http://schemas.microsoft.com/office/drawing/2014/main" val="20002"/>
                    </a:ext>
                  </a:extLst>
                </a:gridCol>
                <a:gridCol w="539750">
                  <a:extLst>
                    <a:ext uri="{9D8B030D-6E8A-4147-A177-3AD203B41FA5}">
                      <a16:colId xmlns:a16="http://schemas.microsoft.com/office/drawing/2014/main" val="20003"/>
                    </a:ext>
                  </a:extLst>
                </a:gridCol>
                <a:gridCol w="530850">
                  <a:extLst>
                    <a:ext uri="{9D8B030D-6E8A-4147-A177-3AD203B41FA5}">
                      <a16:colId xmlns:a16="http://schemas.microsoft.com/office/drawing/2014/main" val="20004"/>
                    </a:ext>
                  </a:extLst>
                </a:gridCol>
                <a:gridCol w="539750">
                  <a:extLst>
                    <a:ext uri="{9D8B030D-6E8A-4147-A177-3AD203B41FA5}">
                      <a16:colId xmlns:a16="http://schemas.microsoft.com/office/drawing/2014/main" val="20005"/>
                    </a:ext>
                  </a:extLst>
                </a:gridCol>
                <a:gridCol w="539750">
                  <a:extLst>
                    <a:ext uri="{9D8B030D-6E8A-4147-A177-3AD203B41FA5}">
                      <a16:colId xmlns:a16="http://schemas.microsoft.com/office/drawing/2014/main" val="20006"/>
                    </a:ext>
                  </a:extLst>
                </a:gridCol>
                <a:gridCol w="539750">
                  <a:extLst>
                    <a:ext uri="{9D8B030D-6E8A-4147-A177-3AD203B41FA5}">
                      <a16:colId xmlns:a16="http://schemas.microsoft.com/office/drawing/2014/main" val="20007"/>
                    </a:ext>
                  </a:extLst>
                </a:gridCol>
                <a:gridCol w="539750">
                  <a:extLst>
                    <a:ext uri="{9D8B030D-6E8A-4147-A177-3AD203B41FA5}">
                      <a16:colId xmlns:a16="http://schemas.microsoft.com/office/drawing/2014/main" val="20008"/>
                    </a:ext>
                  </a:extLst>
                </a:gridCol>
              </a:tblGrid>
              <a:tr h="543875">
                <a:tc>
                  <a:txBody>
                    <a:bodyPr/>
                    <a:lstStyle/>
                    <a:p>
                      <a:pPr marL="13525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Plasma score</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90</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90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90</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0223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150</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588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165</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44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115</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180</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71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100</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10287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170</a:t>
                      </a:r>
                      <a:endParaRPr sz="1600" u="none" strike="noStrike" cap="none">
                        <a:latin typeface="Arial"/>
                        <a:ea typeface="Arial"/>
                        <a:cs typeface="Arial"/>
                        <a:sym typeface="Arial"/>
                      </a:endParaRPr>
                    </a:p>
                  </a:txBody>
                  <a:tcPr marL="0" marR="0" marT="1473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70525">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Is the patient</a:t>
                      </a:r>
                      <a:endParaRPr sz="1600" u="none" strike="noStrike" cap="none">
                        <a:latin typeface="Arial"/>
                        <a:ea typeface="Arial"/>
                        <a:cs typeface="Arial"/>
                        <a:sym typeface="Arial"/>
                      </a:endParaRPr>
                    </a:p>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Diabetic?</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9334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a:t>
                      </a:r>
                      <a:endParaRPr sz="1600" u="none" strike="noStrike" cap="none">
                        <a:latin typeface="Arial"/>
                        <a:ea typeface="Arial"/>
                        <a:cs typeface="Arial"/>
                        <a:sym typeface="Arial"/>
                      </a:endParaRPr>
                    </a:p>
                    <a:p>
                      <a:pPr marL="127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s</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381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63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508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No</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p>
                      <a:pPr marL="9398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Yes</a:t>
                      </a:r>
                      <a:endParaRPr sz="1600" u="none" strike="noStrike" cap="none">
                        <a:latin typeface="Arial"/>
                        <a:ea typeface="Arial"/>
                        <a:cs typeface="Arial"/>
                        <a:sym typeface="Arial"/>
                      </a:endParaRPr>
                    </a:p>
                  </a:txBody>
                  <a:tcPr marL="0" marR="0" marT="63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68"/>
          <p:cNvSpPr txBox="1">
            <a:spLocks noGrp="1"/>
          </p:cNvSpPr>
          <p:nvPr>
            <p:ph type="title"/>
          </p:nvPr>
        </p:nvSpPr>
        <p:spPr>
          <a:xfrm>
            <a:off x="390550" y="2240356"/>
            <a:ext cx="80817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Assumptions of Logistic Regression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9"/>
          <p:cNvSpPr txBox="1">
            <a:spLocks noGrp="1"/>
          </p:cNvSpPr>
          <p:nvPr>
            <p:ph type="title"/>
          </p:nvPr>
        </p:nvSpPr>
        <p:spPr>
          <a:xfrm>
            <a:off x="500887" y="512191"/>
            <a:ext cx="20688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Assumptions</a:t>
            </a:r>
            <a:endParaRPr sz="2800"/>
          </a:p>
        </p:txBody>
      </p:sp>
      <p:sp>
        <p:nvSpPr>
          <p:cNvPr id="683" name="Google Shape;683;p69"/>
          <p:cNvSpPr txBox="1"/>
          <p:nvPr/>
        </p:nvSpPr>
        <p:spPr>
          <a:xfrm>
            <a:off x="500887" y="1645106"/>
            <a:ext cx="8056880" cy="514984"/>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have seen that the logistic regression can be linearized, so it has assumptions almost</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same as that of linear regression</a:t>
            </a:r>
            <a:endParaRPr sz="1600" b="0" i="0" u="none" strike="noStrike" cap="none">
              <a:solidFill>
                <a:srgbClr val="000000"/>
              </a:solidFill>
              <a:latin typeface="Arial"/>
              <a:ea typeface="Arial"/>
              <a:cs typeface="Arial"/>
              <a:sym typeface="Arial"/>
            </a:endParaRPr>
          </a:p>
        </p:txBody>
      </p:sp>
      <p:graphicFrame>
        <p:nvGraphicFramePr>
          <p:cNvPr id="684" name="Google Shape;684;p69"/>
          <p:cNvGraphicFramePr/>
          <p:nvPr/>
        </p:nvGraphicFramePr>
        <p:xfrm>
          <a:off x="804583" y="2752153"/>
          <a:ext cx="7525400" cy="1950550"/>
        </p:xfrm>
        <a:graphic>
          <a:graphicData uri="http://schemas.openxmlformats.org/drawingml/2006/table">
            <a:tbl>
              <a:tblPr firstRow="1" bandRow="1">
                <a:noFill/>
                <a:tableStyleId>{054B9F56-7B7F-47FA-B4B8-2D57FE789870}</a:tableStyleId>
              </a:tblPr>
              <a:tblGrid>
                <a:gridCol w="1291600">
                  <a:extLst>
                    <a:ext uri="{9D8B030D-6E8A-4147-A177-3AD203B41FA5}">
                      <a16:colId xmlns:a16="http://schemas.microsoft.com/office/drawing/2014/main" val="20000"/>
                    </a:ext>
                  </a:extLst>
                </a:gridCol>
                <a:gridCol w="6233800">
                  <a:extLst>
                    <a:ext uri="{9D8B030D-6E8A-4147-A177-3AD203B41FA5}">
                      <a16:colId xmlns:a16="http://schemas.microsoft.com/office/drawing/2014/main" val="20001"/>
                    </a:ext>
                  </a:extLst>
                </a:gridCol>
              </a:tblGrid>
              <a:tr h="670425">
                <a:tc>
                  <a:txBody>
                    <a:bodyPr/>
                    <a:lstStyle/>
                    <a:p>
                      <a:pPr marL="0" marR="26669"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Assumption 1</a:t>
                      </a:r>
                      <a:endParaRPr sz="1400" u="none" strike="noStrike" cap="none">
                        <a:latin typeface="Arial"/>
                        <a:ea typeface="Arial"/>
                        <a:cs typeface="Arial"/>
                        <a:sym typeface="Arial"/>
                      </a:endParaRPr>
                    </a:p>
                  </a:txBody>
                  <a:tcPr marL="0" marR="0" marT="88900" marB="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Independence of error, whereby all sample group outcomes are</a:t>
                      </a:r>
                      <a:endParaRPr sz="1600" u="none" strike="noStrike" cap="none">
                        <a:latin typeface="Arial"/>
                        <a:ea typeface="Arial"/>
                        <a:cs typeface="Arial"/>
                        <a:sym typeface="Arial"/>
                      </a:endParaRPr>
                    </a:p>
                    <a:p>
                      <a:pPr marL="92075" marR="0" lvl="0" indent="0" algn="l" rtl="0">
                        <a:lnSpc>
                          <a:spcPct val="100000"/>
                        </a:lnSpc>
                        <a:spcBef>
                          <a:spcPts val="5"/>
                        </a:spcBef>
                        <a:spcAft>
                          <a:spcPts val="0"/>
                        </a:spcAft>
                        <a:buClr>
                          <a:srgbClr val="000000"/>
                        </a:buClr>
                        <a:buSzPts val="1600"/>
                        <a:buFont typeface="Arial"/>
                        <a:buNone/>
                      </a:pPr>
                      <a:r>
                        <a:rPr lang="en-US" sz="1600" u="none" strike="noStrike" cap="none">
                          <a:latin typeface="Arial"/>
                          <a:ea typeface="Arial"/>
                          <a:cs typeface="Arial"/>
                          <a:sym typeface="Arial"/>
                        </a:rPr>
                        <a:t>separate from each other (i.e., there are no duplicate responses)</a:t>
                      </a:r>
                      <a:endParaRPr sz="1600" u="none" strike="noStrike" cap="none">
                        <a:latin typeface="Arial"/>
                        <a:ea typeface="Arial"/>
                        <a:cs typeface="Arial"/>
                        <a:sym typeface="Arial"/>
                      </a:endParaRPr>
                    </a:p>
                  </a:txBody>
                  <a:tcPr marL="0" marR="0" marT="876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26725">
                <a:tc>
                  <a:txBody>
                    <a:bodyPr/>
                    <a:lstStyle/>
                    <a:p>
                      <a:pPr marL="0" marR="26669"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Assumption 2</a:t>
                      </a:r>
                      <a:endParaRPr sz="1400" u="none" strike="noStrike" cap="none">
                        <a:latin typeface="Arial"/>
                        <a:ea typeface="Arial"/>
                        <a:cs typeface="Arial"/>
                        <a:sym typeface="Arial"/>
                      </a:endParaRPr>
                    </a:p>
                  </a:txBody>
                  <a:tcPr marL="0" marR="0" marT="89525" marB="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Linearity in the logit for any continuous independent variables</a:t>
                      </a:r>
                      <a:endParaRPr sz="1600" u="none" strike="noStrike" cap="none">
                        <a:latin typeface="Arial"/>
                        <a:ea typeface="Arial"/>
                        <a:cs typeface="Arial"/>
                        <a:sym typeface="Arial"/>
                      </a:endParaRPr>
                    </a:p>
                  </a:txBody>
                  <a:tcPr marL="0" marR="0" marT="882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26725">
                <a:tc>
                  <a:txBody>
                    <a:bodyPr/>
                    <a:lstStyle/>
                    <a:p>
                      <a:pPr marL="0" marR="26669"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Assumption 3</a:t>
                      </a:r>
                      <a:endParaRPr sz="1400" u="none" strike="noStrike" cap="none">
                        <a:latin typeface="Arial"/>
                        <a:ea typeface="Arial"/>
                        <a:cs typeface="Arial"/>
                        <a:sym typeface="Arial"/>
                      </a:endParaRPr>
                    </a:p>
                  </a:txBody>
                  <a:tcPr marL="0" marR="0" marT="89525" marB="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Absence of multicollinearity</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26675">
                <a:tc>
                  <a:txBody>
                    <a:bodyPr/>
                    <a:lstStyle/>
                    <a:p>
                      <a:pPr marL="0" marR="26669" lvl="0" indent="0" algn="ctr"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Assumption 4</a:t>
                      </a:r>
                      <a:endParaRPr sz="1400" u="none" strike="noStrike" cap="none">
                        <a:latin typeface="Arial"/>
                        <a:ea typeface="Arial"/>
                        <a:cs typeface="Arial"/>
                        <a:sym typeface="Arial"/>
                      </a:endParaRPr>
                    </a:p>
                  </a:txBody>
                  <a:tcPr marL="0" marR="0" marT="90175" marB="0">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075"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lack of strongly influential outliers</a:t>
                      </a:r>
                      <a:endParaRPr sz="16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70"/>
          <p:cNvSpPr txBox="1">
            <a:spLocks noGrp="1"/>
          </p:cNvSpPr>
          <p:nvPr>
            <p:ph type="title"/>
          </p:nvPr>
        </p:nvSpPr>
        <p:spPr>
          <a:xfrm>
            <a:off x="390550" y="2240356"/>
            <a:ext cx="61290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Significance of Coefficients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71"/>
          <p:cNvSpPr txBox="1">
            <a:spLocks noGrp="1"/>
          </p:cNvSpPr>
          <p:nvPr>
            <p:ph type="title"/>
          </p:nvPr>
        </p:nvSpPr>
        <p:spPr>
          <a:xfrm>
            <a:off x="500887" y="512191"/>
            <a:ext cx="4226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coefficients</a:t>
            </a:r>
            <a:endParaRPr sz="2800"/>
          </a:p>
        </p:txBody>
      </p:sp>
      <p:sp>
        <p:nvSpPr>
          <p:cNvPr id="695" name="Google Shape;695;p71"/>
          <p:cNvSpPr txBox="1"/>
          <p:nvPr/>
        </p:nvSpPr>
        <p:spPr>
          <a:xfrm>
            <a:off x="637438" y="1645106"/>
            <a:ext cx="5735955" cy="249745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In a linear regression model, the significance of a</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regression coefficient is determined with the help of a t-test</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184150" lvl="0" indent="-329565" algn="just"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In logistic regression, the significance of the coefficients is  determined by the wald statistic and by the likelihood ratio  test</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To test the significance of the model, the likelihood ratio test</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is used</a:t>
            </a:r>
            <a:endParaRPr sz="1600" b="0" i="0" u="none" strike="noStrike" cap="none">
              <a:solidFill>
                <a:srgbClr val="000000"/>
              </a:solidFill>
              <a:latin typeface="Arial"/>
              <a:ea typeface="Arial"/>
              <a:cs typeface="Arial"/>
              <a:sym typeface="Arial"/>
            </a:endParaRPr>
          </a:p>
        </p:txBody>
      </p:sp>
      <p:grpSp>
        <p:nvGrpSpPr>
          <p:cNvPr id="696" name="Google Shape;696;p71"/>
          <p:cNvGrpSpPr/>
          <p:nvPr/>
        </p:nvGrpSpPr>
        <p:grpSpPr>
          <a:xfrm>
            <a:off x="6528815" y="1740407"/>
            <a:ext cx="2265045" cy="1948180"/>
            <a:chOff x="6528815" y="1740407"/>
            <a:chExt cx="2265045" cy="1948180"/>
          </a:xfrm>
        </p:grpSpPr>
        <p:sp>
          <p:nvSpPr>
            <p:cNvPr id="697" name="Google Shape;697;p71"/>
            <p:cNvSpPr/>
            <p:nvPr/>
          </p:nvSpPr>
          <p:spPr>
            <a:xfrm>
              <a:off x="6537959" y="1749551"/>
              <a:ext cx="2212848" cy="192938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8" name="Google Shape;698;p71"/>
            <p:cNvSpPr/>
            <p:nvPr/>
          </p:nvSpPr>
          <p:spPr>
            <a:xfrm>
              <a:off x="6528815" y="1740407"/>
              <a:ext cx="2265045" cy="1948180"/>
            </a:xfrm>
            <a:custGeom>
              <a:avLst/>
              <a:gdLst/>
              <a:ahLst/>
              <a:cxnLst/>
              <a:rect l="l" t="t" r="r" b="b"/>
              <a:pathLst>
                <a:path w="2265045" h="1948179" extrusionOk="0">
                  <a:moveTo>
                    <a:pt x="0" y="1947672"/>
                  </a:moveTo>
                  <a:lnTo>
                    <a:pt x="2264664" y="1947672"/>
                  </a:lnTo>
                  <a:lnTo>
                    <a:pt x="2264664" y="0"/>
                  </a:lnTo>
                  <a:lnTo>
                    <a:pt x="0" y="0"/>
                  </a:lnTo>
                  <a:lnTo>
                    <a:pt x="0" y="1947672"/>
                  </a:lnTo>
                  <a:close/>
                </a:path>
              </a:pathLst>
            </a:custGeom>
            <a:noFill/>
            <a:ln w="182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99" name="Google Shape;699;p71"/>
          <p:cNvSpPr txBox="1"/>
          <p:nvPr/>
        </p:nvSpPr>
        <p:spPr>
          <a:xfrm>
            <a:off x="7070852" y="1515567"/>
            <a:ext cx="1184910" cy="17970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For linear regression</a:t>
            </a:r>
            <a:endParaRPr sz="1000" b="0" i="0" u="none" strike="noStrike" cap="non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72"/>
          <p:cNvSpPr txBox="1">
            <a:spLocks noGrp="1"/>
          </p:cNvSpPr>
          <p:nvPr>
            <p:ph type="title"/>
          </p:nvPr>
        </p:nvSpPr>
        <p:spPr>
          <a:xfrm>
            <a:off x="500887" y="512191"/>
            <a:ext cx="6026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coefficients - Wald test</a:t>
            </a:r>
            <a:endParaRPr sz="2800"/>
          </a:p>
        </p:txBody>
      </p:sp>
      <p:grpSp>
        <p:nvGrpSpPr>
          <p:cNvPr id="705" name="Google Shape;705;p72"/>
          <p:cNvGrpSpPr/>
          <p:nvPr/>
        </p:nvGrpSpPr>
        <p:grpSpPr>
          <a:xfrm>
            <a:off x="2250948" y="2924668"/>
            <a:ext cx="3520440" cy="363220"/>
            <a:chOff x="2250948" y="2961131"/>
            <a:chExt cx="3520440" cy="363220"/>
          </a:xfrm>
        </p:grpSpPr>
        <p:sp>
          <p:nvSpPr>
            <p:cNvPr id="706" name="Google Shape;706;p72"/>
            <p:cNvSpPr/>
            <p:nvPr/>
          </p:nvSpPr>
          <p:spPr>
            <a:xfrm>
              <a:off x="2250948" y="2961131"/>
              <a:ext cx="3520440" cy="363220"/>
            </a:xfrm>
            <a:custGeom>
              <a:avLst/>
              <a:gdLst/>
              <a:ahLst/>
              <a:cxnLst/>
              <a:rect l="l" t="t" r="r" b="b"/>
              <a:pathLst>
                <a:path w="3520440" h="363220" extrusionOk="0">
                  <a:moveTo>
                    <a:pt x="3459988" y="0"/>
                  </a:moveTo>
                  <a:lnTo>
                    <a:pt x="60451" y="0"/>
                  </a:lnTo>
                  <a:lnTo>
                    <a:pt x="36915" y="4748"/>
                  </a:lnTo>
                  <a:lnTo>
                    <a:pt x="17700" y="17700"/>
                  </a:lnTo>
                  <a:lnTo>
                    <a:pt x="4748" y="36915"/>
                  </a:lnTo>
                  <a:lnTo>
                    <a:pt x="0" y="60452"/>
                  </a:lnTo>
                  <a:lnTo>
                    <a:pt x="0" y="302260"/>
                  </a:lnTo>
                  <a:lnTo>
                    <a:pt x="4748" y="325796"/>
                  </a:lnTo>
                  <a:lnTo>
                    <a:pt x="17700" y="345011"/>
                  </a:lnTo>
                  <a:lnTo>
                    <a:pt x="36915" y="357963"/>
                  </a:lnTo>
                  <a:lnTo>
                    <a:pt x="60451" y="362712"/>
                  </a:lnTo>
                  <a:lnTo>
                    <a:pt x="3459988" y="362712"/>
                  </a:lnTo>
                  <a:lnTo>
                    <a:pt x="3483524" y="357963"/>
                  </a:lnTo>
                  <a:lnTo>
                    <a:pt x="3502739" y="345011"/>
                  </a:lnTo>
                  <a:lnTo>
                    <a:pt x="3515691" y="325796"/>
                  </a:lnTo>
                  <a:lnTo>
                    <a:pt x="3520440" y="302260"/>
                  </a:lnTo>
                  <a:lnTo>
                    <a:pt x="3520440" y="60452"/>
                  </a:lnTo>
                  <a:lnTo>
                    <a:pt x="3515691" y="36915"/>
                  </a:lnTo>
                  <a:lnTo>
                    <a:pt x="3502739" y="17700"/>
                  </a:lnTo>
                  <a:lnTo>
                    <a:pt x="3483524" y="4748"/>
                  </a:lnTo>
                  <a:lnTo>
                    <a:pt x="3459988"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7" name="Google Shape;707;p72"/>
            <p:cNvSpPr/>
            <p:nvPr/>
          </p:nvSpPr>
          <p:spPr>
            <a:xfrm>
              <a:off x="2250948" y="2961131"/>
              <a:ext cx="3520440" cy="363220"/>
            </a:xfrm>
            <a:custGeom>
              <a:avLst/>
              <a:gdLst/>
              <a:ahLst/>
              <a:cxnLst/>
              <a:rect l="l" t="t" r="r" b="b"/>
              <a:pathLst>
                <a:path w="3520440" h="363220" extrusionOk="0">
                  <a:moveTo>
                    <a:pt x="0" y="60452"/>
                  </a:moveTo>
                  <a:lnTo>
                    <a:pt x="4748" y="36915"/>
                  </a:lnTo>
                  <a:lnTo>
                    <a:pt x="17700" y="17700"/>
                  </a:lnTo>
                  <a:lnTo>
                    <a:pt x="36915" y="4748"/>
                  </a:lnTo>
                  <a:lnTo>
                    <a:pt x="60451" y="0"/>
                  </a:lnTo>
                  <a:lnTo>
                    <a:pt x="3459988" y="0"/>
                  </a:lnTo>
                  <a:lnTo>
                    <a:pt x="3483524" y="4748"/>
                  </a:lnTo>
                  <a:lnTo>
                    <a:pt x="3502739" y="17700"/>
                  </a:lnTo>
                  <a:lnTo>
                    <a:pt x="3515691" y="36915"/>
                  </a:lnTo>
                  <a:lnTo>
                    <a:pt x="3520440" y="60452"/>
                  </a:lnTo>
                  <a:lnTo>
                    <a:pt x="3520440" y="302260"/>
                  </a:lnTo>
                  <a:lnTo>
                    <a:pt x="3515691" y="325796"/>
                  </a:lnTo>
                  <a:lnTo>
                    <a:pt x="3502739" y="345011"/>
                  </a:lnTo>
                  <a:lnTo>
                    <a:pt x="3483524" y="357963"/>
                  </a:lnTo>
                  <a:lnTo>
                    <a:pt x="3459988" y="362712"/>
                  </a:lnTo>
                  <a:lnTo>
                    <a:pt x="60451" y="362712"/>
                  </a:lnTo>
                  <a:lnTo>
                    <a:pt x="36915" y="357963"/>
                  </a:lnTo>
                  <a:lnTo>
                    <a:pt x="17700" y="345011"/>
                  </a:lnTo>
                  <a:lnTo>
                    <a:pt x="4748" y="325796"/>
                  </a:lnTo>
                  <a:lnTo>
                    <a:pt x="0" y="302260"/>
                  </a:lnTo>
                  <a:lnTo>
                    <a:pt x="0" y="60452"/>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08" name="Google Shape;708;p72"/>
          <p:cNvGrpSpPr/>
          <p:nvPr/>
        </p:nvGrpSpPr>
        <p:grpSpPr>
          <a:xfrm>
            <a:off x="2250948" y="3409187"/>
            <a:ext cx="3520440" cy="365760"/>
            <a:chOff x="2250948" y="3409187"/>
            <a:chExt cx="3520440" cy="365760"/>
          </a:xfrm>
        </p:grpSpPr>
        <p:sp>
          <p:nvSpPr>
            <p:cNvPr id="709" name="Google Shape;709;p72"/>
            <p:cNvSpPr/>
            <p:nvPr/>
          </p:nvSpPr>
          <p:spPr>
            <a:xfrm>
              <a:off x="2250948" y="3409187"/>
              <a:ext cx="3520440" cy="365760"/>
            </a:xfrm>
            <a:custGeom>
              <a:avLst/>
              <a:gdLst/>
              <a:ahLst/>
              <a:cxnLst/>
              <a:rect l="l" t="t" r="r" b="b"/>
              <a:pathLst>
                <a:path w="3520440" h="365760" extrusionOk="0">
                  <a:moveTo>
                    <a:pt x="3459479" y="0"/>
                  </a:moveTo>
                  <a:lnTo>
                    <a:pt x="60959" y="0"/>
                  </a:lnTo>
                  <a:lnTo>
                    <a:pt x="37236" y="4792"/>
                  </a:lnTo>
                  <a:lnTo>
                    <a:pt x="17859" y="17859"/>
                  </a:lnTo>
                  <a:lnTo>
                    <a:pt x="4792" y="37236"/>
                  </a:lnTo>
                  <a:lnTo>
                    <a:pt x="0" y="60960"/>
                  </a:lnTo>
                  <a:lnTo>
                    <a:pt x="0" y="304800"/>
                  </a:lnTo>
                  <a:lnTo>
                    <a:pt x="4792" y="328523"/>
                  </a:lnTo>
                  <a:lnTo>
                    <a:pt x="17859" y="347900"/>
                  </a:lnTo>
                  <a:lnTo>
                    <a:pt x="37236" y="360967"/>
                  </a:lnTo>
                  <a:lnTo>
                    <a:pt x="60959" y="365760"/>
                  </a:lnTo>
                  <a:lnTo>
                    <a:pt x="3459479" y="365760"/>
                  </a:lnTo>
                  <a:lnTo>
                    <a:pt x="3483203" y="360967"/>
                  </a:lnTo>
                  <a:lnTo>
                    <a:pt x="3502580" y="347900"/>
                  </a:lnTo>
                  <a:lnTo>
                    <a:pt x="3515647" y="328523"/>
                  </a:lnTo>
                  <a:lnTo>
                    <a:pt x="3520440" y="304800"/>
                  </a:lnTo>
                  <a:lnTo>
                    <a:pt x="3520440" y="60960"/>
                  </a:lnTo>
                  <a:lnTo>
                    <a:pt x="3515647" y="37236"/>
                  </a:lnTo>
                  <a:lnTo>
                    <a:pt x="3502580" y="17859"/>
                  </a:lnTo>
                  <a:lnTo>
                    <a:pt x="3483203" y="4792"/>
                  </a:lnTo>
                  <a:lnTo>
                    <a:pt x="3459479"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0" name="Google Shape;710;p72"/>
            <p:cNvSpPr/>
            <p:nvPr/>
          </p:nvSpPr>
          <p:spPr>
            <a:xfrm>
              <a:off x="2250948" y="3409187"/>
              <a:ext cx="3520440" cy="365760"/>
            </a:xfrm>
            <a:custGeom>
              <a:avLst/>
              <a:gdLst/>
              <a:ahLst/>
              <a:cxnLst/>
              <a:rect l="l" t="t" r="r" b="b"/>
              <a:pathLst>
                <a:path w="3520440" h="365760" extrusionOk="0">
                  <a:moveTo>
                    <a:pt x="0" y="60960"/>
                  </a:moveTo>
                  <a:lnTo>
                    <a:pt x="4792" y="37236"/>
                  </a:lnTo>
                  <a:lnTo>
                    <a:pt x="17859" y="17859"/>
                  </a:lnTo>
                  <a:lnTo>
                    <a:pt x="37236" y="4792"/>
                  </a:lnTo>
                  <a:lnTo>
                    <a:pt x="60959" y="0"/>
                  </a:lnTo>
                  <a:lnTo>
                    <a:pt x="3459479" y="0"/>
                  </a:lnTo>
                  <a:lnTo>
                    <a:pt x="3483203" y="4792"/>
                  </a:lnTo>
                  <a:lnTo>
                    <a:pt x="3502580" y="17859"/>
                  </a:lnTo>
                  <a:lnTo>
                    <a:pt x="3515647" y="37236"/>
                  </a:lnTo>
                  <a:lnTo>
                    <a:pt x="3520440" y="60960"/>
                  </a:lnTo>
                  <a:lnTo>
                    <a:pt x="3520440" y="304800"/>
                  </a:lnTo>
                  <a:lnTo>
                    <a:pt x="3515647" y="328523"/>
                  </a:lnTo>
                  <a:lnTo>
                    <a:pt x="3502580" y="347900"/>
                  </a:lnTo>
                  <a:lnTo>
                    <a:pt x="3483203" y="360967"/>
                  </a:lnTo>
                  <a:lnTo>
                    <a:pt x="3459479" y="365760"/>
                  </a:lnTo>
                  <a:lnTo>
                    <a:pt x="60959" y="365760"/>
                  </a:lnTo>
                  <a:lnTo>
                    <a:pt x="37236" y="360967"/>
                  </a:lnTo>
                  <a:lnTo>
                    <a:pt x="17859" y="347900"/>
                  </a:lnTo>
                  <a:lnTo>
                    <a:pt x="4792" y="328523"/>
                  </a:lnTo>
                  <a:lnTo>
                    <a:pt x="0" y="304800"/>
                  </a:lnTo>
                  <a:lnTo>
                    <a:pt x="0" y="60960"/>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11" name="Google Shape;711;p72"/>
          <p:cNvGrpSpPr/>
          <p:nvPr/>
        </p:nvGrpSpPr>
        <p:grpSpPr>
          <a:xfrm>
            <a:off x="4213860" y="2071116"/>
            <a:ext cx="1057910" cy="365760"/>
            <a:chOff x="4213860" y="2071116"/>
            <a:chExt cx="1057910" cy="365760"/>
          </a:xfrm>
        </p:grpSpPr>
        <p:sp>
          <p:nvSpPr>
            <p:cNvPr id="712" name="Google Shape;712;p72"/>
            <p:cNvSpPr/>
            <p:nvPr/>
          </p:nvSpPr>
          <p:spPr>
            <a:xfrm>
              <a:off x="4213860" y="2071116"/>
              <a:ext cx="1057910" cy="365760"/>
            </a:xfrm>
            <a:custGeom>
              <a:avLst/>
              <a:gdLst/>
              <a:ahLst/>
              <a:cxnLst/>
              <a:rect l="l" t="t" r="r" b="b"/>
              <a:pathLst>
                <a:path w="1057910" h="365760" extrusionOk="0">
                  <a:moveTo>
                    <a:pt x="996695" y="0"/>
                  </a:moveTo>
                  <a:lnTo>
                    <a:pt x="60960" y="0"/>
                  </a:lnTo>
                  <a:lnTo>
                    <a:pt x="37236" y="4792"/>
                  </a:lnTo>
                  <a:lnTo>
                    <a:pt x="17859" y="17859"/>
                  </a:lnTo>
                  <a:lnTo>
                    <a:pt x="4792" y="37236"/>
                  </a:lnTo>
                  <a:lnTo>
                    <a:pt x="0" y="60959"/>
                  </a:lnTo>
                  <a:lnTo>
                    <a:pt x="0" y="304800"/>
                  </a:lnTo>
                  <a:lnTo>
                    <a:pt x="4792" y="328523"/>
                  </a:lnTo>
                  <a:lnTo>
                    <a:pt x="17859" y="347900"/>
                  </a:lnTo>
                  <a:lnTo>
                    <a:pt x="37236" y="360967"/>
                  </a:lnTo>
                  <a:lnTo>
                    <a:pt x="60960" y="365759"/>
                  </a:lnTo>
                  <a:lnTo>
                    <a:pt x="996695" y="365759"/>
                  </a:lnTo>
                  <a:lnTo>
                    <a:pt x="1020419" y="360967"/>
                  </a:lnTo>
                  <a:lnTo>
                    <a:pt x="1039796" y="347900"/>
                  </a:lnTo>
                  <a:lnTo>
                    <a:pt x="1052863" y="328523"/>
                  </a:lnTo>
                  <a:lnTo>
                    <a:pt x="1057655" y="304800"/>
                  </a:lnTo>
                  <a:lnTo>
                    <a:pt x="1057655" y="60959"/>
                  </a:lnTo>
                  <a:lnTo>
                    <a:pt x="1052863" y="37236"/>
                  </a:lnTo>
                  <a:lnTo>
                    <a:pt x="1039796" y="17859"/>
                  </a:lnTo>
                  <a:lnTo>
                    <a:pt x="1020419" y="4792"/>
                  </a:lnTo>
                  <a:lnTo>
                    <a:pt x="996695"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3" name="Google Shape;713;p72"/>
            <p:cNvSpPr/>
            <p:nvPr/>
          </p:nvSpPr>
          <p:spPr>
            <a:xfrm>
              <a:off x="4213860" y="2071116"/>
              <a:ext cx="1057910" cy="365760"/>
            </a:xfrm>
            <a:custGeom>
              <a:avLst/>
              <a:gdLst/>
              <a:ahLst/>
              <a:cxnLst/>
              <a:rect l="l" t="t" r="r" b="b"/>
              <a:pathLst>
                <a:path w="1057910" h="365760" extrusionOk="0">
                  <a:moveTo>
                    <a:pt x="0" y="60959"/>
                  </a:moveTo>
                  <a:lnTo>
                    <a:pt x="4792" y="37236"/>
                  </a:lnTo>
                  <a:lnTo>
                    <a:pt x="17859" y="17859"/>
                  </a:lnTo>
                  <a:lnTo>
                    <a:pt x="37236" y="4792"/>
                  </a:lnTo>
                  <a:lnTo>
                    <a:pt x="60960" y="0"/>
                  </a:lnTo>
                  <a:lnTo>
                    <a:pt x="996695" y="0"/>
                  </a:lnTo>
                  <a:lnTo>
                    <a:pt x="1020419" y="4792"/>
                  </a:lnTo>
                  <a:lnTo>
                    <a:pt x="1039796" y="17859"/>
                  </a:lnTo>
                  <a:lnTo>
                    <a:pt x="1052863" y="37236"/>
                  </a:lnTo>
                  <a:lnTo>
                    <a:pt x="1057655" y="60959"/>
                  </a:lnTo>
                  <a:lnTo>
                    <a:pt x="1057655" y="304800"/>
                  </a:lnTo>
                  <a:lnTo>
                    <a:pt x="1052863" y="328523"/>
                  </a:lnTo>
                  <a:lnTo>
                    <a:pt x="1039796" y="347900"/>
                  </a:lnTo>
                  <a:lnTo>
                    <a:pt x="1020419" y="360967"/>
                  </a:lnTo>
                  <a:lnTo>
                    <a:pt x="996695" y="365759"/>
                  </a:lnTo>
                  <a:lnTo>
                    <a:pt x="60960" y="365759"/>
                  </a:lnTo>
                  <a:lnTo>
                    <a:pt x="37236" y="360967"/>
                  </a:lnTo>
                  <a:lnTo>
                    <a:pt x="17859" y="347900"/>
                  </a:lnTo>
                  <a:lnTo>
                    <a:pt x="4792" y="328523"/>
                  </a:lnTo>
                  <a:lnTo>
                    <a:pt x="0" y="304800"/>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14" name="Google Shape;714;p72"/>
          <p:cNvGrpSpPr/>
          <p:nvPr/>
        </p:nvGrpSpPr>
        <p:grpSpPr>
          <a:xfrm>
            <a:off x="2250948" y="2071116"/>
            <a:ext cx="1057910" cy="365760"/>
            <a:chOff x="2250948" y="2071116"/>
            <a:chExt cx="1057910" cy="365760"/>
          </a:xfrm>
        </p:grpSpPr>
        <p:sp>
          <p:nvSpPr>
            <p:cNvPr id="715" name="Google Shape;715;p72"/>
            <p:cNvSpPr/>
            <p:nvPr/>
          </p:nvSpPr>
          <p:spPr>
            <a:xfrm>
              <a:off x="2250948" y="2071116"/>
              <a:ext cx="1057910" cy="365760"/>
            </a:xfrm>
            <a:custGeom>
              <a:avLst/>
              <a:gdLst/>
              <a:ahLst/>
              <a:cxnLst/>
              <a:rect l="l" t="t" r="r" b="b"/>
              <a:pathLst>
                <a:path w="1057910" h="365760" extrusionOk="0">
                  <a:moveTo>
                    <a:pt x="996695" y="0"/>
                  </a:moveTo>
                  <a:lnTo>
                    <a:pt x="60959" y="0"/>
                  </a:lnTo>
                  <a:lnTo>
                    <a:pt x="37236" y="4792"/>
                  </a:lnTo>
                  <a:lnTo>
                    <a:pt x="17859" y="17859"/>
                  </a:lnTo>
                  <a:lnTo>
                    <a:pt x="4792" y="37236"/>
                  </a:lnTo>
                  <a:lnTo>
                    <a:pt x="0" y="60959"/>
                  </a:lnTo>
                  <a:lnTo>
                    <a:pt x="0" y="304800"/>
                  </a:lnTo>
                  <a:lnTo>
                    <a:pt x="4792" y="328523"/>
                  </a:lnTo>
                  <a:lnTo>
                    <a:pt x="17859" y="347900"/>
                  </a:lnTo>
                  <a:lnTo>
                    <a:pt x="37236" y="360967"/>
                  </a:lnTo>
                  <a:lnTo>
                    <a:pt x="60959" y="365759"/>
                  </a:lnTo>
                  <a:lnTo>
                    <a:pt x="996695" y="365759"/>
                  </a:lnTo>
                  <a:lnTo>
                    <a:pt x="1020419" y="360967"/>
                  </a:lnTo>
                  <a:lnTo>
                    <a:pt x="1039796" y="347900"/>
                  </a:lnTo>
                  <a:lnTo>
                    <a:pt x="1052863" y="328523"/>
                  </a:lnTo>
                  <a:lnTo>
                    <a:pt x="1057655" y="304800"/>
                  </a:lnTo>
                  <a:lnTo>
                    <a:pt x="1057655" y="60959"/>
                  </a:lnTo>
                  <a:lnTo>
                    <a:pt x="1052863" y="37236"/>
                  </a:lnTo>
                  <a:lnTo>
                    <a:pt x="1039796" y="17859"/>
                  </a:lnTo>
                  <a:lnTo>
                    <a:pt x="1020419" y="4792"/>
                  </a:lnTo>
                  <a:lnTo>
                    <a:pt x="996695"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 name="Google Shape;716;p72"/>
            <p:cNvSpPr/>
            <p:nvPr/>
          </p:nvSpPr>
          <p:spPr>
            <a:xfrm>
              <a:off x="2250948" y="2071116"/>
              <a:ext cx="1057910" cy="365760"/>
            </a:xfrm>
            <a:custGeom>
              <a:avLst/>
              <a:gdLst/>
              <a:ahLst/>
              <a:cxnLst/>
              <a:rect l="l" t="t" r="r" b="b"/>
              <a:pathLst>
                <a:path w="1057910" h="365760" extrusionOk="0">
                  <a:moveTo>
                    <a:pt x="0" y="60959"/>
                  </a:moveTo>
                  <a:lnTo>
                    <a:pt x="4792" y="37236"/>
                  </a:lnTo>
                  <a:lnTo>
                    <a:pt x="17859" y="17859"/>
                  </a:lnTo>
                  <a:lnTo>
                    <a:pt x="37236" y="4792"/>
                  </a:lnTo>
                  <a:lnTo>
                    <a:pt x="60959" y="0"/>
                  </a:lnTo>
                  <a:lnTo>
                    <a:pt x="996695" y="0"/>
                  </a:lnTo>
                  <a:lnTo>
                    <a:pt x="1020419" y="4792"/>
                  </a:lnTo>
                  <a:lnTo>
                    <a:pt x="1039796" y="17859"/>
                  </a:lnTo>
                  <a:lnTo>
                    <a:pt x="1052863" y="37236"/>
                  </a:lnTo>
                  <a:lnTo>
                    <a:pt x="1057655" y="60959"/>
                  </a:lnTo>
                  <a:lnTo>
                    <a:pt x="1057655" y="304800"/>
                  </a:lnTo>
                  <a:lnTo>
                    <a:pt x="1052863" y="328523"/>
                  </a:lnTo>
                  <a:lnTo>
                    <a:pt x="1039796" y="347900"/>
                  </a:lnTo>
                  <a:lnTo>
                    <a:pt x="1020419" y="360967"/>
                  </a:lnTo>
                  <a:lnTo>
                    <a:pt x="996695" y="365759"/>
                  </a:lnTo>
                  <a:lnTo>
                    <a:pt x="60959" y="365759"/>
                  </a:lnTo>
                  <a:lnTo>
                    <a:pt x="37236" y="360967"/>
                  </a:lnTo>
                  <a:lnTo>
                    <a:pt x="17859" y="347900"/>
                  </a:lnTo>
                  <a:lnTo>
                    <a:pt x="4792" y="328523"/>
                  </a:lnTo>
                  <a:lnTo>
                    <a:pt x="0" y="304800"/>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17" name="Google Shape;717;p72"/>
          <p:cNvSpPr txBox="1"/>
          <p:nvPr/>
        </p:nvSpPr>
        <p:spPr>
          <a:xfrm>
            <a:off x="565405" y="1645106"/>
            <a:ext cx="5750336" cy="1614524"/>
          </a:xfrm>
          <a:prstGeom prst="rect">
            <a:avLst/>
          </a:prstGeom>
          <a:noFill/>
          <a:ln>
            <a:noFill/>
          </a:ln>
        </p:spPr>
        <p:txBody>
          <a:bodyPr spcFirstLastPara="1" wrap="square" lIns="0" tIns="13950" rIns="0" bIns="0" anchor="t" anchorCtr="0">
            <a:spAutoFit/>
          </a:bodyPr>
          <a:lstStyle/>
          <a:p>
            <a:pPr marL="4051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For β to be significant, β &gt; 0.</a:t>
            </a:r>
            <a:endParaRPr sz="1600" b="0" i="0" u="none" strike="noStrike" cap="none">
              <a:solidFill>
                <a:srgbClr val="000000"/>
              </a:solidFill>
              <a:latin typeface="Arial"/>
              <a:ea typeface="Arial"/>
              <a:cs typeface="Arial"/>
              <a:sym typeface="Arial"/>
            </a:endParaRPr>
          </a:p>
          <a:p>
            <a:pPr marL="285750" marR="0" lvl="0" indent="0" algn="ctr" rtl="0">
              <a:lnSpc>
                <a:spcPct val="100000"/>
              </a:lnSpc>
              <a:spcBef>
                <a:spcPts val="161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     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 β = 0    against    H</a:t>
            </a:r>
            <a:r>
              <a:rPr lang="en-US" sz="1575" b="0" i="0" u="none" strike="noStrike" cap="none" baseline="-25000">
                <a:solidFill>
                  <a:srgbClr val="000000"/>
                </a:solidFill>
                <a:latin typeface="Arial"/>
                <a:ea typeface="Arial"/>
                <a:cs typeface="Arial"/>
                <a:sym typeface="Arial"/>
              </a:rPr>
              <a:t>1  </a:t>
            </a:r>
            <a:r>
              <a:rPr lang="en-US" sz="1600" b="0" i="0" u="none" strike="noStrike" cap="none">
                <a:solidFill>
                  <a:srgbClr val="000000"/>
                </a:solidFill>
                <a:latin typeface="Arial"/>
                <a:ea typeface="Arial"/>
                <a:cs typeface="Arial"/>
                <a:sym typeface="Arial"/>
              </a:rPr>
              <a:t>: β ≠ 0</a:t>
            </a:r>
            <a:endParaRPr sz="1600" b="0" i="0" u="none" strike="noStrike" cap="none">
              <a:solidFill>
                <a:srgbClr val="000000"/>
              </a:solidFill>
              <a:latin typeface="Arial"/>
              <a:ea typeface="Arial"/>
              <a:cs typeface="Arial"/>
              <a:sym typeface="Arial"/>
            </a:endParaRPr>
          </a:p>
          <a:p>
            <a:pPr marL="405130" marR="0" lvl="0" indent="-329565" algn="l" rtl="0">
              <a:lnSpc>
                <a:spcPct val="100000"/>
              </a:lnSpc>
              <a:spcBef>
                <a:spcPts val="158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implies</a:t>
            </a:r>
            <a:endParaRPr sz="1600" b="0" i="0" u="none" strike="noStrike" cap="none">
              <a:solidFill>
                <a:srgbClr val="000000"/>
              </a:solidFill>
              <a:latin typeface="Arial"/>
              <a:ea typeface="Arial"/>
              <a:cs typeface="Arial"/>
              <a:sym typeface="Arial"/>
            </a:endParaRPr>
          </a:p>
          <a:p>
            <a:pPr marL="75565" marR="0" lvl="4" indent="0" algn="l" rtl="0">
              <a:lnSpc>
                <a:spcPct val="100000"/>
              </a:lnSpc>
              <a:spcBef>
                <a:spcPts val="1585"/>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	               H</a:t>
            </a:r>
            <a:r>
              <a:rPr lang="en-US" sz="1575" b="0" i="0" u="none" strike="noStrike" cap="none" baseline="-25000">
                <a:solidFill>
                  <a:srgbClr val="000000"/>
                </a:solidFill>
                <a:latin typeface="Arial"/>
                <a:ea typeface="Arial"/>
                <a:cs typeface="Arial"/>
                <a:sym typeface="Arial"/>
              </a:rPr>
              <a:t>0</a:t>
            </a:r>
            <a:r>
              <a:rPr lang="en-US" sz="1600" b="0" i="0" u="none" strike="noStrike" cap="none">
                <a:solidFill>
                  <a:srgbClr val="000000"/>
                </a:solidFill>
                <a:latin typeface="Arial"/>
                <a:ea typeface="Arial"/>
                <a:cs typeface="Arial"/>
                <a:sym typeface="Arial"/>
              </a:rPr>
              <a:t>: The parameter β is not significant</a:t>
            </a:r>
            <a:endParaRPr sz="1600" b="0" i="0" u="none" strike="noStrike" cap="none">
              <a:solidFill>
                <a:srgbClr val="000000"/>
              </a:solidFill>
              <a:latin typeface="Arial"/>
              <a:ea typeface="Arial"/>
              <a:cs typeface="Arial"/>
              <a:sym typeface="Arial"/>
            </a:endParaRPr>
          </a:p>
        </p:txBody>
      </p:sp>
      <p:sp>
        <p:nvSpPr>
          <p:cNvPr id="718" name="Google Shape;718;p72"/>
          <p:cNvSpPr txBox="1"/>
          <p:nvPr/>
        </p:nvSpPr>
        <p:spPr>
          <a:xfrm>
            <a:off x="1415541" y="3435858"/>
            <a:ext cx="682625" cy="2705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against</a:t>
            </a:r>
            <a:endParaRPr sz="1600" b="0" i="0" u="none" strike="noStrike" cap="none">
              <a:solidFill>
                <a:srgbClr val="000000"/>
              </a:solidFill>
              <a:latin typeface="Arial"/>
              <a:ea typeface="Arial"/>
              <a:cs typeface="Arial"/>
              <a:sym typeface="Arial"/>
            </a:endParaRPr>
          </a:p>
        </p:txBody>
      </p:sp>
      <p:sp>
        <p:nvSpPr>
          <p:cNvPr id="719" name="Google Shape;719;p72"/>
          <p:cNvSpPr txBox="1"/>
          <p:nvPr/>
        </p:nvSpPr>
        <p:spPr>
          <a:xfrm>
            <a:off x="2304923" y="3435858"/>
            <a:ext cx="3096260" cy="259676"/>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t>
            </a:r>
            <a:r>
              <a:rPr lang="en-US" sz="1575" b="0" i="0" u="none" strike="noStrike" cap="none" baseline="-25000">
                <a:solidFill>
                  <a:srgbClr val="000000"/>
                </a:solidFill>
                <a:latin typeface="Arial"/>
                <a:ea typeface="Arial"/>
                <a:cs typeface="Arial"/>
                <a:sym typeface="Arial"/>
              </a:rPr>
              <a:t>1</a:t>
            </a:r>
            <a:r>
              <a:rPr lang="en-US" sz="1600" b="0" i="0" u="none" strike="noStrike" cap="none">
                <a:solidFill>
                  <a:srgbClr val="000000"/>
                </a:solidFill>
                <a:latin typeface="Arial"/>
                <a:ea typeface="Arial"/>
                <a:cs typeface="Arial"/>
                <a:sym typeface="Arial"/>
              </a:rPr>
              <a:t>: The parameter β is significant</a:t>
            </a:r>
            <a:endParaRPr sz="1600" b="0" i="0" u="none" strike="noStrike" cap="none">
              <a:solidFill>
                <a:srgbClr val="000000"/>
              </a:solidFill>
              <a:latin typeface="Arial"/>
              <a:ea typeface="Arial"/>
              <a:cs typeface="Arial"/>
              <a:sym typeface="Arial"/>
            </a:endParaRPr>
          </a:p>
        </p:txBody>
      </p:sp>
      <p:sp>
        <p:nvSpPr>
          <p:cNvPr id="720" name="Google Shape;720;p72"/>
          <p:cNvSpPr txBox="1"/>
          <p:nvPr/>
        </p:nvSpPr>
        <p:spPr>
          <a:xfrm>
            <a:off x="618439" y="4219447"/>
            <a:ext cx="6161405" cy="271145"/>
          </a:xfrm>
          <a:prstGeom prst="rect">
            <a:avLst/>
          </a:prstGeom>
          <a:noFill/>
          <a:ln>
            <a:noFill/>
          </a:ln>
        </p:spPr>
        <p:txBody>
          <a:bodyPr spcFirstLastPara="1" wrap="square" lIns="0" tIns="13950" rIns="0" bIns="0" anchor="t" anchorCtr="0">
            <a:spAutoFit/>
          </a:bodyPr>
          <a:lstStyle/>
          <a:p>
            <a:pPr marL="3670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Failing to reject 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implies that the parameter β is not significant</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73"/>
          <p:cNvSpPr txBox="1"/>
          <p:nvPr/>
        </p:nvSpPr>
        <p:spPr>
          <a:xfrm>
            <a:off x="628904" y="1645106"/>
            <a:ext cx="2972435"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Wald statistic is given by</a:t>
            </a:r>
            <a:endParaRPr sz="1600" b="0" i="0" u="none" strike="noStrike" cap="none">
              <a:solidFill>
                <a:srgbClr val="000000"/>
              </a:solidFill>
              <a:latin typeface="Arial"/>
              <a:ea typeface="Arial"/>
              <a:cs typeface="Arial"/>
              <a:sym typeface="Arial"/>
            </a:endParaRPr>
          </a:p>
        </p:txBody>
      </p:sp>
      <p:sp>
        <p:nvSpPr>
          <p:cNvPr id="726" name="Google Shape;726;p73"/>
          <p:cNvSpPr txBox="1">
            <a:spLocks noGrp="1"/>
          </p:cNvSpPr>
          <p:nvPr>
            <p:ph type="title"/>
          </p:nvPr>
        </p:nvSpPr>
        <p:spPr>
          <a:xfrm>
            <a:off x="500887" y="512191"/>
            <a:ext cx="6026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coefficients - Wald test</a:t>
            </a:r>
            <a:endParaRPr sz="2800"/>
          </a:p>
        </p:txBody>
      </p:sp>
      <p:sp>
        <p:nvSpPr>
          <p:cNvPr id="727" name="Google Shape;727;p73"/>
          <p:cNvSpPr txBox="1"/>
          <p:nvPr/>
        </p:nvSpPr>
        <p:spPr>
          <a:xfrm>
            <a:off x="4229861" y="2484196"/>
            <a:ext cx="575310"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where</a:t>
            </a:r>
            <a:endParaRPr sz="1600" b="0" i="0" u="none" strike="noStrike" cap="none">
              <a:solidFill>
                <a:srgbClr val="000000"/>
              </a:solidFill>
              <a:latin typeface="Arial"/>
              <a:ea typeface="Arial"/>
              <a:cs typeface="Arial"/>
              <a:sym typeface="Arial"/>
            </a:endParaRPr>
          </a:p>
        </p:txBody>
      </p:sp>
      <p:sp>
        <p:nvSpPr>
          <p:cNvPr id="728" name="Google Shape;728;p73"/>
          <p:cNvSpPr txBox="1"/>
          <p:nvPr/>
        </p:nvSpPr>
        <p:spPr>
          <a:xfrm>
            <a:off x="5009086" y="2484196"/>
            <a:ext cx="2447925"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is the estimated value of β.</a:t>
            </a:r>
            <a:endParaRPr sz="1600" b="0" i="0" u="none" strike="noStrike" cap="none">
              <a:solidFill>
                <a:srgbClr val="000000"/>
              </a:solidFill>
              <a:latin typeface="Arial"/>
              <a:ea typeface="Arial"/>
              <a:cs typeface="Arial"/>
              <a:sym typeface="Arial"/>
            </a:endParaRPr>
          </a:p>
        </p:txBody>
      </p:sp>
      <p:sp>
        <p:nvSpPr>
          <p:cNvPr id="729" name="Google Shape;729;p73"/>
          <p:cNvSpPr/>
          <p:nvPr/>
        </p:nvSpPr>
        <p:spPr>
          <a:xfrm>
            <a:off x="1421902" y="2255592"/>
            <a:ext cx="1976596" cy="70547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0" name="Google Shape;730;p73"/>
          <p:cNvSpPr/>
          <p:nvPr/>
        </p:nvSpPr>
        <p:spPr>
          <a:xfrm>
            <a:off x="4799156" y="2443348"/>
            <a:ext cx="158175" cy="337682"/>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1" name="Google Shape;731;p73"/>
          <p:cNvSpPr txBox="1"/>
          <p:nvPr/>
        </p:nvSpPr>
        <p:spPr>
          <a:xfrm>
            <a:off x="628904" y="3249879"/>
            <a:ext cx="4636770"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Wald statistic follows the N(0,1) distribution</a:t>
            </a:r>
            <a:endParaRPr sz="1600" b="0" i="0" u="none" strike="noStrike" cap="none">
              <a:solidFill>
                <a:srgbClr val="000000"/>
              </a:solidFill>
              <a:latin typeface="Arial"/>
              <a:ea typeface="Arial"/>
              <a:cs typeface="Arial"/>
              <a:sym typeface="Arial"/>
            </a:endParaRPr>
          </a:p>
        </p:txBody>
      </p:sp>
      <p:sp>
        <p:nvSpPr>
          <p:cNvPr id="732" name="Google Shape;732;p73"/>
          <p:cNvSpPr txBox="1"/>
          <p:nvPr/>
        </p:nvSpPr>
        <p:spPr>
          <a:xfrm>
            <a:off x="603504" y="4143552"/>
            <a:ext cx="7439025" cy="514984"/>
          </a:xfrm>
          <a:prstGeom prst="rect">
            <a:avLst/>
          </a:prstGeom>
          <a:noFill/>
          <a:ln>
            <a:noFill/>
          </a:ln>
        </p:spPr>
        <p:txBody>
          <a:bodyPr spcFirstLastPara="1" wrap="square" lIns="0" tIns="13950" rIns="0" bIns="0" anchor="t" anchorCtr="0">
            <a:spAutoFit/>
          </a:bodyPr>
          <a:lstStyle/>
          <a:p>
            <a:pPr marL="3670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Decision Rule: Reject 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if |Z|&gt; Z</a:t>
            </a:r>
            <a:r>
              <a:rPr lang="en-US" sz="1575" b="0" i="0" u="none" strike="noStrike" cap="none" baseline="-25000">
                <a:solidFill>
                  <a:srgbClr val="000000"/>
                </a:solidFill>
                <a:latin typeface="Arial"/>
                <a:ea typeface="Arial"/>
                <a:cs typeface="Arial"/>
                <a:sym typeface="Arial"/>
              </a:rPr>
              <a:t>α/2 </a:t>
            </a:r>
            <a:r>
              <a:rPr lang="en-US" sz="1600" b="0" i="0" u="none" strike="noStrike" cap="none">
                <a:solidFill>
                  <a:srgbClr val="000000"/>
                </a:solidFill>
                <a:latin typeface="Arial"/>
                <a:ea typeface="Arial"/>
                <a:cs typeface="Arial"/>
                <a:sym typeface="Arial"/>
              </a:rPr>
              <a:t>or if the p-value is less than the α (level of</a:t>
            </a:r>
            <a:endParaRPr sz="1600" b="0" i="0" u="none" strike="noStrike" cap="none">
              <a:solidFill>
                <a:srgbClr val="000000"/>
              </a:solidFill>
              <a:latin typeface="Arial"/>
              <a:ea typeface="Arial"/>
              <a:cs typeface="Arial"/>
              <a:sym typeface="Arial"/>
            </a:endParaRPr>
          </a:p>
          <a:p>
            <a:pPr marL="3670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significance)</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74"/>
          <p:cNvSpPr txBox="1">
            <a:spLocks noGrp="1"/>
          </p:cNvSpPr>
          <p:nvPr>
            <p:ph type="title"/>
          </p:nvPr>
        </p:nvSpPr>
        <p:spPr>
          <a:xfrm>
            <a:off x="500887" y="512191"/>
            <a:ext cx="5210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coefficients - LRT</a:t>
            </a:r>
            <a:endParaRPr sz="2800"/>
          </a:p>
        </p:txBody>
      </p:sp>
      <p:grpSp>
        <p:nvGrpSpPr>
          <p:cNvPr id="738" name="Google Shape;738;p74"/>
          <p:cNvGrpSpPr/>
          <p:nvPr/>
        </p:nvGrpSpPr>
        <p:grpSpPr>
          <a:xfrm>
            <a:off x="2250948" y="2961131"/>
            <a:ext cx="3520440" cy="363220"/>
            <a:chOff x="2250948" y="2961131"/>
            <a:chExt cx="3520440" cy="363220"/>
          </a:xfrm>
        </p:grpSpPr>
        <p:sp>
          <p:nvSpPr>
            <p:cNvPr id="739" name="Google Shape;739;p74"/>
            <p:cNvSpPr/>
            <p:nvPr/>
          </p:nvSpPr>
          <p:spPr>
            <a:xfrm>
              <a:off x="2250948" y="2961131"/>
              <a:ext cx="3520440" cy="363220"/>
            </a:xfrm>
            <a:custGeom>
              <a:avLst/>
              <a:gdLst/>
              <a:ahLst/>
              <a:cxnLst/>
              <a:rect l="l" t="t" r="r" b="b"/>
              <a:pathLst>
                <a:path w="3520440" h="363220" extrusionOk="0">
                  <a:moveTo>
                    <a:pt x="3459988" y="0"/>
                  </a:moveTo>
                  <a:lnTo>
                    <a:pt x="60451" y="0"/>
                  </a:lnTo>
                  <a:lnTo>
                    <a:pt x="36915" y="4748"/>
                  </a:lnTo>
                  <a:lnTo>
                    <a:pt x="17700" y="17700"/>
                  </a:lnTo>
                  <a:lnTo>
                    <a:pt x="4748" y="36915"/>
                  </a:lnTo>
                  <a:lnTo>
                    <a:pt x="0" y="60452"/>
                  </a:lnTo>
                  <a:lnTo>
                    <a:pt x="0" y="302260"/>
                  </a:lnTo>
                  <a:lnTo>
                    <a:pt x="4748" y="325796"/>
                  </a:lnTo>
                  <a:lnTo>
                    <a:pt x="17700" y="345011"/>
                  </a:lnTo>
                  <a:lnTo>
                    <a:pt x="36915" y="357963"/>
                  </a:lnTo>
                  <a:lnTo>
                    <a:pt x="60451" y="362712"/>
                  </a:lnTo>
                  <a:lnTo>
                    <a:pt x="3459988" y="362712"/>
                  </a:lnTo>
                  <a:lnTo>
                    <a:pt x="3483524" y="357963"/>
                  </a:lnTo>
                  <a:lnTo>
                    <a:pt x="3502739" y="345011"/>
                  </a:lnTo>
                  <a:lnTo>
                    <a:pt x="3515691" y="325796"/>
                  </a:lnTo>
                  <a:lnTo>
                    <a:pt x="3520440" y="302260"/>
                  </a:lnTo>
                  <a:lnTo>
                    <a:pt x="3520440" y="60452"/>
                  </a:lnTo>
                  <a:lnTo>
                    <a:pt x="3515691" y="36915"/>
                  </a:lnTo>
                  <a:lnTo>
                    <a:pt x="3502739" y="17700"/>
                  </a:lnTo>
                  <a:lnTo>
                    <a:pt x="3483524" y="4748"/>
                  </a:lnTo>
                  <a:lnTo>
                    <a:pt x="3459988"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0" name="Google Shape;740;p74"/>
            <p:cNvSpPr/>
            <p:nvPr/>
          </p:nvSpPr>
          <p:spPr>
            <a:xfrm>
              <a:off x="2250948" y="2961131"/>
              <a:ext cx="3520440" cy="363220"/>
            </a:xfrm>
            <a:custGeom>
              <a:avLst/>
              <a:gdLst/>
              <a:ahLst/>
              <a:cxnLst/>
              <a:rect l="l" t="t" r="r" b="b"/>
              <a:pathLst>
                <a:path w="3520440" h="363220" extrusionOk="0">
                  <a:moveTo>
                    <a:pt x="0" y="60452"/>
                  </a:moveTo>
                  <a:lnTo>
                    <a:pt x="4748" y="36915"/>
                  </a:lnTo>
                  <a:lnTo>
                    <a:pt x="17700" y="17700"/>
                  </a:lnTo>
                  <a:lnTo>
                    <a:pt x="36915" y="4748"/>
                  </a:lnTo>
                  <a:lnTo>
                    <a:pt x="60451" y="0"/>
                  </a:lnTo>
                  <a:lnTo>
                    <a:pt x="3459988" y="0"/>
                  </a:lnTo>
                  <a:lnTo>
                    <a:pt x="3483524" y="4748"/>
                  </a:lnTo>
                  <a:lnTo>
                    <a:pt x="3502739" y="17700"/>
                  </a:lnTo>
                  <a:lnTo>
                    <a:pt x="3515691" y="36915"/>
                  </a:lnTo>
                  <a:lnTo>
                    <a:pt x="3520440" y="60452"/>
                  </a:lnTo>
                  <a:lnTo>
                    <a:pt x="3520440" y="302260"/>
                  </a:lnTo>
                  <a:lnTo>
                    <a:pt x="3515691" y="325796"/>
                  </a:lnTo>
                  <a:lnTo>
                    <a:pt x="3502739" y="345011"/>
                  </a:lnTo>
                  <a:lnTo>
                    <a:pt x="3483524" y="357963"/>
                  </a:lnTo>
                  <a:lnTo>
                    <a:pt x="3459988" y="362712"/>
                  </a:lnTo>
                  <a:lnTo>
                    <a:pt x="60451" y="362712"/>
                  </a:lnTo>
                  <a:lnTo>
                    <a:pt x="36915" y="357963"/>
                  </a:lnTo>
                  <a:lnTo>
                    <a:pt x="17700" y="345011"/>
                  </a:lnTo>
                  <a:lnTo>
                    <a:pt x="4748" y="325796"/>
                  </a:lnTo>
                  <a:lnTo>
                    <a:pt x="0" y="302260"/>
                  </a:lnTo>
                  <a:lnTo>
                    <a:pt x="0" y="60452"/>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41" name="Google Shape;741;p74"/>
          <p:cNvGrpSpPr/>
          <p:nvPr/>
        </p:nvGrpSpPr>
        <p:grpSpPr>
          <a:xfrm>
            <a:off x="2250948" y="3409187"/>
            <a:ext cx="3520440" cy="365760"/>
            <a:chOff x="2250948" y="3409187"/>
            <a:chExt cx="3520440" cy="365760"/>
          </a:xfrm>
        </p:grpSpPr>
        <p:sp>
          <p:nvSpPr>
            <p:cNvPr id="742" name="Google Shape;742;p74"/>
            <p:cNvSpPr/>
            <p:nvPr/>
          </p:nvSpPr>
          <p:spPr>
            <a:xfrm>
              <a:off x="2250948" y="3409187"/>
              <a:ext cx="3520440" cy="365760"/>
            </a:xfrm>
            <a:custGeom>
              <a:avLst/>
              <a:gdLst/>
              <a:ahLst/>
              <a:cxnLst/>
              <a:rect l="l" t="t" r="r" b="b"/>
              <a:pathLst>
                <a:path w="3520440" h="365760" extrusionOk="0">
                  <a:moveTo>
                    <a:pt x="3459479" y="0"/>
                  </a:moveTo>
                  <a:lnTo>
                    <a:pt x="60959" y="0"/>
                  </a:lnTo>
                  <a:lnTo>
                    <a:pt x="37236" y="4792"/>
                  </a:lnTo>
                  <a:lnTo>
                    <a:pt x="17859" y="17859"/>
                  </a:lnTo>
                  <a:lnTo>
                    <a:pt x="4792" y="37236"/>
                  </a:lnTo>
                  <a:lnTo>
                    <a:pt x="0" y="60960"/>
                  </a:lnTo>
                  <a:lnTo>
                    <a:pt x="0" y="304800"/>
                  </a:lnTo>
                  <a:lnTo>
                    <a:pt x="4792" y="328523"/>
                  </a:lnTo>
                  <a:lnTo>
                    <a:pt x="17859" y="347900"/>
                  </a:lnTo>
                  <a:lnTo>
                    <a:pt x="37236" y="360967"/>
                  </a:lnTo>
                  <a:lnTo>
                    <a:pt x="60959" y="365760"/>
                  </a:lnTo>
                  <a:lnTo>
                    <a:pt x="3459479" y="365760"/>
                  </a:lnTo>
                  <a:lnTo>
                    <a:pt x="3483203" y="360967"/>
                  </a:lnTo>
                  <a:lnTo>
                    <a:pt x="3502580" y="347900"/>
                  </a:lnTo>
                  <a:lnTo>
                    <a:pt x="3515647" y="328523"/>
                  </a:lnTo>
                  <a:lnTo>
                    <a:pt x="3520440" y="304800"/>
                  </a:lnTo>
                  <a:lnTo>
                    <a:pt x="3520440" y="60960"/>
                  </a:lnTo>
                  <a:lnTo>
                    <a:pt x="3515647" y="37236"/>
                  </a:lnTo>
                  <a:lnTo>
                    <a:pt x="3502580" y="17859"/>
                  </a:lnTo>
                  <a:lnTo>
                    <a:pt x="3483203" y="4792"/>
                  </a:lnTo>
                  <a:lnTo>
                    <a:pt x="3459479"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3" name="Google Shape;743;p74"/>
            <p:cNvSpPr/>
            <p:nvPr/>
          </p:nvSpPr>
          <p:spPr>
            <a:xfrm>
              <a:off x="2250948" y="3409187"/>
              <a:ext cx="3520440" cy="365760"/>
            </a:xfrm>
            <a:custGeom>
              <a:avLst/>
              <a:gdLst/>
              <a:ahLst/>
              <a:cxnLst/>
              <a:rect l="l" t="t" r="r" b="b"/>
              <a:pathLst>
                <a:path w="3520440" h="365760" extrusionOk="0">
                  <a:moveTo>
                    <a:pt x="0" y="60960"/>
                  </a:moveTo>
                  <a:lnTo>
                    <a:pt x="4792" y="37236"/>
                  </a:lnTo>
                  <a:lnTo>
                    <a:pt x="17859" y="17859"/>
                  </a:lnTo>
                  <a:lnTo>
                    <a:pt x="37236" y="4792"/>
                  </a:lnTo>
                  <a:lnTo>
                    <a:pt x="60959" y="0"/>
                  </a:lnTo>
                  <a:lnTo>
                    <a:pt x="3459479" y="0"/>
                  </a:lnTo>
                  <a:lnTo>
                    <a:pt x="3483203" y="4792"/>
                  </a:lnTo>
                  <a:lnTo>
                    <a:pt x="3502580" y="17859"/>
                  </a:lnTo>
                  <a:lnTo>
                    <a:pt x="3515647" y="37236"/>
                  </a:lnTo>
                  <a:lnTo>
                    <a:pt x="3520440" y="60960"/>
                  </a:lnTo>
                  <a:lnTo>
                    <a:pt x="3520440" y="304800"/>
                  </a:lnTo>
                  <a:lnTo>
                    <a:pt x="3515647" y="328523"/>
                  </a:lnTo>
                  <a:lnTo>
                    <a:pt x="3502580" y="347900"/>
                  </a:lnTo>
                  <a:lnTo>
                    <a:pt x="3483203" y="360967"/>
                  </a:lnTo>
                  <a:lnTo>
                    <a:pt x="3459479" y="365760"/>
                  </a:lnTo>
                  <a:lnTo>
                    <a:pt x="60959" y="365760"/>
                  </a:lnTo>
                  <a:lnTo>
                    <a:pt x="37236" y="360967"/>
                  </a:lnTo>
                  <a:lnTo>
                    <a:pt x="17859" y="347900"/>
                  </a:lnTo>
                  <a:lnTo>
                    <a:pt x="4792" y="328523"/>
                  </a:lnTo>
                  <a:lnTo>
                    <a:pt x="0" y="304800"/>
                  </a:lnTo>
                  <a:lnTo>
                    <a:pt x="0" y="60960"/>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44" name="Google Shape;744;p74"/>
          <p:cNvGrpSpPr/>
          <p:nvPr/>
        </p:nvGrpSpPr>
        <p:grpSpPr>
          <a:xfrm>
            <a:off x="4213860" y="2071116"/>
            <a:ext cx="1057910" cy="365760"/>
            <a:chOff x="4213860" y="2071116"/>
            <a:chExt cx="1057910" cy="365760"/>
          </a:xfrm>
        </p:grpSpPr>
        <p:sp>
          <p:nvSpPr>
            <p:cNvPr id="745" name="Google Shape;745;p74"/>
            <p:cNvSpPr/>
            <p:nvPr/>
          </p:nvSpPr>
          <p:spPr>
            <a:xfrm>
              <a:off x="4213860" y="2071116"/>
              <a:ext cx="1057910" cy="365760"/>
            </a:xfrm>
            <a:custGeom>
              <a:avLst/>
              <a:gdLst/>
              <a:ahLst/>
              <a:cxnLst/>
              <a:rect l="l" t="t" r="r" b="b"/>
              <a:pathLst>
                <a:path w="1057910" h="365760" extrusionOk="0">
                  <a:moveTo>
                    <a:pt x="996695" y="0"/>
                  </a:moveTo>
                  <a:lnTo>
                    <a:pt x="60960" y="0"/>
                  </a:lnTo>
                  <a:lnTo>
                    <a:pt x="37236" y="4792"/>
                  </a:lnTo>
                  <a:lnTo>
                    <a:pt x="17859" y="17859"/>
                  </a:lnTo>
                  <a:lnTo>
                    <a:pt x="4792" y="37236"/>
                  </a:lnTo>
                  <a:lnTo>
                    <a:pt x="0" y="60959"/>
                  </a:lnTo>
                  <a:lnTo>
                    <a:pt x="0" y="304800"/>
                  </a:lnTo>
                  <a:lnTo>
                    <a:pt x="4792" y="328523"/>
                  </a:lnTo>
                  <a:lnTo>
                    <a:pt x="17859" y="347900"/>
                  </a:lnTo>
                  <a:lnTo>
                    <a:pt x="37236" y="360967"/>
                  </a:lnTo>
                  <a:lnTo>
                    <a:pt x="60960" y="365759"/>
                  </a:lnTo>
                  <a:lnTo>
                    <a:pt x="996695" y="365759"/>
                  </a:lnTo>
                  <a:lnTo>
                    <a:pt x="1020419" y="360967"/>
                  </a:lnTo>
                  <a:lnTo>
                    <a:pt x="1039796" y="347900"/>
                  </a:lnTo>
                  <a:lnTo>
                    <a:pt x="1052863" y="328523"/>
                  </a:lnTo>
                  <a:lnTo>
                    <a:pt x="1057655" y="304800"/>
                  </a:lnTo>
                  <a:lnTo>
                    <a:pt x="1057655" y="60959"/>
                  </a:lnTo>
                  <a:lnTo>
                    <a:pt x="1052863" y="37236"/>
                  </a:lnTo>
                  <a:lnTo>
                    <a:pt x="1039796" y="17859"/>
                  </a:lnTo>
                  <a:lnTo>
                    <a:pt x="1020419" y="4792"/>
                  </a:lnTo>
                  <a:lnTo>
                    <a:pt x="996695"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6" name="Google Shape;746;p74"/>
            <p:cNvSpPr/>
            <p:nvPr/>
          </p:nvSpPr>
          <p:spPr>
            <a:xfrm>
              <a:off x="4213860" y="2071116"/>
              <a:ext cx="1057910" cy="365760"/>
            </a:xfrm>
            <a:custGeom>
              <a:avLst/>
              <a:gdLst/>
              <a:ahLst/>
              <a:cxnLst/>
              <a:rect l="l" t="t" r="r" b="b"/>
              <a:pathLst>
                <a:path w="1057910" h="365760" extrusionOk="0">
                  <a:moveTo>
                    <a:pt x="0" y="60959"/>
                  </a:moveTo>
                  <a:lnTo>
                    <a:pt x="4792" y="37236"/>
                  </a:lnTo>
                  <a:lnTo>
                    <a:pt x="17859" y="17859"/>
                  </a:lnTo>
                  <a:lnTo>
                    <a:pt x="37236" y="4792"/>
                  </a:lnTo>
                  <a:lnTo>
                    <a:pt x="60960" y="0"/>
                  </a:lnTo>
                  <a:lnTo>
                    <a:pt x="996695" y="0"/>
                  </a:lnTo>
                  <a:lnTo>
                    <a:pt x="1020419" y="4792"/>
                  </a:lnTo>
                  <a:lnTo>
                    <a:pt x="1039796" y="17859"/>
                  </a:lnTo>
                  <a:lnTo>
                    <a:pt x="1052863" y="37236"/>
                  </a:lnTo>
                  <a:lnTo>
                    <a:pt x="1057655" y="60959"/>
                  </a:lnTo>
                  <a:lnTo>
                    <a:pt x="1057655" y="304800"/>
                  </a:lnTo>
                  <a:lnTo>
                    <a:pt x="1052863" y="328523"/>
                  </a:lnTo>
                  <a:lnTo>
                    <a:pt x="1039796" y="347900"/>
                  </a:lnTo>
                  <a:lnTo>
                    <a:pt x="1020419" y="360967"/>
                  </a:lnTo>
                  <a:lnTo>
                    <a:pt x="996695" y="365759"/>
                  </a:lnTo>
                  <a:lnTo>
                    <a:pt x="60960" y="365759"/>
                  </a:lnTo>
                  <a:lnTo>
                    <a:pt x="37236" y="360967"/>
                  </a:lnTo>
                  <a:lnTo>
                    <a:pt x="17859" y="347900"/>
                  </a:lnTo>
                  <a:lnTo>
                    <a:pt x="4792" y="328523"/>
                  </a:lnTo>
                  <a:lnTo>
                    <a:pt x="0" y="304800"/>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47" name="Google Shape;747;p74"/>
          <p:cNvGrpSpPr/>
          <p:nvPr/>
        </p:nvGrpSpPr>
        <p:grpSpPr>
          <a:xfrm>
            <a:off x="2250948" y="2071116"/>
            <a:ext cx="1057910" cy="365760"/>
            <a:chOff x="2250948" y="2071116"/>
            <a:chExt cx="1057910" cy="365760"/>
          </a:xfrm>
        </p:grpSpPr>
        <p:sp>
          <p:nvSpPr>
            <p:cNvPr id="748" name="Google Shape;748;p74"/>
            <p:cNvSpPr/>
            <p:nvPr/>
          </p:nvSpPr>
          <p:spPr>
            <a:xfrm>
              <a:off x="2250948" y="2071116"/>
              <a:ext cx="1057910" cy="365760"/>
            </a:xfrm>
            <a:custGeom>
              <a:avLst/>
              <a:gdLst/>
              <a:ahLst/>
              <a:cxnLst/>
              <a:rect l="l" t="t" r="r" b="b"/>
              <a:pathLst>
                <a:path w="1057910" h="365760" extrusionOk="0">
                  <a:moveTo>
                    <a:pt x="996695" y="0"/>
                  </a:moveTo>
                  <a:lnTo>
                    <a:pt x="60959" y="0"/>
                  </a:lnTo>
                  <a:lnTo>
                    <a:pt x="37236" y="4792"/>
                  </a:lnTo>
                  <a:lnTo>
                    <a:pt x="17859" y="17859"/>
                  </a:lnTo>
                  <a:lnTo>
                    <a:pt x="4792" y="37236"/>
                  </a:lnTo>
                  <a:lnTo>
                    <a:pt x="0" y="60959"/>
                  </a:lnTo>
                  <a:lnTo>
                    <a:pt x="0" y="304800"/>
                  </a:lnTo>
                  <a:lnTo>
                    <a:pt x="4792" y="328523"/>
                  </a:lnTo>
                  <a:lnTo>
                    <a:pt x="17859" y="347900"/>
                  </a:lnTo>
                  <a:lnTo>
                    <a:pt x="37236" y="360967"/>
                  </a:lnTo>
                  <a:lnTo>
                    <a:pt x="60959" y="365759"/>
                  </a:lnTo>
                  <a:lnTo>
                    <a:pt x="996695" y="365759"/>
                  </a:lnTo>
                  <a:lnTo>
                    <a:pt x="1020419" y="360967"/>
                  </a:lnTo>
                  <a:lnTo>
                    <a:pt x="1039796" y="347900"/>
                  </a:lnTo>
                  <a:lnTo>
                    <a:pt x="1052863" y="328523"/>
                  </a:lnTo>
                  <a:lnTo>
                    <a:pt x="1057655" y="304800"/>
                  </a:lnTo>
                  <a:lnTo>
                    <a:pt x="1057655" y="60959"/>
                  </a:lnTo>
                  <a:lnTo>
                    <a:pt x="1052863" y="37236"/>
                  </a:lnTo>
                  <a:lnTo>
                    <a:pt x="1039796" y="17859"/>
                  </a:lnTo>
                  <a:lnTo>
                    <a:pt x="1020419" y="4792"/>
                  </a:lnTo>
                  <a:lnTo>
                    <a:pt x="996695"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9" name="Google Shape;749;p74"/>
            <p:cNvSpPr/>
            <p:nvPr/>
          </p:nvSpPr>
          <p:spPr>
            <a:xfrm>
              <a:off x="2250948" y="2071116"/>
              <a:ext cx="1057910" cy="365760"/>
            </a:xfrm>
            <a:custGeom>
              <a:avLst/>
              <a:gdLst/>
              <a:ahLst/>
              <a:cxnLst/>
              <a:rect l="l" t="t" r="r" b="b"/>
              <a:pathLst>
                <a:path w="1057910" h="365760" extrusionOk="0">
                  <a:moveTo>
                    <a:pt x="0" y="60959"/>
                  </a:moveTo>
                  <a:lnTo>
                    <a:pt x="4792" y="37236"/>
                  </a:lnTo>
                  <a:lnTo>
                    <a:pt x="17859" y="17859"/>
                  </a:lnTo>
                  <a:lnTo>
                    <a:pt x="37236" y="4792"/>
                  </a:lnTo>
                  <a:lnTo>
                    <a:pt x="60959" y="0"/>
                  </a:lnTo>
                  <a:lnTo>
                    <a:pt x="996695" y="0"/>
                  </a:lnTo>
                  <a:lnTo>
                    <a:pt x="1020419" y="4792"/>
                  </a:lnTo>
                  <a:lnTo>
                    <a:pt x="1039796" y="17859"/>
                  </a:lnTo>
                  <a:lnTo>
                    <a:pt x="1052863" y="37236"/>
                  </a:lnTo>
                  <a:lnTo>
                    <a:pt x="1057655" y="60959"/>
                  </a:lnTo>
                  <a:lnTo>
                    <a:pt x="1057655" y="304800"/>
                  </a:lnTo>
                  <a:lnTo>
                    <a:pt x="1052863" y="328523"/>
                  </a:lnTo>
                  <a:lnTo>
                    <a:pt x="1039796" y="347900"/>
                  </a:lnTo>
                  <a:lnTo>
                    <a:pt x="1020419" y="360967"/>
                  </a:lnTo>
                  <a:lnTo>
                    <a:pt x="996695" y="365759"/>
                  </a:lnTo>
                  <a:lnTo>
                    <a:pt x="60959" y="365759"/>
                  </a:lnTo>
                  <a:lnTo>
                    <a:pt x="37236" y="360967"/>
                  </a:lnTo>
                  <a:lnTo>
                    <a:pt x="17859" y="347900"/>
                  </a:lnTo>
                  <a:lnTo>
                    <a:pt x="4792" y="328523"/>
                  </a:lnTo>
                  <a:lnTo>
                    <a:pt x="0" y="304800"/>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50" name="Google Shape;750;p74"/>
          <p:cNvSpPr txBox="1"/>
          <p:nvPr/>
        </p:nvSpPr>
        <p:spPr>
          <a:xfrm>
            <a:off x="580339" y="4220082"/>
            <a:ext cx="6161405" cy="271145"/>
          </a:xfrm>
          <a:prstGeom prst="rect">
            <a:avLst/>
          </a:prstGeom>
          <a:noFill/>
          <a:ln>
            <a:noFill/>
          </a:ln>
        </p:spPr>
        <p:txBody>
          <a:bodyPr spcFirstLastPara="1" wrap="square" lIns="0" tIns="13950" rIns="0" bIns="0" anchor="t" anchorCtr="0">
            <a:spAutoFit/>
          </a:bodyPr>
          <a:lstStyle/>
          <a:p>
            <a:pPr marL="3670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Failing to reject 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implies that the parameter β is not significant</a:t>
            </a:r>
            <a:endParaRPr sz="1600" b="0" i="0" u="none" strike="noStrike" cap="none">
              <a:solidFill>
                <a:srgbClr val="000000"/>
              </a:solidFill>
              <a:latin typeface="Arial"/>
              <a:ea typeface="Arial"/>
              <a:cs typeface="Arial"/>
              <a:sym typeface="Arial"/>
            </a:endParaRPr>
          </a:p>
        </p:txBody>
      </p:sp>
      <p:sp>
        <p:nvSpPr>
          <p:cNvPr id="751" name="Google Shape;751;p74"/>
          <p:cNvSpPr txBox="1"/>
          <p:nvPr/>
        </p:nvSpPr>
        <p:spPr>
          <a:xfrm>
            <a:off x="580339" y="1645106"/>
            <a:ext cx="6095365" cy="1614524"/>
          </a:xfrm>
          <a:prstGeom prst="rect">
            <a:avLst/>
          </a:prstGeom>
          <a:noFill/>
          <a:ln>
            <a:noFill/>
          </a:ln>
        </p:spPr>
        <p:txBody>
          <a:bodyPr spcFirstLastPara="1" wrap="square" lIns="0" tIns="13950" rIns="0" bIns="0" anchor="t" anchorCtr="0">
            <a:spAutoFit/>
          </a:bodyPr>
          <a:lstStyle/>
          <a:p>
            <a:pPr marL="4051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For β to be significant, β &gt; 0</a:t>
            </a:r>
            <a:endParaRPr sz="1600" b="0" i="0" u="none" strike="noStrike" cap="none">
              <a:solidFill>
                <a:srgbClr val="000000"/>
              </a:solidFill>
              <a:latin typeface="Arial"/>
              <a:ea typeface="Arial"/>
              <a:cs typeface="Arial"/>
              <a:sym typeface="Arial"/>
            </a:endParaRPr>
          </a:p>
          <a:p>
            <a:pPr marL="297180" marR="0" lvl="0" indent="0" algn="ctr" rtl="0">
              <a:lnSpc>
                <a:spcPct val="100000"/>
              </a:lnSpc>
              <a:spcBef>
                <a:spcPts val="161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 β = 0    against    H</a:t>
            </a:r>
            <a:r>
              <a:rPr lang="en-US" sz="1575" b="0" i="0" u="none" strike="noStrike" cap="none" baseline="-25000">
                <a:solidFill>
                  <a:srgbClr val="000000"/>
                </a:solidFill>
                <a:latin typeface="Arial"/>
                <a:ea typeface="Arial"/>
                <a:cs typeface="Arial"/>
                <a:sym typeface="Arial"/>
              </a:rPr>
              <a:t>1  </a:t>
            </a:r>
            <a:r>
              <a:rPr lang="en-US" sz="1600" b="0" i="0" u="none" strike="noStrike" cap="none">
                <a:solidFill>
                  <a:srgbClr val="000000"/>
                </a:solidFill>
                <a:latin typeface="Arial"/>
                <a:ea typeface="Arial"/>
                <a:cs typeface="Arial"/>
                <a:sym typeface="Arial"/>
              </a:rPr>
              <a:t>: β ≠ 0</a:t>
            </a:r>
            <a:endParaRPr sz="1600" b="0" i="0" u="none" strike="noStrike" cap="none">
              <a:solidFill>
                <a:srgbClr val="000000"/>
              </a:solidFill>
              <a:latin typeface="Arial"/>
              <a:ea typeface="Arial"/>
              <a:cs typeface="Arial"/>
              <a:sym typeface="Arial"/>
            </a:endParaRPr>
          </a:p>
          <a:p>
            <a:pPr marL="405130" marR="0" lvl="0" indent="-329565" algn="l" rtl="0">
              <a:lnSpc>
                <a:spcPct val="100000"/>
              </a:lnSpc>
              <a:spcBef>
                <a:spcPts val="158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implies</a:t>
            </a:r>
            <a:endParaRPr sz="1600" b="0" i="0" u="none" strike="noStrike" cap="none">
              <a:solidFill>
                <a:srgbClr val="000000"/>
              </a:solidFill>
              <a:latin typeface="Arial"/>
              <a:ea typeface="Arial"/>
              <a:cs typeface="Arial"/>
              <a:sym typeface="Arial"/>
            </a:endParaRPr>
          </a:p>
          <a:p>
            <a:pPr marL="75565" marR="0" lvl="0" indent="0" algn="l" rtl="0">
              <a:lnSpc>
                <a:spcPct val="100000"/>
              </a:lnSpc>
              <a:spcBef>
                <a:spcPts val="1585"/>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                             H</a:t>
            </a:r>
            <a:r>
              <a:rPr lang="en-US" sz="1575" b="0" i="0" u="none" strike="noStrike" cap="none" baseline="-25000">
                <a:solidFill>
                  <a:srgbClr val="000000"/>
                </a:solidFill>
                <a:latin typeface="Arial"/>
                <a:ea typeface="Arial"/>
                <a:cs typeface="Arial"/>
                <a:sym typeface="Arial"/>
              </a:rPr>
              <a:t>0</a:t>
            </a:r>
            <a:r>
              <a:rPr lang="en-US" sz="1600" b="0" i="0" u="none" strike="noStrike" cap="none">
                <a:solidFill>
                  <a:srgbClr val="000000"/>
                </a:solidFill>
                <a:latin typeface="Arial"/>
                <a:ea typeface="Arial"/>
                <a:cs typeface="Arial"/>
                <a:sym typeface="Arial"/>
              </a:rPr>
              <a:t>: The parameter β is not significant</a:t>
            </a:r>
            <a:endParaRPr sz="1600" b="0" i="0" u="none" strike="noStrike" cap="none">
              <a:solidFill>
                <a:srgbClr val="000000"/>
              </a:solidFill>
              <a:latin typeface="Arial"/>
              <a:ea typeface="Arial"/>
              <a:cs typeface="Arial"/>
              <a:sym typeface="Arial"/>
            </a:endParaRPr>
          </a:p>
        </p:txBody>
      </p:sp>
      <p:sp>
        <p:nvSpPr>
          <p:cNvPr id="752" name="Google Shape;752;p74"/>
          <p:cNvSpPr txBox="1"/>
          <p:nvPr/>
        </p:nvSpPr>
        <p:spPr>
          <a:xfrm>
            <a:off x="1430527" y="3435858"/>
            <a:ext cx="682625" cy="2705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against</a:t>
            </a:r>
            <a:endParaRPr sz="1600" b="0" i="0" u="none" strike="noStrike" cap="none">
              <a:solidFill>
                <a:srgbClr val="000000"/>
              </a:solidFill>
              <a:latin typeface="Arial"/>
              <a:ea typeface="Arial"/>
              <a:cs typeface="Arial"/>
              <a:sym typeface="Arial"/>
            </a:endParaRPr>
          </a:p>
        </p:txBody>
      </p:sp>
      <p:sp>
        <p:nvSpPr>
          <p:cNvPr id="753" name="Google Shape;753;p74"/>
          <p:cNvSpPr txBox="1"/>
          <p:nvPr/>
        </p:nvSpPr>
        <p:spPr>
          <a:xfrm>
            <a:off x="2250948" y="3435858"/>
            <a:ext cx="3156204" cy="259676"/>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t>
            </a:r>
            <a:r>
              <a:rPr lang="en-US" sz="1575" b="0" i="0" u="none" strike="noStrike" cap="none" baseline="-25000">
                <a:solidFill>
                  <a:srgbClr val="000000"/>
                </a:solidFill>
                <a:latin typeface="Arial"/>
                <a:ea typeface="Arial"/>
                <a:cs typeface="Arial"/>
                <a:sym typeface="Arial"/>
              </a:rPr>
              <a:t>1</a:t>
            </a:r>
            <a:r>
              <a:rPr lang="en-US" sz="1600" b="0" i="0" u="none" strike="noStrike" cap="none">
                <a:solidFill>
                  <a:srgbClr val="000000"/>
                </a:solidFill>
                <a:latin typeface="Arial"/>
                <a:ea typeface="Arial"/>
                <a:cs typeface="Arial"/>
                <a:sym typeface="Arial"/>
              </a:rPr>
              <a:t>: The parameter β is significant</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75"/>
          <p:cNvSpPr txBox="1">
            <a:spLocks noGrp="1"/>
          </p:cNvSpPr>
          <p:nvPr>
            <p:ph type="title"/>
          </p:nvPr>
        </p:nvSpPr>
        <p:spPr>
          <a:xfrm>
            <a:off x="500887" y="512191"/>
            <a:ext cx="5210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coefficients - LRT</a:t>
            </a:r>
            <a:endParaRPr sz="2800"/>
          </a:p>
        </p:txBody>
      </p:sp>
      <p:sp>
        <p:nvSpPr>
          <p:cNvPr id="759" name="Google Shape;759;p75"/>
          <p:cNvSpPr txBox="1"/>
          <p:nvPr/>
        </p:nvSpPr>
        <p:spPr>
          <a:xfrm>
            <a:off x="628904" y="1645106"/>
            <a:ext cx="4032250"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likelihood ratio test (LRT) is given by</a:t>
            </a:r>
            <a:endParaRPr sz="1600" b="0" i="0" u="none" strike="noStrike" cap="none">
              <a:solidFill>
                <a:srgbClr val="000000"/>
              </a:solidFill>
              <a:latin typeface="Arial"/>
              <a:ea typeface="Arial"/>
              <a:cs typeface="Arial"/>
              <a:sym typeface="Arial"/>
            </a:endParaRPr>
          </a:p>
        </p:txBody>
      </p:sp>
      <p:sp>
        <p:nvSpPr>
          <p:cNvPr id="760" name="Google Shape;760;p75"/>
          <p:cNvSpPr/>
          <p:nvPr/>
        </p:nvSpPr>
        <p:spPr>
          <a:xfrm>
            <a:off x="1895775" y="2328222"/>
            <a:ext cx="4758648" cy="51270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1" name="Google Shape;761;p75"/>
          <p:cNvSpPr txBox="1"/>
          <p:nvPr/>
        </p:nvSpPr>
        <p:spPr>
          <a:xfrm>
            <a:off x="590804" y="3233419"/>
            <a:ext cx="7376159" cy="1139825"/>
          </a:xfrm>
          <a:prstGeom prst="rect">
            <a:avLst/>
          </a:prstGeom>
          <a:noFill/>
          <a:ln>
            <a:noFill/>
          </a:ln>
        </p:spPr>
        <p:txBody>
          <a:bodyPr spcFirstLastPara="1" wrap="square" lIns="0" tIns="13325" rIns="0" bIns="0" anchor="t" anchorCtr="0">
            <a:spAutoFit/>
          </a:bodyPr>
          <a:lstStyle/>
          <a:p>
            <a:pPr marL="379730" marR="0" lvl="0" indent="-329565" algn="l" rtl="0">
              <a:lnSpc>
                <a:spcPct val="100000"/>
              </a:lnSpc>
              <a:spcBef>
                <a:spcPts val="0"/>
              </a:spcBef>
              <a:spcAft>
                <a:spcPts val="0"/>
              </a:spcAft>
              <a:buClr>
                <a:srgbClr val="000000"/>
              </a:buClr>
              <a:buSzPts val="1600"/>
              <a:buFont typeface="Arial"/>
              <a:buChar char="●"/>
            </a:pPr>
            <a:r>
              <a:rPr lang="en-US" sz="1600" b="1" i="0" u="none" strike="noStrike" cap="none">
                <a:solidFill>
                  <a:srgbClr val="000000"/>
                </a:solidFill>
                <a:latin typeface="Arial"/>
                <a:ea typeface="Arial"/>
                <a:cs typeface="Arial"/>
                <a:sym typeface="Arial"/>
              </a:rPr>
              <a:t>D </a:t>
            </a:r>
            <a:r>
              <a:rPr lang="en-US" sz="1600" b="0" i="0" u="none" strike="noStrike" cap="none">
                <a:solidFill>
                  <a:srgbClr val="000000"/>
                </a:solidFill>
                <a:latin typeface="Arial"/>
                <a:ea typeface="Arial"/>
                <a:cs typeface="Arial"/>
                <a:sym typeface="Arial"/>
              </a:rPr>
              <a:t>follows the chi-squared distribution with one degree of freedom, i.e. χ</a:t>
            </a:r>
            <a:r>
              <a:rPr lang="en-US" sz="1575" b="0" i="0" u="none" strike="noStrike" cap="none" baseline="-25000">
                <a:solidFill>
                  <a:srgbClr val="000000"/>
                </a:solidFill>
                <a:latin typeface="Arial"/>
                <a:ea typeface="Arial"/>
                <a:cs typeface="Arial"/>
                <a:sym typeface="Arial"/>
              </a:rPr>
              <a:t>1</a:t>
            </a:r>
            <a:endParaRPr sz="1575" b="0" i="0" u="none" strike="noStrike" cap="none" baseline="-25000">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797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Decision Rule: Reject 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if χ ≥ χ</a:t>
            </a:r>
            <a:r>
              <a:rPr lang="en-US" sz="1575" b="0" i="0" u="none" strike="noStrike" cap="none" baseline="-25000">
                <a:solidFill>
                  <a:srgbClr val="000000"/>
                </a:solidFill>
                <a:latin typeface="Arial"/>
                <a:ea typeface="Arial"/>
                <a:cs typeface="Arial"/>
                <a:sym typeface="Arial"/>
              </a:rPr>
              <a:t>α/2 </a:t>
            </a:r>
            <a:r>
              <a:rPr lang="en-US" sz="1600" b="0" i="0" u="none" strike="noStrike" cap="none">
                <a:solidFill>
                  <a:srgbClr val="000000"/>
                </a:solidFill>
                <a:latin typeface="Arial"/>
                <a:ea typeface="Arial"/>
                <a:cs typeface="Arial"/>
                <a:sym typeface="Arial"/>
              </a:rPr>
              <a:t>or if the p-value is less than the α (level of</a:t>
            </a:r>
            <a:endParaRPr sz="1600" b="0" i="0" u="none" strike="noStrike" cap="none">
              <a:solidFill>
                <a:srgbClr val="000000"/>
              </a:solidFill>
              <a:latin typeface="Arial"/>
              <a:ea typeface="Arial"/>
              <a:cs typeface="Arial"/>
              <a:sym typeface="Arial"/>
            </a:endParaRPr>
          </a:p>
          <a:p>
            <a:pPr marL="3797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significance)</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grpSp>
        <p:nvGrpSpPr>
          <p:cNvPr id="766" name="Google Shape;766;p76"/>
          <p:cNvGrpSpPr/>
          <p:nvPr/>
        </p:nvGrpSpPr>
        <p:grpSpPr>
          <a:xfrm>
            <a:off x="4224669" y="2284580"/>
            <a:ext cx="2027275" cy="453390"/>
            <a:chOff x="1900427" y="4119372"/>
            <a:chExt cx="3624579" cy="365760"/>
          </a:xfrm>
        </p:grpSpPr>
        <p:sp>
          <p:nvSpPr>
            <p:cNvPr id="767" name="Google Shape;767;p76"/>
            <p:cNvSpPr/>
            <p:nvPr/>
          </p:nvSpPr>
          <p:spPr>
            <a:xfrm>
              <a:off x="1900427" y="4119372"/>
              <a:ext cx="3624579" cy="365760"/>
            </a:xfrm>
            <a:custGeom>
              <a:avLst/>
              <a:gdLst/>
              <a:ahLst/>
              <a:cxnLst/>
              <a:rect l="l" t="t" r="r" b="b"/>
              <a:pathLst>
                <a:path w="3624579" h="365760" extrusionOk="0">
                  <a:moveTo>
                    <a:pt x="3563112" y="0"/>
                  </a:moveTo>
                  <a:lnTo>
                    <a:pt x="60960" y="0"/>
                  </a:lnTo>
                  <a:lnTo>
                    <a:pt x="37236" y="4790"/>
                  </a:lnTo>
                  <a:lnTo>
                    <a:pt x="17859" y="17854"/>
                  </a:lnTo>
                  <a:lnTo>
                    <a:pt x="4792" y="37231"/>
                  </a:lnTo>
                  <a:lnTo>
                    <a:pt x="0" y="60959"/>
                  </a:lnTo>
                  <a:lnTo>
                    <a:pt x="0" y="304799"/>
                  </a:lnTo>
                  <a:lnTo>
                    <a:pt x="4792" y="328528"/>
                  </a:lnTo>
                  <a:lnTo>
                    <a:pt x="17859" y="347905"/>
                  </a:lnTo>
                  <a:lnTo>
                    <a:pt x="37236" y="360969"/>
                  </a:lnTo>
                  <a:lnTo>
                    <a:pt x="60960" y="365759"/>
                  </a:lnTo>
                  <a:lnTo>
                    <a:pt x="3563112" y="365759"/>
                  </a:lnTo>
                  <a:lnTo>
                    <a:pt x="3586835" y="360969"/>
                  </a:lnTo>
                  <a:lnTo>
                    <a:pt x="3606212" y="347905"/>
                  </a:lnTo>
                  <a:lnTo>
                    <a:pt x="3619279" y="328528"/>
                  </a:lnTo>
                  <a:lnTo>
                    <a:pt x="3624072" y="304799"/>
                  </a:lnTo>
                  <a:lnTo>
                    <a:pt x="3624072" y="60959"/>
                  </a:lnTo>
                  <a:lnTo>
                    <a:pt x="3619279" y="37231"/>
                  </a:lnTo>
                  <a:lnTo>
                    <a:pt x="3606212" y="17854"/>
                  </a:lnTo>
                  <a:lnTo>
                    <a:pt x="3586835" y="4790"/>
                  </a:lnTo>
                  <a:lnTo>
                    <a:pt x="3563112"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8" name="Google Shape;768;p76"/>
            <p:cNvSpPr/>
            <p:nvPr/>
          </p:nvSpPr>
          <p:spPr>
            <a:xfrm>
              <a:off x="1900427" y="4119372"/>
              <a:ext cx="3624579" cy="365760"/>
            </a:xfrm>
            <a:custGeom>
              <a:avLst/>
              <a:gdLst/>
              <a:ahLst/>
              <a:cxnLst/>
              <a:rect l="l" t="t" r="r" b="b"/>
              <a:pathLst>
                <a:path w="3624579" h="365760" extrusionOk="0">
                  <a:moveTo>
                    <a:pt x="0" y="60959"/>
                  </a:moveTo>
                  <a:lnTo>
                    <a:pt x="4792" y="37231"/>
                  </a:lnTo>
                  <a:lnTo>
                    <a:pt x="17859" y="17854"/>
                  </a:lnTo>
                  <a:lnTo>
                    <a:pt x="37236" y="4790"/>
                  </a:lnTo>
                  <a:lnTo>
                    <a:pt x="60960" y="0"/>
                  </a:lnTo>
                  <a:lnTo>
                    <a:pt x="3563112" y="0"/>
                  </a:lnTo>
                  <a:lnTo>
                    <a:pt x="3586835" y="4790"/>
                  </a:lnTo>
                  <a:lnTo>
                    <a:pt x="3606212" y="17854"/>
                  </a:lnTo>
                  <a:lnTo>
                    <a:pt x="3619279" y="37231"/>
                  </a:lnTo>
                  <a:lnTo>
                    <a:pt x="3624072" y="60959"/>
                  </a:lnTo>
                  <a:lnTo>
                    <a:pt x="3624072" y="304799"/>
                  </a:lnTo>
                  <a:lnTo>
                    <a:pt x="3619279" y="328528"/>
                  </a:lnTo>
                  <a:lnTo>
                    <a:pt x="3606212" y="347905"/>
                  </a:lnTo>
                  <a:lnTo>
                    <a:pt x="3586835" y="360969"/>
                  </a:lnTo>
                  <a:lnTo>
                    <a:pt x="3563112" y="365759"/>
                  </a:lnTo>
                  <a:lnTo>
                    <a:pt x="60960" y="365759"/>
                  </a:lnTo>
                  <a:lnTo>
                    <a:pt x="37236" y="360969"/>
                  </a:lnTo>
                  <a:lnTo>
                    <a:pt x="17859" y="347905"/>
                  </a:lnTo>
                  <a:lnTo>
                    <a:pt x="4792" y="328528"/>
                  </a:lnTo>
                  <a:lnTo>
                    <a:pt x="0" y="304799"/>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69" name="Google Shape;769;p76"/>
          <p:cNvGrpSpPr/>
          <p:nvPr/>
        </p:nvGrpSpPr>
        <p:grpSpPr>
          <a:xfrm>
            <a:off x="1339702" y="2284580"/>
            <a:ext cx="1871332" cy="453390"/>
            <a:chOff x="1900427" y="4119372"/>
            <a:chExt cx="3624579" cy="365760"/>
          </a:xfrm>
        </p:grpSpPr>
        <p:sp>
          <p:nvSpPr>
            <p:cNvPr id="770" name="Google Shape;770;p76"/>
            <p:cNvSpPr/>
            <p:nvPr/>
          </p:nvSpPr>
          <p:spPr>
            <a:xfrm>
              <a:off x="1900427" y="4119372"/>
              <a:ext cx="3624579" cy="365760"/>
            </a:xfrm>
            <a:custGeom>
              <a:avLst/>
              <a:gdLst/>
              <a:ahLst/>
              <a:cxnLst/>
              <a:rect l="l" t="t" r="r" b="b"/>
              <a:pathLst>
                <a:path w="3624579" h="365760" extrusionOk="0">
                  <a:moveTo>
                    <a:pt x="3563112" y="0"/>
                  </a:moveTo>
                  <a:lnTo>
                    <a:pt x="60960" y="0"/>
                  </a:lnTo>
                  <a:lnTo>
                    <a:pt x="37236" y="4790"/>
                  </a:lnTo>
                  <a:lnTo>
                    <a:pt x="17859" y="17854"/>
                  </a:lnTo>
                  <a:lnTo>
                    <a:pt x="4792" y="37231"/>
                  </a:lnTo>
                  <a:lnTo>
                    <a:pt x="0" y="60959"/>
                  </a:lnTo>
                  <a:lnTo>
                    <a:pt x="0" y="304799"/>
                  </a:lnTo>
                  <a:lnTo>
                    <a:pt x="4792" y="328528"/>
                  </a:lnTo>
                  <a:lnTo>
                    <a:pt x="17859" y="347905"/>
                  </a:lnTo>
                  <a:lnTo>
                    <a:pt x="37236" y="360969"/>
                  </a:lnTo>
                  <a:lnTo>
                    <a:pt x="60960" y="365759"/>
                  </a:lnTo>
                  <a:lnTo>
                    <a:pt x="3563112" y="365759"/>
                  </a:lnTo>
                  <a:lnTo>
                    <a:pt x="3586835" y="360969"/>
                  </a:lnTo>
                  <a:lnTo>
                    <a:pt x="3606212" y="347905"/>
                  </a:lnTo>
                  <a:lnTo>
                    <a:pt x="3619279" y="328528"/>
                  </a:lnTo>
                  <a:lnTo>
                    <a:pt x="3624072" y="304799"/>
                  </a:lnTo>
                  <a:lnTo>
                    <a:pt x="3624072" y="60959"/>
                  </a:lnTo>
                  <a:lnTo>
                    <a:pt x="3619279" y="37231"/>
                  </a:lnTo>
                  <a:lnTo>
                    <a:pt x="3606212" y="17854"/>
                  </a:lnTo>
                  <a:lnTo>
                    <a:pt x="3586835" y="4790"/>
                  </a:lnTo>
                  <a:lnTo>
                    <a:pt x="3563112"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1" name="Google Shape;771;p76"/>
            <p:cNvSpPr/>
            <p:nvPr/>
          </p:nvSpPr>
          <p:spPr>
            <a:xfrm>
              <a:off x="1900427" y="4119372"/>
              <a:ext cx="3624579" cy="365760"/>
            </a:xfrm>
            <a:custGeom>
              <a:avLst/>
              <a:gdLst/>
              <a:ahLst/>
              <a:cxnLst/>
              <a:rect l="l" t="t" r="r" b="b"/>
              <a:pathLst>
                <a:path w="3624579" h="365760" extrusionOk="0">
                  <a:moveTo>
                    <a:pt x="0" y="60959"/>
                  </a:moveTo>
                  <a:lnTo>
                    <a:pt x="4792" y="37231"/>
                  </a:lnTo>
                  <a:lnTo>
                    <a:pt x="17859" y="17854"/>
                  </a:lnTo>
                  <a:lnTo>
                    <a:pt x="37236" y="4790"/>
                  </a:lnTo>
                  <a:lnTo>
                    <a:pt x="60960" y="0"/>
                  </a:lnTo>
                  <a:lnTo>
                    <a:pt x="3563112" y="0"/>
                  </a:lnTo>
                  <a:lnTo>
                    <a:pt x="3586835" y="4790"/>
                  </a:lnTo>
                  <a:lnTo>
                    <a:pt x="3606212" y="17854"/>
                  </a:lnTo>
                  <a:lnTo>
                    <a:pt x="3619279" y="37231"/>
                  </a:lnTo>
                  <a:lnTo>
                    <a:pt x="3624072" y="60959"/>
                  </a:lnTo>
                  <a:lnTo>
                    <a:pt x="3624072" y="304799"/>
                  </a:lnTo>
                  <a:lnTo>
                    <a:pt x="3619279" y="328528"/>
                  </a:lnTo>
                  <a:lnTo>
                    <a:pt x="3606212" y="347905"/>
                  </a:lnTo>
                  <a:lnTo>
                    <a:pt x="3586835" y="360969"/>
                  </a:lnTo>
                  <a:lnTo>
                    <a:pt x="3563112" y="365759"/>
                  </a:lnTo>
                  <a:lnTo>
                    <a:pt x="60960" y="365759"/>
                  </a:lnTo>
                  <a:lnTo>
                    <a:pt x="37236" y="360969"/>
                  </a:lnTo>
                  <a:lnTo>
                    <a:pt x="17859" y="347905"/>
                  </a:lnTo>
                  <a:lnTo>
                    <a:pt x="4792" y="328528"/>
                  </a:lnTo>
                  <a:lnTo>
                    <a:pt x="0" y="304799"/>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72" name="Google Shape;772;p76"/>
          <p:cNvGrpSpPr/>
          <p:nvPr/>
        </p:nvGrpSpPr>
        <p:grpSpPr>
          <a:xfrm>
            <a:off x="1900427" y="4119372"/>
            <a:ext cx="3624579" cy="365760"/>
            <a:chOff x="1900427" y="4119372"/>
            <a:chExt cx="3624579" cy="365760"/>
          </a:xfrm>
        </p:grpSpPr>
        <p:sp>
          <p:nvSpPr>
            <p:cNvPr id="773" name="Google Shape;773;p76"/>
            <p:cNvSpPr/>
            <p:nvPr/>
          </p:nvSpPr>
          <p:spPr>
            <a:xfrm>
              <a:off x="1900427" y="4119372"/>
              <a:ext cx="3624579" cy="365760"/>
            </a:xfrm>
            <a:custGeom>
              <a:avLst/>
              <a:gdLst/>
              <a:ahLst/>
              <a:cxnLst/>
              <a:rect l="l" t="t" r="r" b="b"/>
              <a:pathLst>
                <a:path w="3624579" h="365760" extrusionOk="0">
                  <a:moveTo>
                    <a:pt x="3563112" y="0"/>
                  </a:moveTo>
                  <a:lnTo>
                    <a:pt x="60960" y="0"/>
                  </a:lnTo>
                  <a:lnTo>
                    <a:pt x="37236" y="4790"/>
                  </a:lnTo>
                  <a:lnTo>
                    <a:pt x="17859" y="17854"/>
                  </a:lnTo>
                  <a:lnTo>
                    <a:pt x="4792" y="37231"/>
                  </a:lnTo>
                  <a:lnTo>
                    <a:pt x="0" y="60959"/>
                  </a:lnTo>
                  <a:lnTo>
                    <a:pt x="0" y="304799"/>
                  </a:lnTo>
                  <a:lnTo>
                    <a:pt x="4792" y="328528"/>
                  </a:lnTo>
                  <a:lnTo>
                    <a:pt x="17859" y="347905"/>
                  </a:lnTo>
                  <a:lnTo>
                    <a:pt x="37236" y="360969"/>
                  </a:lnTo>
                  <a:lnTo>
                    <a:pt x="60960" y="365759"/>
                  </a:lnTo>
                  <a:lnTo>
                    <a:pt x="3563112" y="365759"/>
                  </a:lnTo>
                  <a:lnTo>
                    <a:pt x="3586835" y="360969"/>
                  </a:lnTo>
                  <a:lnTo>
                    <a:pt x="3606212" y="347905"/>
                  </a:lnTo>
                  <a:lnTo>
                    <a:pt x="3619279" y="328528"/>
                  </a:lnTo>
                  <a:lnTo>
                    <a:pt x="3624072" y="304799"/>
                  </a:lnTo>
                  <a:lnTo>
                    <a:pt x="3624072" y="60959"/>
                  </a:lnTo>
                  <a:lnTo>
                    <a:pt x="3619279" y="37231"/>
                  </a:lnTo>
                  <a:lnTo>
                    <a:pt x="3606212" y="17854"/>
                  </a:lnTo>
                  <a:lnTo>
                    <a:pt x="3586835" y="4790"/>
                  </a:lnTo>
                  <a:lnTo>
                    <a:pt x="3563112"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4" name="Google Shape;774;p76"/>
            <p:cNvSpPr/>
            <p:nvPr/>
          </p:nvSpPr>
          <p:spPr>
            <a:xfrm>
              <a:off x="1900427" y="4119372"/>
              <a:ext cx="3624579" cy="365760"/>
            </a:xfrm>
            <a:custGeom>
              <a:avLst/>
              <a:gdLst/>
              <a:ahLst/>
              <a:cxnLst/>
              <a:rect l="l" t="t" r="r" b="b"/>
              <a:pathLst>
                <a:path w="3624579" h="365760" extrusionOk="0">
                  <a:moveTo>
                    <a:pt x="0" y="60959"/>
                  </a:moveTo>
                  <a:lnTo>
                    <a:pt x="4792" y="37231"/>
                  </a:lnTo>
                  <a:lnTo>
                    <a:pt x="17859" y="17854"/>
                  </a:lnTo>
                  <a:lnTo>
                    <a:pt x="37236" y="4790"/>
                  </a:lnTo>
                  <a:lnTo>
                    <a:pt x="60960" y="0"/>
                  </a:lnTo>
                  <a:lnTo>
                    <a:pt x="3563112" y="0"/>
                  </a:lnTo>
                  <a:lnTo>
                    <a:pt x="3586835" y="4790"/>
                  </a:lnTo>
                  <a:lnTo>
                    <a:pt x="3606212" y="17854"/>
                  </a:lnTo>
                  <a:lnTo>
                    <a:pt x="3619279" y="37231"/>
                  </a:lnTo>
                  <a:lnTo>
                    <a:pt x="3624072" y="60959"/>
                  </a:lnTo>
                  <a:lnTo>
                    <a:pt x="3624072" y="304799"/>
                  </a:lnTo>
                  <a:lnTo>
                    <a:pt x="3619279" y="328528"/>
                  </a:lnTo>
                  <a:lnTo>
                    <a:pt x="3606212" y="347905"/>
                  </a:lnTo>
                  <a:lnTo>
                    <a:pt x="3586835" y="360969"/>
                  </a:lnTo>
                  <a:lnTo>
                    <a:pt x="3563112" y="365759"/>
                  </a:lnTo>
                  <a:lnTo>
                    <a:pt x="60960" y="365759"/>
                  </a:lnTo>
                  <a:lnTo>
                    <a:pt x="37236" y="360969"/>
                  </a:lnTo>
                  <a:lnTo>
                    <a:pt x="17859" y="347905"/>
                  </a:lnTo>
                  <a:lnTo>
                    <a:pt x="4792" y="328528"/>
                  </a:lnTo>
                  <a:lnTo>
                    <a:pt x="0" y="304799"/>
                  </a:lnTo>
                  <a:lnTo>
                    <a:pt x="0" y="60959"/>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75" name="Google Shape;775;p76"/>
          <p:cNvGrpSpPr/>
          <p:nvPr/>
        </p:nvGrpSpPr>
        <p:grpSpPr>
          <a:xfrm>
            <a:off x="1900427" y="3656075"/>
            <a:ext cx="3624579" cy="365760"/>
            <a:chOff x="1900427" y="3656075"/>
            <a:chExt cx="3624579" cy="365760"/>
          </a:xfrm>
        </p:grpSpPr>
        <p:sp>
          <p:nvSpPr>
            <p:cNvPr id="776" name="Google Shape;776;p76"/>
            <p:cNvSpPr/>
            <p:nvPr/>
          </p:nvSpPr>
          <p:spPr>
            <a:xfrm>
              <a:off x="1900427" y="3656075"/>
              <a:ext cx="3624579" cy="365760"/>
            </a:xfrm>
            <a:custGeom>
              <a:avLst/>
              <a:gdLst/>
              <a:ahLst/>
              <a:cxnLst/>
              <a:rect l="l" t="t" r="r" b="b"/>
              <a:pathLst>
                <a:path w="3624579" h="365760" extrusionOk="0">
                  <a:moveTo>
                    <a:pt x="3563112" y="0"/>
                  </a:moveTo>
                  <a:lnTo>
                    <a:pt x="60960" y="0"/>
                  </a:lnTo>
                  <a:lnTo>
                    <a:pt x="37236" y="4792"/>
                  </a:lnTo>
                  <a:lnTo>
                    <a:pt x="17859" y="17859"/>
                  </a:lnTo>
                  <a:lnTo>
                    <a:pt x="4792" y="37236"/>
                  </a:lnTo>
                  <a:lnTo>
                    <a:pt x="0" y="60960"/>
                  </a:lnTo>
                  <a:lnTo>
                    <a:pt x="0" y="304800"/>
                  </a:lnTo>
                  <a:lnTo>
                    <a:pt x="4792" y="328528"/>
                  </a:lnTo>
                  <a:lnTo>
                    <a:pt x="17859" y="347905"/>
                  </a:lnTo>
                  <a:lnTo>
                    <a:pt x="37236" y="360969"/>
                  </a:lnTo>
                  <a:lnTo>
                    <a:pt x="60960" y="365760"/>
                  </a:lnTo>
                  <a:lnTo>
                    <a:pt x="3563112" y="365760"/>
                  </a:lnTo>
                  <a:lnTo>
                    <a:pt x="3586835" y="360969"/>
                  </a:lnTo>
                  <a:lnTo>
                    <a:pt x="3606212" y="347905"/>
                  </a:lnTo>
                  <a:lnTo>
                    <a:pt x="3619279" y="328528"/>
                  </a:lnTo>
                  <a:lnTo>
                    <a:pt x="3624072" y="304800"/>
                  </a:lnTo>
                  <a:lnTo>
                    <a:pt x="3624072" y="60960"/>
                  </a:lnTo>
                  <a:lnTo>
                    <a:pt x="3619279" y="37236"/>
                  </a:lnTo>
                  <a:lnTo>
                    <a:pt x="3606212" y="17859"/>
                  </a:lnTo>
                  <a:lnTo>
                    <a:pt x="3586835" y="4792"/>
                  </a:lnTo>
                  <a:lnTo>
                    <a:pt x="3563112"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7" name="Google Shape;777;p76"/>
            <p:cNvSpPr/>
            <p:nvPr/>
          </p:nvSpPr>
          <p:spPr>
            <a:xfrm>
              <a:off x="1900427" y="3656075"/>
              <a:ext cx="3624579" cy="365760"/>
            </a:xfrm>
            <a:custGeom>
              <a:avLst/>
              <a:gdLst/>
              <a:ahLst/>
              <a:cxnLst/>
              <a:rect l="l" t="t" r="r" b="b"/>
              <a:pathLst>
                <a:path w="3624579" h="365760" extrusionOk="0">
                  <a:moveTo>
                    <a:pt x="0" y="60960"/>
                  </a:moveTo>
                  <a:lnTo>
                    <a:pt x="4792" y="37236"/>
                  </a:lnTo>
                  <a:lnTo>
                    <a:pt x="17859" y="17859"/>
                  </a:lnTo>
                  <a:lnTo>
                    <a:pt x="37236" y="4792"/>
                  </a:lnTo>
                  <a:lnTo>
                    <a:pt x="60960" y="0"/>
                  </a:lnTo>
                  <a:lnTo>
                    <a:pt x="3563112" y="0"/>
                  </a:lnTo>
                  <a:lnTo>
                    <a:pt x="3586835" y="4792"/>
                  </a:lnTo>
                  <a:lnTo>
                    <a:pt x="3606212" y="17859"/>
                  </a:lnTo>
                  <a:lnTo>
                    <a:pt x="3619279" y="37236"/>
                  </a:lnTo>
                  <a:lnTo>
                    <a:pt x="3624072" y="60960"/>
                  </a:lnTo>
                  <a:lnTo>
                    <a:pt x="3624072" y="304800"/>
                  </a:lnTo>
                  <a:lnTo>
                    <a:pt x="3619279" y="328528"/>
                  </a:lnTo>
                  <a:lnTo>
                    <a:pt x="3606212" y="347905"/>
                  </a:lnTo>
                  <a:lnTo>
                    <a:pt x="3586835" y="360969"/>
                  </a:lnTo>
                  <a:lnTo>
                    <a:pt x="3563112" y="365760"/>
                  </a:lnTo>
                  <a:lnTo>
                    <a:pt x="60960" y="365760"/>
                  </a:lnTo>
                  <a:lnTo>
                    <a:pt x="37236" y="360969"/>
                  </a:lnTo>
                  <a:lnTo>
                    <a:pt x="17859" y="347905"/>
                  </a:lnTo>
                  <a:lnTo>
                    <a:pt x="4792" y="328528"/>
                  </a:lnTo>
                  <a:lnTo>
                    <a:pt x="0" y="304800"/>
                  </a:lnTo>
                  <a:lnTo>
                    <a:pt x="0" y="60960"/>
                  </a:lnTo>
                  <a:close/>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78" name="Google Shape;778;p76"/>
          <p:cNvSpPr txBox="1"/>
          <p:nvPr/>
        </p:nvSpPr>
        <p:spPr>
          <a:xfrm>
            <a:off x="619963" y="1645106"/>
            <a:ext cx="7945120" cy="963294"/>
          </a:xfrm>
          <a:prstGeom prst="rect">
            <a:avLst/>
          </a:prstGeom>
          <a:noFill/>
          <a:ln>
            <a:noFill/>
          </a:ln>
        </p:spPr>
        <p:txBody>
          <a:bodyPr spcFirstLastPara="1" wrap="square" lIns="0" tIns="13950" rIns="0" bIns="0" anchor="t" anchorCtr="0">
            <a:spAutoFit/>
          </a:bodyPr>
          <a:lstStyle/>
          <a:p>
            <a:pPr marL="3670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hypothesis for testing all coefficient in logistic regression can be extended from</a:t>
            </a:r>
            <a:endParaRPr sz="1600" b="0" i="0" u="none" strike="noStrike" cap="none">
              <a:solidFill>
                <a:srgbClr val="000000"/>
              </a:solidFill>
              <a:latin typeface="Arial"/>
              <a:ea typeface="Arial"/>
              <a:cs typeface="Arial"/>
              <a:sym typeface="Arial"/>
            </a:endParaRPr>
          </a:p>
          <a:p>
            <a:pPr marL="3670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previous test for one coefficient as follows</a:t>
            </a:r>
            <a:endParaRPr sz="1600" b="0" i="0" u="none" strike="noStrike" cap="none">
              <a:solidFill>
                <a:srgbClr val="000000"/>
              </a:solidFill>
              <a:latin typeface="Arial"/>
              <a:ea typeface="Arial"/>
              <a:cs typeface="Arial"/>
              <a:sym typeface="Arial"/>
            </a:endParaRPr>
          </a:p>
          <a:p>
            <a:pPr marL="824230" marR="0" lvl="0" indent="0" algn="l" rtl="0">
              <a:lnSpc>
                <a:spcPct val="100000"/>
              </a:lnSpc>
              <a:spcBef>
                <a:spcPts val="161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t>
            </a:r>
            <a:r>
              <a:rPr lang="en-US" sz="1575" b="0" i="0" u="none" strike="noStrike" cap="none" baseline="-25000">
                <a:solidFill>
                  <a:srgbClr val="000000"/>
                </a:solidFill>
                <a:latin typeface="Arial"/>
                <a:ea typeface="Arial"/>
                <a:cs typeface="Arial"/>
                <a:sym typeface="Arial"/>
              </a:rPr>
              <a:t>0</a:t>
            </a:r>
            <a:r>
              <a:rPr lang="en-US" sz="1600" b="0" i="0" u="none" strike="noStrike" cap="none">
                <a:solidFill>
                  <a:srgbClr val="000000"/>
                </a:solidFill>
                <a:latin typeface="Arial"/>
                <a:ea typeface="Arial"/>
                <a:cs typeface="Arial"/>
                <a:sym typeface="Arial"/>
              </a:rPr>
              <a:t>: β</a:t>
            </a:r>
            <a:r>
              <a:rPr lang="en-US" sz="1575" b="0" i="0" u="none" strike="noStrike" cap="none" baseline="-25000">
                <a:solidFill>
                  <a:srgbClr val="000000"/>
                </a:solidFill>
                <a:latin typeface="Arial"/>
                <a:ea typeface="Arial"/>
                <a:cs typeface="Arial"/>
                <a:sym typeface="Arial"/>
              </a:rPr>
              <a:t>1  </a:t>
            </a:r>
            <a:r>
              <a:rPr lang="en-US" sz="1600" b="0" i="0" u="none" strike="noStrike" cap="none">
                <a:solidFill>
                  <a:srgbClr val="000000"/>
                </a:solidFill>
                <a:latin typeface="Arial"/>
                <a:ea typeface="Arial"/>
                <a:cs typeface="Arial"/>
                <a:sym typeface="Arial"/>
              </a:rPr>
              <a:t>= β</a:t>
            </a:r>
            <a:r>
              <a:rPr lang="en-US" sz="1575" b="0" i="0" u="none" strike="noStrike" cap="none" baseline="-25000">
                <a:solidFill>
                  <a:srgbClr val="000000"/>
                </a:solidFill>
                <a:latin typeface="Arial"/>
                <a:ea typeface="Arial"/>
                <a:cs typeface="Arial"/>
                <a:sym typeface="Arial"/>
              </a:rPr>
              <a:t>2  </a:t>
            </a:r>
            <a:r>
              <a:rPr lang="en-US" sz="1600" b="0" i="0" u="none" strike="noStrike" cap="none">
                <a:solidFill>
                  <a:srgbClr val="000000"/>
                </a:solidFill>
                <a:latin typeface="Arial"/>
                <a:ea typeface="Arial"/>
                <a:cs typeface="Arial"/>
                <a:sym typeface="Arial"/>
              </a:rPr>
              <a:t>= β</a:t>
            </a:r>
            <a:r>
              <a:rPr lang="en-US" sz="1575" b="0" i="0" u="none" strike="noStrike" cap="none" baseline="-25000">
                <a:solidFill>
                  <a:srgbClr val="000000"/>
                </a:solidFill>
                <a:latin typeface="Arial"/>
                <a:ea typeface="Arial"/>
                <a:cs typeface="Arial"/>
                <a:sym typeface="Arial"/>
              </a:rPr>
              <a:t>3 </a:t>
            </a:r>
            <a:r>
              <a:rPr lang="en-US" sz="1600" b="0" i="0" u="none" strike="noStrike" cap="none">
                <a:solidFill>
                  <a:srgbClr val="000000"/>
                </a:solidFill>
                <a:latin typeface="Arial"/>
                <a:ea typeface="Arial"/>
                <a:cs typeface="Arial"/>
                <a:sym typeface="Arial"/>
              </a:rPr>
              <a:t>= 0	against	H</a:t>
            </a:r>
            <a:r>
              <a:rPr lang="en-US" sz="1575" b="0" i="0" u="none" strike="noStrike" cap="none" baseline="-25000">
                <a:solidFill>
                  <a:srgbClr val="000000"/>
                </a:solidFill>
                <a:latin typeface="Arial"/>
                <a:ea typeface="Arial"/>
                <a:cs typeface="Arial"/>
                <a:sym typeface="Arial"/>
              </a:rPr>
              <a:t>1</a:t>
            </a:r>
            <a:r>
              <a:rPr lang="en-US" sz="1600" b="0" i="0" u="none" strike="noStrike" cap="none">
                <a:solidFill>
                  <a:srgbClr val="000000"/>
                </a:solidFill>
                <a:latin typeface="Arial"/>
                <a:ea typeface="Arial"/>
                <a:cs typeface="Arial"/>
                <a:sym typeface="Arial"/>
              </a:rPr>
              <a:t>: At least one β</a:t>
            </a:r>
            <a:r>
              <a:rPr lang="en-US" sz="1575" b="0" i="0" u="none" strike="noStrike" cap="none" baseline="-25000">
                <a:solidFill>
                  <a:srgbClr val="000000"/>
                </a:solidFill>
                <a:latin typeface="Arial"/>
                <a:ea typeface="Arial"/>
                <a:cs typeface="Arial"/>
                <a:sym typeface="Arial"/>
              </a:rPr>
              <a:t>k </a:t>
            </a:r>
            <a:r>
              <a:rPr lang="en-US" sz="1600" b="0" i="0" u="none" strike="noStrike" cap="none">
                <a:solidFill>
                  <a:srgbClr val="000000"/>
                </a:solidFill>
                <a:latin typeface="Arial"/>
                <a:ea typeface="Arial"/>
                <a:cs typeface="Arial"/>
                <a:sym typeface="Arial"/>
              </a:rPr>
              <a:t>≠ 0	(k =1,2,3)</a:t>
            </a:r>
            <a:endParaRPr sz="1600" b="0" i="0" u="none" strike="noStrike" cap="none">
              <a:solidFill>
                <a:srgbClr val="000000"/>
              </a:solidFill>
              <a:latin typeface="Arial"/>
              <a:ea typeface="Arial"/>
              <a:cs typeface="Arial"/>
              <a:sym typeface="Arial"/>
            </a:endParaRPr>
          </a:p>
        </p:txBody>
      </p:sp>
      <p:sp>
        <p:nvSpPr>
          <p:cNvPr id="779" name="Google Shape;779;p76"/>
          <p:cNvSpPr txBox="1"/>
          <p:nvPr/>
        </p:nvSpPr>
        <p:spPr>
          <a:xfrm>
            <a:off x="632663" y="3230956"/>
            <a:ext cx="4787265" cy="719455"/>
          </a:xfrm>
          <a:prstGeom prst="rect">
            <a:avLst/>
          </a:prstGeom>
          <a:noFill/>
          <a:ln>
            <a:noFill/>
          </a:ln>
        </p:spPr>
        <p:txBody>
          <a:bodyPr spcFirstLastPara="1" wrap="square" lIns="0" tIns="13950" rIns="0" bIns="0" anchor="t" anchorCtr="0">
            <a:spAutoFit/>
          </a:bodyPr>
          <a:lstStyle/>
          <a:p>
            <a:pPr marL="3543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implies</a:t>
            </a:r>
            <a:endParaRPr sz="1600" b="0" i="0" u="none" strike="noStrike" cap="none">
              <a:solidFill>
                <a:srgbClr val="000000"/>
              </a:solidFill>
              <a:latin typeface="Arial"/>
              <a:ea typeface="Arial"/>
              <a:cs typeface="Arial"/>
              <a:sym typeface="Arial"/>
            </a:endParaRPr>
          </a:p>
          <a:p>
            <a:pPr marL="1327150" marR="0" lvl="0" indent="0" algn="l" rtl="0">
              <a:lnSpc>
                <a:spcPct val="100000"/>
              </a:lnSpc>
              <a:spcBef>
                <a:spcPts val="161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t>
            </a:r>
            <a:r>
              <a:rPr lang="en-US" sz="1575" b="0" i="0" u="none" strike="noStrike" cap="none" baseline="-25000">
                <a:solidFill>
                  <a:srgbClr val="000000"/>
                </a:solidFill>
                <a:latin typeface="Arial"/>
                <a:ea typeface="Arial"/>
                <a:cs typeface="Arial"/>
                <a:sym typeface="Arial"/>
              </a:rPr>
              <a:t>0</a:t>
            </a:r>
            <a:r>
              <a:rPr lang="en-US" sz="1600" b="0" i="0" u="none" strike="noStrike" cap="none">
                <a:solidFill>
                  <a:srgbClr val="000000"/>
                </a:solidFill>
                <a:latin typeface="Arial"/>
                <a:ea typeface="Arial"/>
                <a:cs typeface="Arial"/>
                <a:sym typeface="Arial"/>
              </a:rPr>
              <a:t>: the logistic model is not significant</a:t>
            </a:r>
            <a:endParaRPr sz="1600" b="0" i="0" u="none" strike="noStrike" cap="none">
              <a:solidFill>
                <a:srgbClr val="000000"/>
              </a:solidFill>
              <a:latin typeface="Arial"/>
              <a:ea typeface="Arial"/>
              <a:cs typeface="Arial"/>
              <a:sym typeface="Arial"/>
            </a:endParaRPr>
          </a:p>
        </p:txBody>
      </p:sp>
      <p:sp>
        <p:nvSpPr>
          <p:cNvPr id="780" name="Google Shape;780;p76"/>
          <p:cNvSpPr txBox="1"/>
          <p:nvPr/>
        </p:nvSpPr>
        <p:spPr>
          <a:xfrm>
            <a:off x="974852" y="4124655"/>
            <a:ext cx="682625"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against</a:t>
            </a:r>
            <a:endParaRPr sz="1600" b="0" i="0" u="none" strike="noStrike" cap="none">
              <a:solidFill>
                <a:srgbClr val="000000"/>
              </a:solidFill>
              <a:latin typeface="Arial"/>
              <a:ea typeface="Arial"/>
              <a:cs typeface="Arial"/>
              <a:sym typeface="Arial"/>
            </a:endParaRPr>
          </a:p>
        </p:txBody>
      </p:sp>
      <p:sp>
        <p:nvSpPr>
          <p:cNvPr id="781" name="Google Shape;781;p76"/>
          <p:cNvSpPr txBox="1"/>
          <p:nvPr/>
        </p:nvSpPr>
        <p:spPr>
          <a:xfrm>
            <a:off x="1900427" y="4161312"/>
            <a:ext cx="3154045" cy="260307"/>
          </a:xfrm>
          <a:prstGeom prst="rect">
            <a:avLst/>
          </a:prstGeom>
          <a:noFill/>
          <a:ln>
            <a:noFill/>
          </a:ln>
        </p:spPr>
        <p:txBody>
          <a:bodyPr spcFirstLastPara="1" wrap="square" lIns="0" tIns="13950" rIns="0" bIns="0" anchor="t" anchorCtr="0">
            <a:spAutoFit/>
          </a:bodyPr>
          <a:lstStyle/>
          <a:p>
            <a:pPr marL="381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a:t>
            </a:r>
            <a:r>
              <a:rPr lang="en-US" sz="1575" b="0" i="0" u="none" strike="noStrike" cap="none" baseline="-25000">
                <a:solidFill>
                  <a:srgbClr val="000000"/>
                </a:solidFill>
                <a:latin typeface="Arial"/>
                <a:ea typeface="Arial"/>
                <a:cs typeface="Arial"/>
                <a:sym typeface="Arial"/>
              </a:rPr>
              <a:t>1</a:t>
            </a:r>
            <a:r>
              <a:rPr lang="en-US" sz="1600" b="0" i="0" u="none" strike="noStrike" cap="none">
                <a:solidFill>
                  <a:srgbClr val="000000"/>
                </a:solidFill>
                <a:latin typeface="Arial"/>
                <a:ea typeface="Arial"/>
                <a:cs typeface="Arial"/>
                <a:sym typeface="Arial"/>
              </a:rPr>
              <a:t>: the logistic model is significant</a:t>
            </a:r>
            <a:endParaRPr sz="1600" b="0" i="0" u="none" strike="noStrike" cap="none">
              <a:solidFill>
                <a:srgbClr val="000000"/>
              </a:solidFill>
              <a:latin typeface="Arial"/>
              <a:ea typeface="Arial"/>
              <a:cs typeface="Arial"/>
              <a:sym typeface="Arial"/>
            </a:endParaRPr>
          </a:p>
        </p:txBody>
      </p:sp>
      <p:sp>
        <p:nvSpPr>
          <p:cNvPr id="782" name="Google Shape;782;p76"/>
          <p:cNvSpPr txBox="1">
            <a:spLocks noGrp="1"/>
          </p:cNvSpPr>
          <p:nvPr>
            <p:ph type="title"/>
          </p:nvPr>
        </p:nvSpPr>
        <p:spPr>
          <a:xfrm>
            <a:off x="500887" y="512191"/>
            <a:ext cx="4403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model - LRT</a:t>
            </a:r>
            <a:endParaRPr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77"/>
          <p:cNvSpPr txBox="1">
            <a:spLocks noGrp="1"/>
          </p:cNvSpPr>
          <p:nvPr>
            <p:ph type="title"/>
          </p:nvPr>
        </p:nvSpPr>
        <p:spPr>
          <a:xfrm>
            <a:off x="500887" y="512191"/>
            <a:ext cx="4403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Significance of model - LRT</a:t>
            </a:r>
            <a:endParaRPr sz="2800"/>
          </a:p>
        </p:txBody>
      </p:sp>
      <p:sp>
        <p:nvSpPr>
          <p:cNvPr id="788" name="Google Shape;788;p77"/>
          <p:cNvSpPr txBox="1"/>
          <p:nvPr/>
        </p:nvSpPr>
        <p:spPr>
          <a:xfrm>
            <a:off x="628904" y="1645106"/>
            <a:ext cx="3456304"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The likelihood ratio test is given by</a:t>
            </a:r>
            <a:endParaRPr sz="1600" b="0" i="0" u="none" strike="noStrike" cap="none">
              <a:solidFill>
                <a:srgbClr val="000000"/>
              </a:solidFill>
              <a:latin typeface="Arial"/>
              <a:ea typeface="Arial"/>
              <a:cs typeface="Arial"/>
              <a:sym typeface="Arial"/>
            </a:endParaRPr>
          </a:p>
        </p:txBody>
      </p:sp>
      <p:sp>
        <p:nvSpPr>
          <p:cNvPr id="789" name="Google Shape;789;p77"/>
          <p:cNvSpPr/>
          <p:nvPr/>
        </p:nvSpPr>
        <p:spPr>
          <a:xfrm>
            <a:off x="1895775" y="2328222"/>
            <a:ext cx="4758648" cy="51270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0" name="Google Shape;790;p77"/>
          <p:cNvSpPr txBox="1"/>
          <p:nvPr/>
        </p:nvSpPr>
        <p:spPr>
          <a:xfrm>
            <a:off x="590804" y="3233419"/>
            <a:ext cx="7376159" cy="1139825"/>
          </a:xfrm>
          <a:prstGeom prst="rect">
            <a:avLst/>
          </a:prstGeom>
          <a:noFill/>
          <a:ln>
            <a:noFill/>
          </a:ln>
        </p:spPr>
        <p:txBody>
          <a:bodyPr spcFirstLastPara="1" wrap="square" lIns="0" tIns="13325" rIns="0" bIns="0" anchor="t" anchorCtr="0">
            <a:spAutoFit/>
          </a:bodyPr>
          <a:lstStyle/>
          <a:p>
            <a:pPr marL="3797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D follows the chi-squared distribution with one degree of freedom, i.e. χ</a:t>
            </a:r>
            <a:r>
              <a:rPr lang="en-US" sz="1575" b="0" i="0" u="none" strike="noStrike" cap="none" baseline="-25000">
                <a:solidFill>
                  <a:srgbClr val="000000"/>
                </a:solidFill>
                <a:latin typeface="Arial"/>
                <a:ea typeface="Arial"/>
                <a:cs typeface="Arial"/>
                <a:sym typeface="Arial"/>
              </a:rPr>
              <a:t>1</a:t>
            </a:r>
            <a:endParaRPr sz="1575" b="0" i="0" u="none" strike="noStrike" cap="none" baseline="-25000">
              <a:solidFill>
                <a:srgbClr val="000000"/>
              </a:solidFill>
              <a:latin typeface="Arial"/>
              <a:ea typeface="Arial"/>
              <a:cs typeface="Arial"/>
              <a:sym typeface="Arial"/>
            </a:endParaRPr>
          </a:p>
          <a:p>
            <a:pPr marL="0" marR="0" lvl="0" indent="0" algn="l" rtl="0">
              <a:lnSpc>
                <a:spcPct val="100000"/>
              </a:lnSpc>
              <a:spcBef>
                <a:spcPts val="15"/>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a:p>
            <a:pPr marL="3797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Decision Rule: Reject H</a:t>
            </a:r>
            <a:r>
              <a:rPr lang="en-US" sz="1575" b="0" i="0" u="none" strike="noStrike" cap="none" baseline="-25000">
                <a:solidFill>
                  <a:srgbClr val="000000"/>
                </a:solidFill>
                <a:latin typeface="Arial"/>
                <a:ea typeface="Arial"/>
                <a:cs typeface="Arial"/>
                <a:sym typeface="Arial"/>
              </a:rPr>
              <a:t>0 </a:t>
            </a:r>
            <a:r>
              <a:rPr lang="en-US" sz="1600" b="0" i="0" u="none" strike="noStrike" cap="none">
                <a:solidFill>
                  <a:srgbClr val="000000"/>
                </a:solidFill>
                <a:latin typeface="Arial"/>
                <a:ea typeface="Arial"/>
                <a:cs typeface="Arial"/>
                <a:sym typeface="Arial"/>
              </a:rPr>
              <a:t>if χ ≥ χ</a:t>
            </a:r>
            <a:r>
              <a:rPr lang="en-US" sz="1575" b="0" i="0" u="none" strike="noStrike" cap="none" baseline="-25000">
                <a:solidFill>
                  <a:srgbClr val="000000"/>
                </a:solidFill>
                <a:latin typeface="Arial"/>
                <a:ea typeface="Arial"/>
                <a:cs typeface="Arial"/>
                <a:sym typeface="Arial"/>
              </a:rPr>
              <a:t>α/2 </a:t>
            </a:r>
            <a:r>
              <a:rPr lang="en-US" sz="1600" b="0" i="0" u="none" strike="noStrike" cap="none">
                <a:solidFill>
                  <a:srgbClr val="000000"/>
                </a:solidFill>
                <a:latin typeface="Arial"/>
                <a:ea typeface="Arial"/>
                <a:cs typeface="Arial"/>
                <a:sym typeface="Arial"/>
              </a:rPr>
              <a:t>or if the p-value is less than the α (level of</a:t>
            </a:r>
            <a:endParaRPr sz="1600" b="0" i="0" u="none" strike="noStrike" cap="none">
              <a:solidFill>
                <a:srgbClr val="000000"/>
              </a:solidFill>
              <a:latin typeface="Arial"/>
              <a:ea typeface="Arial"/>
              <a:cs typeface="Arial"/>
              <a:sym typeface="Arial"/>
            </a:endParaRPr>
          </a:p>
          <a:p>
            <a:pPr marL="3797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significance)</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78"/>
          <p:cNvSpPr txBox="1">
            <a:spLocks noGrp="1"/>
          </p:cNvSpPr>
          <p:nvPr>
            <p:ph type="title"/>
          </p:nvPr>
        </p:nvSpPr>
        <p:spPr>
          <a:xfrm>
            <a:off x="390550" y="2240356"/>
            <a:ext cx="57054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Model Evaluation Metrics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90"/>
          <p:cNvSpPr txBox="1">
            <a:spLocks noGrp="1"/>
          </p:cNvSpPr>
          <p:nvPr>
            <p:ph type="title"/>
          </p:nvPr>
        </p:nvSpPr>
        <p:spPr>
          <a:xfrm>
            <a:off x="390550" y="2240356"/>
            <a:ext cx="68409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Model Performance Measures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91"/>
          <p:cNvSpPr txBox="1">
            <a:spLocks noGrp="1"/>
          </p:cNvSpPr>
          <p:nvPr>
            <p:ph type="title"/>
          </p:nvPr>
        </p:nvSpPr>
        <p:spPr>
          <a:xfrm>
            <a:off x="500887" y="512191"/>
            <a:ext cx="3314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Performance metrics</a:t>
            </a:r>
            <a:endParaRPr sz="2800"/>
          </a:p>
        </p:txBody>
      </p:sp>
      <p:sp>
        <p:nvSpPr>
          <p:cNvPr id="806" name="Google Shape;806;p91"/>
          <p:cNvSpPr txBox="1"/>
          <p:nvPr/>
        </p:nvSpPr>
        <p:spPr>
          <a:xfrm>
            <a:off x="462178" y="1813305"/>
            <a:ext cx="7888605" cy="15455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following metrics can be used to evaluate the performance of classification models: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1450"/>
              <a:buFont typeface="Arial"/>
              <a:buNone/>
            </a:pPr>
            <a:endParaRPr sz="1450" b="0" i="0" u="none" strike="noStrike" cap="none">
              <a:solidFill>
                <a:srgbClr val="000000"/>
              </a:solidFill>
              <a:latin typeface="Arial"/>
              <a:ea typeface="Arial"/>
              <a:cs typeface="Arial"/>
              <a:sym typeface="Arial"/>
            </a:endParaRPr>
          </a:p>
          <a:p>
            <a:pPr marL="469900" marR="0" lvl="0" indent="-329565" algn="l" rtl="0">
              <a:lnSpc>
                <a:spcPct val="100000"/>
              </a:lnSpc>
              <a:spcBef>
                <a:spcPts val="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Confusion matrix</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7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Cross entropy</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9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ROC</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92"/>
          <p:cNvSpPr txBox="1"/>
          <p:nvPr/>
        </p:nvSpPr>
        <p:spPr>
          <a:xfrm>
            <a:off x="500887" y="1587298"/>
            <a:ext cx="3063240" cy="586105"/>
          </a:xfrm>
          <a:prstGeom prst="rect">
            <a:avLst/>
          </a:prstGeom>
          <a:noFill/>
          <a:ln>
            <a:noFill/>
          </a:ln>
        </p:spPr>
        <p:txBody>
          <a:bodyPr spcFirstLastPara="1" wrap="square" lIns="0" tIns="482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 shall consider the fish data as</a:t>
            </a:r>
            <a:endParaRPr sz="1600" b="0" i="0" u="none" strike="noStrike" cap="none">
              <a:solidFill>
                <a:srgbClr val="000000"/>
              </a:solidFill>
              <a:latin typeface="Arial"/>
              <a:ea typeface="Arial"/>
              <a:cs typeface="Arial"/>
              <a:sym typeface="Arial"/>
            </a:endParaRPr>
          </a:p>
          <a:p>
            <a:pPr marL="1270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described before</a:t>
            </a:r>
            <a:endParaRPr sz="1600" b="0" i="0" u="none" strike="noStrike" cap="none">
              <a:solidFill>
                <a:srgbClr val="000000"/>
              </a:solidFill>
              <a:latin typeface="Arial"/>
              <a:ea typeface="Arial"/>
              <a:cs typeface="Arial"/>
              <a:sym typeface="Arial"/>
            </a:endParaRPr>
          </a:p>
        </p:txBody>
      </p:sp>
      <p:sp>
        <p:nvSpPr>
          <p:cNvPr id="812" name="Google Shape;812;p92"/>
          <p:cNvSpPr txBox="1">
            <a:spLocks noGrp="1"/>
          </p:cNvSpPr>
          <p:nvPr>
            <p:ph type="title"/>
          </p:nvPr>
        </p:nvSpPr>
        <p:spPr>
          <a:xfrm>
            <a:off x="500887" y="512191"/>
            <a:ext cx="3314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Performance metrics</a:t>
            </a:r>
            <a:endParaRPr sz="2800"/>
          </a:p>
        </p:txBody>
      </p:sp>
      <p:grpSp>
        <p:nvGrpSpPr>
          <p:cNvPr id="813" name="Google Shape;813;p92"/>
          <p:cNvGrpSpPr/>
          <p:nvPr/>
        </p:nvGrpSpPr>
        <p:grpSpPr>
          <a:xfrm>
            <a:off x="5454431" y="965581"/>
            <a:ext cx="1945005" cy="3840479"/>
            <a:chOff x="5465064" y="1142999"/>
            <a:chExt cx="1945005" cy="3840479"/>
          </a:xfrm>
        </p:grpSpPr>
        <p:sp>
          <p:nvSpPr>
            <p:cNvPr id="814" name="Google Shape;814;p92"/>
            <p:cNvSpPr/>
            <p:nvPr/>
          </p:nvSpPr>
          <p:spPr>
            <a:xfrm>
              <a:off x="5474208" y="1152143"/>
              <a:ext cx="1926336" cy="382219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92"/>
            <p:cNvSpPr/>
            <p:nvPr/>
          </p:nvSpPr>
          <p:spPr>
            <a:xfrm>
              <a:off x="5465064" y="1142999"/>
              <a:ext cx="1945005" cy="3840479"/>
            </a:xfrm>
            <a:custGeom>
              <a:avLst/>
              <a:gdLst/>
              <a:ahLst/>
              <a:cxnLst/>
              <a:rect l="l" t="t" r="r" b="b"/>
              <a:pathLst>
                <a:path w="1945004" h="3840479" extrusionOk="0">
                  <a:moveTo>
                    <a:pt x="0" y="3840479"/>
                  </a:moveTo>
                  <a:lnTo>
                    <a:pt x="1944624" y="3840479"/>
                  </a:lnTo>
                  <a:lnTo>
                    <a:pt x="1944624" y="0"/>
                  </a:lnTo>
                  <a:lnTo>
                    <a:pt x="0" y="0"/>
                  </a:lnTo>
                  <a:lnTo>
                    <a:pt x="0" y="3840479"/>
                  </a:lnTo>
                  <a:close/>
                </a:path>
              </a:pathLst>
            </a:custGeom>
            <a:noFill/>
            <a:ln w="18275" cap="flat" cmpd="sng">
              <a:solidFill>
                <a:srgbClr val="585858"/>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93"/>
          <p:cNvSpPr txBox="1">
            <a:spLocks noGrp="1"/>
          </p:cNvSpPr>
          <p:nvPr>
            <p:ph type="title"/>
          </p:nvPr>
        </p:nvSpPr>
        <p:spPr>
          <a:xfrm>
            <a:off x="500887" y="512191"/>
            <a:ext cx="3314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Performance metrics</a:t>
            </a:r>
            <a:endParaRPr sz="2800"/>
          </a:p>
        </p:txBody>
      </p:sp>
      <p:sp>
        <p:nvSpPr>
          <p:cNvPr id="821" name="Google Shape;821;p93"/>
          <p:cNvSpPr txBox="1"/>
          <p:nvPr/>
        </p:nvSpPr>
        <p:spPr>
          <a:xfrm>
            <a:off x="462178" y="1813305"/>
            <a:ext cx="7888605" cy="15455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following metrics can be used to evaluate the performance of classification models: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1450"/>
              <a:buFont typeface="Arial"/>
              <a:buNone/>
            </a:pPr>
            <a:endParaRPr sz="1450" b="0" i="0" u="none" strike="noStrike" cap="none">
              <a:solidFill>
                <a:srgbClr val="000000"/>
              </a:solidFill>
              <a:latin typeface="Arial"/>
              <a:ea typeface="Arial"/>
              <a:cs typeface="Arial"/>
              <a:sym typeface="Arial"/>
            </a:endParaRPr>
          </a:p>
          <a:p>
            <a:pPr marL="469900" marR="0" lvl="0" indent="-329565" algn="l" rtl="0">
              <a:lnSpc>
                <a:spcPct val="100000"/>
              </a:lnSpc>
              <a:spcBef>
                <a:spcPts val="5"/>
              </a:spcBef>
              <a:spcAft>
                <a:spcPts val="0"/>
              </a:spcAft>
              <a:buClr>
                <a:srgbClr val="24AAE1"/>
              </a:buClr>
              <a:buSzPts val="1600"/>
              <a:buFont typeface="Arial"/>
              <a:buChar char="●"/>
            </a:pPr>
            <a:r>
              <a:rPr lang="en-US" sz="1600" b="1" i="0" u="none" strike="noStrike" cap="none">
                <a:solidFill>
                  <a:srgbClr val="24AAE1"/>
                </a:solidFill>
                <a:latin typeface="Arial"/>
                <a:ea typeface="Arial"/>
                <a:cs typeface="Arial"/>
                <a:sym typeface="Arial"/>
              </a:rPr>
              <a:t>Confusion matrix</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7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Cross entropy</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9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ROC</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94"/>
          <p:cNvSpPr txBox="1">
            <a:spLocks noGrp="1"/>
          </p:cNvSpPr>
          <p:nvPr>
            <p:ph type="title"/>
          </p:nvPr>
        </p:nvSpPr>
        <p:spPr>
          <a:xfrm>
            <a:off x="500887" y="512191"/>
            <a:ext cx="26994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Confusion matrix</a:t>
            </a:r>
            <a:endParaRPr sz="2800"/>
          </a:p>
        </p:txBody>
      </p:sp>
      <p:sp>
        <p:nvSpPr>
          <p:cNvPr id="827" name="Google Shape;827;p94"/>
          <p:cNvSpPr txBox="1"/>
          <p:nvPr/>
        </p:nvSpPr>
        <p:spPr>
          <a:xfrm>
            <a:off x="442061" y="1757933"/>
            <a:ext cx="2590165" cy="1936114"/>
          </a:xfrm>
          <a:prstGeom prst="rect">
            <a:avLst/>
          </a:prstGeom>
          <a:noFill/>
          <a:ln>
            <a:noFill/>
          </a:ln>
        </p:spPr>
        <p:txBody>
          <a:bodyPr spcFirstLastPara="1" wrap="square" lIns="0" tIns="13325" rIns="0" bIns="0" anchor="t" anchorCtr="0">
            <a:spAutoFit/>
          </a:bodyPr>
          <a:lstStyle/>
          <a:p>
            <a:pPr marL="341630" marR="508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Performance measure  for classification problem</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1630" marR="161925" lvl="0" indent="-329565" algn="l" rtl="0">
              <a:lnSpc>
                <a:spcPct val="100000"/>
              </a:lnSpc>
              <a:spcBef>
                <a:spcPts val="144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is a table used to  compare predicted and  actual values of the  target variable</a:t>
            </a:r>
            <a:endParaRPr sz="1600" b="0" i="0" u="none" strike="noStrike" cap="none">
              <a:solidFill>
                <a:srgbClr val="000000"/>
              </a:solidFill>
              <a:latin typeface="Arial"/>
              <a:ea typeface="Arial"/>
              <a:cs typeface="Arial"/>
              <a:sym typeface="Arial"/>
            </a:endParaRPr>
          </a:p>
        </p:txBody>
      </p:sp>
      <p:sp>
        <p:nvSpPr>
          <p:cNvPr id="828" name="Google Shape;828;p94"/>
          <p:cNvSpPr/>
          <p:nvPr/>
        </p:nvSpPr>
        <p:spPr>
          <a:xfrm>
            <a:off x="3468516" y="1126338"/>
            <a:ext cx="5023127" cy="372996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147"/>
          <p:cNvSpPr txBox="1"/>
          <p:nvPr/>
        </p:nvSpPr>
        <p:spPr>
          <a:xfrm>
            <a:off x="500887" y="512191"/>
            <a:ext cx="5266690" cy="4533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Arial"/>
                <a:ea typeface="Arial"/>
                <a:cs typeface="Arial"/>
                <a:sym typeface="Arial"/>
              </a:rPr>
              <a:t>Confusion matrix for our example</a:t>
            </a:r>
            <a:endParaRPr sz="2800" b="0" i="0" u="none" strike="noStrike" cap="none">
              <a:solidFill>
                <a:srgbClr val="000000"/>
              </a:solidFill>
              <a:latin typeface="Arial"/>
              <a:ea typeface="Arial"/>
              <a:cs typeface="Arial"/>
              <a:sym typeface="Arial"/>
            </a:endParaRPr>
          </a:p>
        </p:txBody>
      </p:sp>
      <p:sp>
        <p:nvSpPr>
          <p:cNvPr id="835" name="Google Shape;835;p147"/>
          <p:cNvSpPr/>
          <p:nvPr/>
        </p:nvSpPr>
        <p:spPr>
          <a:xfrm>
            <a:off x="6023112" y="1504763"/>
            <a:ext cx="3070909" cy="230057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5AA557F-A685-4FEE-85E1-254514B37A2C}"/>
              </a:ext>
            </a:extLst>
          </p:cNvPr>
          <p:cNvSpPr>
            <a:spLocks noChangeArrowheads="1"/>
          </p:cNvSpPr>
          <p:nvPr/>
        </p:nvSpPr>
        <p:spPr bwMode="auto">
          <a:xfrm>
            <a:off x="265044" y="965581"/>
            <a:ext cx="4737652" cy="19149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2849" rIns="0" bIns="8569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1D35"/>
                </a:solidFill>
                <a:effectLst/>
                <a:latin typeface="Google Sans"/>
              </a:rPr>
              <a:t>Example Scenario (Medical Diagnosis)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0A"/>
                </a:solidFill>
                <a:effectLst/>
                <a:latin typeface="Google Sans"/>
              </a:rPr>
              <a:t>Imagine a model detecting Cancer (Positive) vs. No Cancer (Negative).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oogle Sans"/>
              </a:rPr>
              <a:t>TP:</a:t>
            </a:r>
            <a:r>
              <a:rPr kumimoji="0" lang="en-US" altLang="en-US" b="0" i="0" u="none" strike="noStrike" cap="none" normalizeH="0" baseline="0" dirty="0">
                <a:ln>
                  <a:noFill/>
                </a:ln>
                <a:solidFill>
                  <a:srgbClr val="0A0A0A"/>
                </a:solidFill>
                <a:effectLst/>
                <a:latin typeface="Google Sans"/>
              </a:rPr>
              <a:t> Correctly identifies a patient </a:t>
            </a:r>
            <a:r>
              <a:rPr kumimoji="0" lang="en-US" altLang="en-US" b="0" i="1" u="none" strike="noStrike" cap="none" normalizeH="0" baseline="0" dirty="0">
                <a:ln>
                  <a:noFill/>
                </a:ln>
                <a:solidFill>
                  <a:srgbClr val="0A0A0A"/>
                </a:solidFill>
                <a:effectLst/>
                <a:latin typeface="Google Sans"/>
              </a:rPr>
              <a:t>with</a:t>
            </a:r>
            <a:r>
              <a:rPr kumimoji="0" lang="en-US" altLang="en-US" b="0" i="0" u="none" strike="noStrike" cap="none" normalizeH="0" baseline="0" dirty="0">
                <a:ln>
                  <a:noFill/>
                </a:ln>
                <a:solidFill>
                  <a:srgbClr val="0A0A0A"/>
                </a:solidFill>
                <a:effectLst/>
                <a:latin typeface="Google Sans"/>
              </a:rPr>
              <a:t> cancer.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oogle Sans"/>
              </a:rPr>
              <a:t>TN:</a:t>
            </a:r>
            <a:r>
              <a:rPr kumimoji="0" lang="en-US" altLang="en-US" b="0" i="0" u="none" strike="noStrike" cap="none" normalizeH="0" baseline="0" dirty="0">
                <a:ln>
                  <a:noFill/>
                </a:ln>
                <a:solidFill>
                  <a:srgbClr val="0A0A0A"/>
                </a:solidFill>
                <a:effectLst/>
                <a:latin typeface="Google Sans"/>
              </a:rPr>
              <a:t> Correctly identifies a patient </a:t>
            </a:r>
            <a:r>
              <a:rPr kumimoji="0" lang="en-US" altLang="en-US" b="0" i="1" u="none" strike="noStrike" cap="none" normalizeH="0" baseline="0" dirty="0">
                <a:ln>
                  <a:noFill/>
                </a:ln>
                <a:solidFill>
                  <a:srgbClr val="0A0A0A"/>
                </a:solidFill>
                <a:effectLst/>
                <a:latin typeface="Google Sans"/>
              </a:rPr>
              <a:t>without</a:t>
            </a:r>
            <a:r>
              <a:rPr kumimoji="0" lang="en-US" altLang="en-US" b="0" i="0" u="none" strike="noStrike" cap="none" normalizeH="0" baseline="0" dirty="0">
                <a:ln>
                  <a:noFill/>
                </a:ln>
                <a:solidFill>
                  <a:srgbClr val="0A0A0A"/>
                </a:solidFill>
                <a:effectLst/>
                <a:latin typeface="Google Sans"/>
              </a:rPr>
              <a:t> cancer.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oogle Sans"/>
              </a:rPr>
              <a:t>FP:</a:t>
            </a:r>
            <a:r>
              <a:rPr kumimoji="0" lang="en-US" altLang="en-US" b="0" i="0" u="none" strike="noStrike" cap="none" normalizeH="0" baseline="0" dirty="0">
                <a:ln>
                  <a:noFill/>
                </a:ln>
                <a:solidFill>
                  <a:srgbClr val="0A0A0A"/>
                </a:solidFill>
                <a:effectLst/>
                <a:latin typeface="Google Sans"/>
              </a:rPr>
              <a:t> Calls a healthy person "cancerous" (bad false alarm).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oogle Sans"/>
              </a:rPr>
              <a:t>FN:</a:t>
            </a:r>
            <a:r>
              <a:rPr kumimoji="0" lang="en-US" altLang="en-US" b="0" i="0" u="none" strike="noStrike" cap="none" normalizeH="0" baseline="0" dirty="0">
                <a:ln>
                  <a:noFill/>
                </a:ln>
                <a:solidFill>
                  <a:srgbClr val="0A0A0A"/>
                </a:solidFill>
                <a:effectLst/>
                <a:latin typeface="Google Sans"/>
              </a:rPr>
              <a:t> Misses a cancerous person (dangerous missed diagnosis).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B2695F9-5446-4C94-9BC7-A85D31630554}"/>
              </a:ext>
            </a:extLst>
          </p:cNvPr>
          <p:cNvSpPr txBox="1"/>
          <p:nvPr/>
        </p:nvSpPr>
        <p:spPr>
          <a:xfrm>
            <a:off x="99389" y="3007657"/>
            <a:ext cx="5890591" cy="1815882"/>
          </a:xfrm>
          <a:prstGeom prst="rect">
            <a:avLst/>
          </a:prstGeom>
          <a:noFill/>
        </p:spPr>
        <p:txBody>
          <a:bodyPr wrap="square">
            <a:spAutoFit/>
          </a:bodyPr>
          <a:lstStyle/>
          <a:p>
            <a:r>
              <a:rPr lang="en-US" sz="1400" dirty="0"/>
              <a:t>true positives (TP): These are cases in which we predicted positive (they have the disease), and they do have the disease.</a:t>
            </a:r>
          </a:p>
          <a:p>
            <a:r>
              <a:rPr lang="en-US" sz="1400" dirty="0"/>
              <a:t>true negatives (TN): We predicted negative, and they don't have the disease.</a:t>
            </a:r>
          </a:p>
          <a:p>
            <a:r>
              <a:rPr lang="en-US" sz="1400" dirty="0"/>
              <a:t>false positives (FP): We predicted positive, but they don't actually have the disease. (Also known as a "Type I error.")</a:t>
            </a:r>
          </a:p>
          <a:p>
            <a:r>
              <a:rPr lang="en-US" sz="1400" dirty="0"/>
              <a:t>false negatives (FN): We predicted negative, but they actually do have the disease. (Also known as a "Type II error.")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96"/>
          <p:cNvSpPr txBox="1">
            <a:spLocks noGrp="1"/>
          </p:cNvSpPr>
          <p:nvPr>
            <p:ph type="title"/>
          </p:nvPr>
        </p:nvSpPr>
        <p:spPr>
          <a:xfrm>
            <a:off x="500887" y="512191"/>
            <a:ext cx="5036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Performance evaluation metrics</a:t>
            </a:r>
            <a:endParaRPr sz="2800"/>
          </a:p>
        </p:txBody>
      </p:sp>
      <p:sp>
        <p:nvSpPr>
          <p:cNvPr id="841" name="Google Shape;841;p96"/>
          <p:cNvSpPr txBox="1"/>
          <p:nvPr/>
        </p:nvSpPr>
        <p:spPr>
          <a:xfrm>
            <a:off x="449478" y="1657299"/>
            <a:ext cx="7828915" cy="2439670"/>
          </a:xfrm>
          <a:prstGeom prst="rect">
            <a:avLst/>
          </a:prstGeom>
          <a:noFill/>
          <a:ln>
            <a:noFill/>
          </a:ln>
        </p:spPr>
        <p:txBody>
          <a:bodyPr spcFirstLastPara="1" wrap="square" lIns="0" tIns="13950" rIns="0" bIns="0" anchor="t" anchorCtr="0">
            <a:spAutoFit/>
          </a:bodyPr>
          <a:lstStyle/>
          <a:p>
            <a:pPr marL="254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Confusion matrix can be used to calculate the following evaluation metrics for a model:</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48260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Accuracy</a:t>
            </a:r>
            <a:endParaRPr sz="1600" b="0" i="0" u="none" strike="noStrike" cap="none">
              <a:solidFill>
                <a:srgbClr val="000000"/>
              </a:solidFill>
              <a:latin typeface="Arial"/>
              <a:ea typeface="Arial"/>
              <a:cs typeface="Arial"/>
              <a:sym typeface="Arial"/>
            </a:endParaRPr>
          </a:p>
          <a:p>
            <a:pPr marL="482600" marR="0" lvl="0" indent="-329565" algn="l" rtl="0">
              <a:lnSpc>
                <a:spcPct val="100000"/>
              </a:lnSpc>
              <a:spcBef>
                <a:spcPts val="29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Precision</a:t>
            </a:r>
            <a:endParaRPr sz="1600" b="0" i="0" u="none" strike="noStrike" cap="none">
              <a:solidFill>
                <a:srgbClr val="000000"/>
              </a:solidFill>
              <a:latin typeface="Arial"/>
              <a:ea typeface="Arial"/>
              <a:cs typeface="Arial"/>
              <a:sym typeface="Arial"/>
            </a:endParaRPr>
          </a:p>
          <a:p>
            <a:pPr marL="482600" marR="0" lvl="0" indent="-329565" algn="l" rtl="0">
              <a:lnSpc>
                <a:spcPct val="100000"/>
              </a:lnSpc>
              <a:spcBef>
                <a:spcPts val="29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Recall</a:t>
            </a:r>
            <a:endParaRPr sz="1600" b="0" i="0" u="none" strike="noStrike" cap="none">
              <a:solidFill>
                <a:srgbClr val="000000"/>
              </a:solidFill>
              <a:latin typeface="Arial"/>
              <a:ea typeface="Arial"/>
              <a:cs typeface="Arial"/>
              <a:sym typeface="Arial"/>
            </a:endParaRPr>
          </a:p>
          <a:p>
            <a:pPr marL="482600" marR="0" lvl="0" indent="-329565" algn="l" rtl="0">
              <a:lnSpc>
                <a:spcPct val="100000"/>
              </a:lnSpc>
              <a:spcBef>
                <a:spcPts val="29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False Positive Rate</a:t>
            </a:r>
            <a:endParaRPr sz="1600" b="0" i="0" u="none" strike="noStrike" cap="none">
              <a:solidFill>
                <a:srgbClr val="000000"/>
              </a:solidFill>
              <a:latin typeface="Arial"/>
              <a:ea typeface="Arial"/>
              <a:cs typeface="Arial"/>
              <a:sym typeface="Arial"/>
            </a:endParaRPr>
          </a:p>
          <a:p>
            <a:pPr marL="482600" marR="0" lvl="0" indent="-329565" algn="l" rtl="0">
              <a:lnSpc>
                <a:spcPct val="100000"/>
              </a:lnSpc>
              <a:spcBef>
                <a:spcPts val="28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Specificity</a:t>
            </a:r>
            <a:endParaRPr sz="1600" b="0" i="0" u="none" strike="noStrike" cap="none">
              <a:solidFill>
                <a:srgbClr val="000000"/>
              </a:solidFill>
              <a:latin typeface="Arial"/>
              <a:ea typeface="Arial"/>
              <a:cs typeface="Arial"/>
              <a:sym typeface="Arial"/>
            </a:endParaRPr>
          </a:p>
          <a:p>
            <a:pPr marL="482600" marR="0" lvl="0" indent="-329565" algn="l" rtl="0">
              <a:lnSpc>
                <a:spcPct val="100000"/>
              </a:lnSpc>
              <a:spcBef>
                <a:spcPts val="29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a:t>
            </a:r>
            <a:r>
              <a:rPr lang="en-US" sz="1575" b="0" i="0" u="none" strike="noStrike" cap="none" baseline="-25000">
                <a:solidFill>
                  <a:srgbClr val="000000"/>
                </a:solidFill>
                <a:latin typeface="Arial"/>
                <a:ea typeface="Arial"/>
                <a:cs typeface="Arial"/>
                <a:sym typeface="Arial"/>
              </a:rPr>
              <a:t>1 </a:t>
            </a:r>
            <a:r>
              <a:rPr lang="en-US" sz="1600" b="0" i="0" u="none" strike="noStrike" cap="none">
                <a:solidFill>
                  <a:srgbClr val="000000"/>
                </a:solidFill>
                <a:latin typeface="Arial"/>
                <a:ea typeface="Arial"/>
                <a:cs typeface="Arial"/>
                <a:sym typeface="Arial"/>
              </a:rPr>
              <a:t>score</a:t>
            </a:r>
            <a:endParaRPr sz="1600" b="0" i="0" u="none" strike="noStrike" cap="none">
              <a:solidFill>
                <a:srgbClr val="000000"/>
              </a:solidFill>
              <a:latin typeface="Arial"/>
              <a:ea typeface="Arial"/>
              <a:cs typeface="Arial"/>
              <a:sym typeface="Arial"/>
            </a:endParaRPr>
          </a:p>
          <a:p>
            <a:pPr marL="482600" marR="0" lvl="0" indent="-329565" algn="l" rtl="0">
              <a:lnSpc>
                <a:spcPct val="100000"/>
              </a:lnSpc>
              <a:spcBef>
                <a:spcPts val="29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Kappa</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97"/>
          <p:cNvSpPr txBox="1">
            <a:spLocks noGrp="1"/>
          </p:cNvSpPr>
          <p:nvPr>
            <p:ph type="title"/>
          </p:nvPr>
        </p:nvSpPr>
        <p:spPr>
          <a:xfrm>
            <a:off x="500887" y="512191"/>
            <a:ext cx="14955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Accuracy</a:t>
            </a:r>
            <a:endParaRPr sz="2800"/>
          </a:p>
        </p:txBody>
      </p:sp>
      <p:sp>
        <p:nvSpPr>
          <p:cNvPr id="847" name="Google Shape;847;p97"/>
          <p:cNvSpPr txBox="1"/>
          <p:nvPr/>
        </p:nvSpPr>
        <p:spPr>
          <a:xfrm>
            <a:off x="4307204" y="1837512"/>
            <a:ext cx="4126229" cy="586740"/>
          </a:xfrm>
          <a:prstGeom prst="rect">
            <a:avLst/>
          </a:prstGeom>
          <a:noFill/>
          <a:ln>
            <a:noFill/>
          </a:ln>
        </p:spPr>
        <p:txBody>
          <a:bodyPr spcFirstLastPara="1" wrap="square" lIns="0" tIns="12050" rIns="0" bIns="0" anchor="t" anchorCtr="0">
            <a:spAutoFit/>
          </a:bodyPr>
          <a:lstStyle/>
          <a:p>
            <a:pPr marL="341630" marR="5080" lvl="0" indent="-329565" algn="l" rtl="0">
              <a:lnSpc>
                <a:spcPct val="1151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Accuracy is the fraction of predictions that  out model got correct</a:t>
            </a:r>
            <a:endParaRPr sz="1600" b="0" i="0" u="none" strike="noStrike" cap="none">
              <a:solidFill>
                <a:srgbClr val="000000"/>
              </a:solidFill>
              <a:latin typeface="Arial"/>
              <a:ea typeface="Arial"/>
              <a:cs typeface="Arial"/>
              <a:sym typeface="Arial"/>
            </a:endParaRPr>
          </a:p>
        </p:txBody>
      </p:sp>
      <p:sp>
        <p:nvSpPr>
          <p:cNvPr id="848" name="Google Shape;848;p97"/>
          <p:cNvSpPr/>
          <p:nvPr/>
        </p:nvSpPr>
        <p:spPr>
          <a:xfrm>
            <a:off x="4888991" y="3343084"/>
            <a:ext cx="3050712" cy="38372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9" name="Google Shape;849;p97"/>
          <p:cNvSpPr txBox="1"/>
          <p:nvPr/>
        </p:nvSpPr>
        <p:spPr>
          <a:xfrm>
            <a:off x="4307204" y="3984752"/>
            <a:ext cx="4063365" cy="514984"/>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Higher the value of accuracy better is the</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model</a:t>
            </a:r>
            <a:endParaRPr sz="1600" b="0" i="0" u="none" strike="noStrike" cap="none">
              <a:solidFill>
                <a:srgbClr val="000000"/>
              </a:solidFill>
              <a:latin typeface="Arial"/>
              <a:ea typeface="Arial"/>
              <a:cs typeface="Arial"/>
              <a:sym typeface="Arial"/>
            </a:endParaRPr>
          </a:p>
        </p:txBody>
      </p:sp>
      <p:sp>
        <p:nvSpPr>
          <p:cNvPr id="850" name="Google Shape;850;p97"/>
          <p:cNvSpPr/>
          <p:nvPr/>
        </p:nvSpPr>
        <p:spPr>
          <a:xfrm>
            <a:off x="4888991" y="2730860"/>
            <a:ext cx="3628682" cy="360019"/>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1" name="Google Shape;851;p97"/>
          <p:cNvSpPr/>
          <p:nvPr/>
        </p:nvSpPr>
        <p:spPr>
          <a:xfrm>
            <a:off x="182509" y="1715117"/>
            <a:ext cx="3981984" cy="2652198"/>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98"/>
          <p:cNvSpPr/>
          <p:nvPr/>
        </p:nvSpPr>
        <p:spPr>
          <a:xfrm>
            <a:off x="420623" y="161543"/>
            <a:ext cx="944880" cy="81381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98"/>
          <p:cNvSpPr txBox="1"/>
          <p:nvPr/>
        </p:nvSpPr>
        <p:spPr>
          <a:xfrm>
            <a:off x="500887" y="1845386"/>
            <a:ext cx="7935595" cy="84963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Consider a dataset with information about 1000 patients. 960 of those patients  have diabetes and only 40 do not have diabetes. We have a model ‘A’ that  classifies every patient as diabetic.</a:t>
            </a:r>
            <a:endParaRPr sz="1800" b="0" i="0" u="none" strike="noStrike" cap="none">
              <a:solidFill>
                <a:srgbClr val="000000"/>
              </a:solidFill>
              <a:latin typeface="Arial"/>
              <a:ea typeface="Arial"/>
              <a:cs typeface="Arial"/>
              <a:sym typeface="Arial"/>
            </a:endParaRPr>
          </a:p>
        </p:txBody>
      </p:sp>
      <p:sp>
        <p:nvSpPr>
          <p:cNvPr id="858" name="Google Shape;858;p98"/>
          <p:cNvSpPr txBox="1">
            <a:spLocks noGrp="1"/>
          </p:cNvSpPr>
          <p:nvPr>
            <p:ph type="title"/>
          </p:nvPr>
        </p:nvSpPr>
        <p:spPr>
          <a:xfrm>
            <a:off x="542340" y="1147013"/>
            <a:ext cx="6244500" cy="4452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sz="2800"/>
              <a:t>Accuracy is not always a reliable metric</a:t>
            </a:r>
            <a:endParaRPr sz="2800"/>
          </a:p>
        </p:txBody>
      </p:sp>
      <p:sp>
        <p:nvSpPr>
          <p:cNvPr id="859" name="Google Shape;859;p98"/>
          <p:cNvSpPr/>
          <p:nvPr/>
        </p:nvSpPr>
        <p:spPr>
          <a:xfrm>
            <a:off x="2112264" y="3065819"/>
            <a:ext cx="4248831" cy="37748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98"/>
          <p:cNvSpPr txBox="1"/>
          <p:nvPr/>
        </p:nvSpPr>
        <p:spPr>
          <a:xfrm>
            <a:off x="542340" y="3778097"/>
            <a:ext cx="8106409" cy="112331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Even though the accuracy for model A is high it is not a good model. Since even  when it will encounter information about a new patient it will always predict that  the patient is diabetic. This scenario when accuracy is not a reliable metric is  called the </a:t>
            </a:r>
            <a:r>
              <a:rPr lang="en-US" sz="1800" b="0" i="0" u="none" strike="noStrike" cap="none">
                <a:solidFill>
                  <a:srgbClr val="24AAE1"/>
                </a:solidFill>
                <a:latin typeface="Arial"/>
                <a:ea typeface="Arial"/>
                <a:cs typeface="Arial"/>
                <a:sym typeface="Arial"/>
              </a:rPr>
              <a:t>accuracy paradox.</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99"/>
          <p:cNvSpPr txBox="1">
            <a:spLocks noGrp="1"/>
          </p:cNvSpPr>
          <p:nvPr>
            <p:ph type="title"/>
          </p:nvPr>
        </p:nvSpPr>
        <p:spPr>
          <a:xfrm>
            <a:off x="500887" y="512191"/>
            <a:ext cx="14943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Precision</a:t>
            </a:r>
            <a:endParaRPr sz="2800"/>
          </a:p>
        </p:txBody>
      </p:sp>
      <p:sp>
        <p:nvSpPr>
          <p:cNvPr id="866" name="Google Shape;866;p99"/>
          <p:cNvSpPr txBox="1"/>
          <p:nvPr/>
        </p:nvSpPr>
        <p:spPr>
          <a:xfrm>
            <a:off x="4186554" y="2196263"/>
            <a:ext cx="4315460" cy="586105"/>
          </a:xfrm>
          <a:prstGeom prst="rect">
            <a:avLst/>
          </a:prstGeom>
          <a:noFill/>
          <a:ln>
            <a:noFill/>
          </a:ln>
        </p:spPr>
        <p:txBody>
          <a:bodyPr spcFirstLastPara="1" wrap="square" lIns="0" tIns="482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Precision is proportion of positive cases that</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were correctly predicted</a:t>
            </a:r>
            <a:endParaRPr sz="1600" b="0" i="0" u="none" strike="noStrike" cap="none">
              <a:solidFill>
                <a:srgbClr val="000000"/>
              </a:solidFill>
              <a:latin typeface="Arial"/>
              <a:ea typeface="Arial"/>
              <a:cs typeface="Arial"/>
              <a:sym typeface="Arial"/>
            </a:endParaRPr>
          </a:p>
        </p:txBody>
      </p:sp>
      <p:sp>
        <p:nvSpPr>
          <p:cNvPr id="867" name="Google Shape;867;p99"/>
          <p:cNvSpPr/>
          <p:nvPr/>
        </p:nvSpPr>
        <p:spPr>
          <a:xfrm>
            <a:off x="5233415" y="3132021"/>
            <a:ext cx="2487101" cy="4370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99"/>
          <p:cNvSpPr txBox="1"/>
          <p:nvPr/>
        </p:nvSpPr>
        <p:spPr>
          <a:xfrm>
            <a:off x="4186554" y="3916476"/>
            <a:ext cx="3893820" cy="270510"/>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Higher is the precision better the model</a:t>
            </a:r>
            <a:endParaRPr sz="1600" b="0" i="0" u="none" strike="noStrike" cap="none">
              <a:solidFill>
                <a:srgbClr val="000000"/>
              </a:solidFill>
              <a:latin typeface="Arial"/>
              <a:ea typeface="Arial"/>
              <a:cs typeface="Arial"/>
              <a:sym typeface="Arial"/>
            </a:endParaRPr>
          </a:p>
        </p:txBody>
      </p:sp>
      <p:pic>
        <p:nvPicPr>
          <p:cNvPr id="869" name="Google Shape;869;p99"/>
          <p:cNvPicPr preferRelativeResize="0"/>
          <p:nvPr/>
        </p:nvPicPr>
        <p:blipFill rotWithShape="1">
          <a:blip r:embed="rId4">
            <a:alphaModFix/>
          </a:blip>
          <a:srcRect/>
          <a:stretch/>
        </p:blipFill>
        <p:spPr>
          <a:xfrm>
            <a:off x="585638" y="1832265"/>
            <a:ext cx="3291124" cy="259951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00"/>
          <p:cNvSpPr txBox="1">
            <a:spLocks noGrp="1"/>
          </p:cNvSpPr>
          <p:nvPr>
            <p:ph type="title"/>
          </p:nvPr>
        </p:nvSpPr>
        <p:spPr>
          <a:xfrm>
            <a:off x="500887" y="512191"/>
            <a:ext cx="10161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Recall</a:t>
            </a:r>
            <a:endParaRPr sz="2800"/>
          </a:p>
        </p:txBody>
      </p:sp>
      <p:sp>
        <p:nvSpPr>
          <p:cNvPr id="875" name="Google Shape;875;p100"/>
          <p:cNvSpPr txBox="1"/>
          <p:nvPr/>
        </p:nvSpPr>
        <p:spPr>
          <a:xfrm>
            <a:off x="4283749" y="122733"/>
            <a:ext cx="4417695" cy="1283970"/>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Recall is the proportion of actual positive</a:t>
            </a:r>
            <a:endParaRPr sz="1600" b="0" i="0" u="none" strike="noStrike" cap="none" dirty="0">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cases that were correctly predicted</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900"/>
              <a:buFont typeface="Arial"/>
              <a:buNone/>
            </a:pPr>
            <a:endParaRPr sz="19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Recall is also sometimes called True Positive</a:t>
            </a:r>
            <a:endParaRPr sz="1600" b="0" i="0" u="none" strike="noStrike" cap="none" dirty="0">
              <a:solidFill>
                <a:srgbClr val="000000"/>
              </a:solidFill>
              <a:latin typeface="Arial"/>
              <a:ea typeface="Arial"/>
              <a:cs typeface="Arial"/>
              <a:sym typeface="Arial"/>
            </a:endParaRPr>
          </a:p>
          <a:p>
            <a:pPr marL="34163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Rate (TPR) or Sensitivity</a:t>
            </a:r>
            <a:endParaRPr sz="1600" b="0" i="0" u="none" strike="noStrike" cap="none" dirty="0">
              <a:solidFill>
                <a:srgbClr val="000000"/>
              </a:solidFill>
              <a:latin typeface="Arial"/>
              <a:ea typeface="Arial"/>
              <a:cs typeface="Arial"/>
              <a:sym typeface="Arial"/>
            </a:endParaRPr>
          </a:p>
        </p:txBody>
      </p:sp>
      <p:sp>
        <p:nvSpPr>
          <p:cNvPr id="876" name="Google Shape;876;p100"/>
          <p:cNvSpPr/>
          <p:nvPr/>
        </p:nvSpPr>
        <p:spPr>
          <a:xfrm>
            <a:off x="5394959" y="3474816"/>
            <a:ext cx="1946098" cy="38998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100"/>
          <p:cNvSpPr txBox="1"/>
          <p:nvPr/>
        </p:nvSpPr>
        <p:spPr>
          <a:xfrm>
            <a:off x="4157853" y="4113987"/>
            <a:ext cx="4227830"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Higher value of TPR implies a better model</a:t>
            </a:r>
            <a:endParaRPr sz="1600" b="0" i="0" u="none" strike="noStrike" cap="none">
              <a:solidFill>
                <a:srgbClr val="000000"/>
              </a:solidFill>
              <a:latin typeface="Arial"/>
              <a:ea typeface="Arial"/>
              <a:cs typeface="Arial"/>
              <a:sym typeface="Arial"/>
            </a:endParaRPr>
          </a:p>
        </p:txBody>
      </p:sp>
      <p:pic>
        <p:nvPicPr>
          <p:cNvPr id="878" name="Google Shape;878;p100"/>
          <p:cNvPicPr preferRelativeResize="0"/>
          <p:nvPr/>
        </p:nvPicPr>
        <p:blipFill rotWithShape="1">
          <a:blip r:embed="rId4">
            <a:alphaModFix/>
          </a:blip>
          <a:srcRect/>
          <a:stretch/>
        </p:blipFill>
        <p:spPr>
          <a:xfrm>
            <a:off x="585638" y="1832265"/>
            <a:ext cx="3291124" cy="2599511"/>
          </a:xfrm>
          <a:prstGeom prst="rect">
            <a:avLst/>
          </a:prstGeom>
          <a:noFill/>
          <a:ln>
            <a:noFill/>
          </a:ln>
        </p:spPr>
      </p:pic>
      <p:sp>
        <p:nvSpPr>
          <p:cNvPr id="8" name="TextBox 7">
            <a:extLst>
              <a:ext uri="{FF2B5EF4-FFF2-40B4-BE49-F238E27FC236}">
                <a16:creationId xmlns:a16="http://schemas.microsoft.com/office/drawing/2014/main" id="{2A92D069-3E67-436B-A8FC-9CB7905DCBDC}"/>
              </a:ext>
            </a:extLst>
          </p:cNvPr>
          <p:cNvSpPr txBox="1"/>
          <p:nvPr/>
        </p:nvSpPr>
        <p:spPr>
          <a:xfrm>
            <a:off x="4122319" y="1886851"/>
            <a:ext cx="4572000" cy="738664"/>
          </a:xfrm>
          <a:prstGeom prst="rect">
            <a:avLst/>
          </a:prstGeom>
          <a:noFill/>
        </p:spPr>
        <p:txBody>
          <a:bodyPr wrap="square">
            <a:spAutoFit/>
          </a:bodyPr>
          <a:lstStyle/>
          <a:p>
            <a:r>
              <a:rPr lang="en-US" b="0" i="0" dirty="0">
                <a:solidFill>
                  <a:srgbClr val="383838"/>
                </a:solidFill>
                <a:effectLst/>
                <a:latin typeface="Inter"/>
              </a:rPr>
              <a:t> It </a:t>
            </a:r>
            <a:r>
              <a:rPr lang="en-US" b="0" i="1" dirty="0">
                <a:solidFill>
                  <a:srgbClr val="383838"/>
                </a:solidFill>
                <a:effectLst/>
                <a:latin typeface="Inter"/>
              </a:rPr>
              <a:t>is important in medical cases where it doesn’t matter whether we raise a false alarm but the actual positive cases should not go undetected!</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101"/>
          <p:cNvSpPr txBox="1">
            <a:spLocks noGrp="1"/>
          </p:cNvSpPr>
          <p:nvPr>
            <p:ph type="title"/>
          </p:nvPr>
        </p:nvSpPr>
        <p:spPr>
          <a:xfrm>
            <a:off x="500887" y="512191"/>
            <a:ext cx="29166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False positive rate</a:t>
            </a:r>
            <a:endParaRPr sz="2800"/>
          </a:p>
        </p:txBody>
      </p:sp>
      <p:sp>
        <p:nvSpPr>
          <p:cNvPr id="884" name="Google Shape;884;p101"/>
          <p:cNvSpPr txBox="1"/>
          <p:nvPr/>
        </p:nvSpPr>
        <p:spPr>
          <a:xfrm>
            <a:off x="4120134" y="1965866"/>
            <a:ext cx="4452620" cy="868044"/>
          </a:xfrm>
          <a:prstGeom prst="rect">
            <a:avLst/>
          </a:prstGeom>
          <a:noFill/>
          <a:ln>
            <a:noFill/>
          </a:ln>
        </p:spPr>
        <p:txBody>
          <a:bodyPr spcFirstLastPara="1" wrap="square" lIns="0" tIns="12700" rIns="0" bIns="0" anchor="t" anchorCtr="0">
            <a:spAutoFit/>
          </a:bodyPr>
          <a:lstStyle/>
          <a:p>
            <a:pPr marL="341630" marR="5080" lvl="0" indent="-329565" algn="l" rtl="0">
              <a:lnSpc>
                <a:spcPct val="1151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False Positive Rate (FPR) is the proportion of  actual negative cases that were predicted  positive (incorrectly)</a:t>
            </a:r>
            <a:endParaRPr sz="1600" b="0" i="0" u="none" strike="noStrike" cap="none">
              <a:solidFill>
                <a:srgbClr val="000000"/>
              </a:solidFill>
              <a:latin typeface="Arial"/>
              <a:ea typeface="Arial"/>
              <a:cs typeface="Arial"/>
              <a:sym typeface="Arial"/>
            </a:endParaRPr>
          </a:p>
        </p:txBody>
      </p:sp>
      <p:sp>
        <p:nvSpPr>
          <p:cNvPr id="885" name="Google Shape;885;p101"/>
          <p:cNvSpPr/>
          <p:nvPr/>
        </p:nvSpPr>
        <p:spPr>
          <a:xfrm>
            <a:off x="5221223" y="2997797"/>
            <a:ext cx="1584925" cy="3534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6" name="Google Shape;886;p101"/>
          <p:cNvSpPr/>
          <p:nvPr/>
        </p:nvSpPr>
        <p:spPr>
          <a:xfrm>
            <a:off x="5221223" y="3671808"/>
            <a:ext cx="2426196" cy="240074"/>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7" name="Google Shape;887;p101"/>
          <p:cNvSpPr txBox="1"/>
          <p:nvPr/>
        </p:nvSpPr>
        <p:spPr>
          <a:xfrm>
            <a:off x="4120134" y="4181957"/>
            <a:ext cx="4224020" cy="271145"/>
          </a:xfrm>
          <a:prstGeom prst="rect">
            <a:avLst/>
          </a:prstGeom>
          <a:noFill/>
          <a:ln>
            <a:noFill/>
          </a:ln>
        </p:spPr>
        <p:txBody>
          <a:bodyPr spcFirstLastPara="1" wrap="square" lIns="0" tIns="13950"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Lower the value of FPR better is the model</a:t>
            </a:r>
            <a:endParaRPr sz="1600" b="0" i="0" u="none" strike="noStrike" cap="none">
              <a:solidFill>
                <a:srgbClr val="000000"/>
              </a:solidFill>
              <a:latin typeface="Arial"/>
              <a:ea typeface="Arial"/>
              <a:cs typeface="Arial"/>
              <a:sym typeface="Arial"/>
            </a:endParaRPr>
          </a:p>
        </p:txBody>
      </p:sp>
      <p:pic>
        <p:nvPicPr>
          <p:cNvPr id="888" name="Google Shape;888;p101"/>
          <p:cNvPicPr preferRelativeResize="0"/>
          <p:nvPr/>
        </p:nvPicPr>
        <p:blipFill rotWithShape="1">
          <a:blip r:embed="rId5">
            <a:alphaModFix/>
          </a:blip>
          <a:srcRect/>
          <a:stretch/>
        </p:blipFill>
        <p:spPr>
          <a:xfrm>
            <a:off x="585638" y="1832265"/>
            <a:ext cx="3291124" cy="259951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102"/>
          <p:cNvSpPr txBox="1">
            <a:spLocks noGrp="1"/>
          </p:cNvSpPr>
          <p:nvPr>
            <p:ph type="title"/>
          </p:nvPr>
        </p:nvSpPr>
        <p:spPr>
          <a:xfrm>
            <a:off x="500887" y="512191"/>
            <a:ext cx="16344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Specificity</a:t>
            </a:r>
            <a:endParaRPr sz="2800"/>
          </a:p>
        </p:txBody>
      </p:sp>
      <p:sp>
        <p:nvSpPr>
          <p:cNvPr id="894" name="Google Shape;894;p102"/>
          <p:cNvSpPr txBox="1"/>
          <p:nvPr/>
        </p:nvSpPr>
        <p:spPr>
          <a:xfrm>
            <a:off x="4205732" y="2005871"/>
            <a:ext cx="4438650" cy="587375"/>
          </a:xfrm>
          <a:prstGeom prst="rect">
            <a:avLst/>
          </a:prstGeom>
          <a:noFill/>
          <a:ln>
            <a:noFill/>
          </a:ln>
        </p:spPr>
        <p:txBody>
          <a:bodyPr spcFirstLastPara="1" wrap="square" lIns="0" tIns="495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Specificity is the proportion of actual negative</a:t>
            </a:r>
            <a:endParaRPr sz="1600" b="0" i="0" u="none" strike="noStrike" cap="none">
              <a:solidFill>
                <a:srgbClr val="000000"/>
              </a:solidFill>
              <a:latin typeface="Arial"/>
              <a:ea typeface="Arial"/>
              <a:cs typeface="Arial"/>
              <a:sym typeface="Arial"/>
            </a:endParaRPr>
          </a:p>
          <a:p>
            <a:pPr marL="341630" marR="0" lvl="0" indent="0" algn="l" rtl="0">
              <a:lnSpc>
                <a:spcPct val="100000"/>
              </a:lnSpc>
              <a:spcBef>
                <a:spcPts val="29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cases that were correctly predicted</a:t>
            </a:r>
            <a:endParaRPr sz="1600" b="0" i="0" u="none" strike="noStrike" cap="none">
              <a:solidFill>
                <a:srgbClr val="000000"/>
              </a:solidFill>
              <a:latin typeface="Arial"/>
              <a:ea typeface="Arial"/>
              <a:cs typeface="Arial"/>
              <a:sym typeface="Arial"/>
            </a:endParaRPr>
          </a:p>
        </p:txBody>
      </p:sp>
      <p:sp>
        <p:nvSpPr>
          <p:cNvPr id="895" name="Google Shape;895;p102"/>
          <p:cNvSpPr/>
          <p:nvPr/>
        </p:nvSpPr>
        <p:spPr>
          <a:xfrm>
            <a:off x="4741373" y="2938719"/>
            <a:ext cx="3151391" cy="50490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6" name="Google Shape;896;p102"/>
          <p:cNvSpPr txBox="1"/>
          <p:nvPr/>
        </p:nvSpPr>
        <p:spPr>
          <a:xfrm>
            <a:off x="4205732" y="3692144"/>
            <a:ext cx="3968115" cy="270510"/>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Higher the specificity better is the model</a:t>
            </a:r>
            <a:endParaRPr sz="1600" b="0" i="0" u="none" strike="noStrike" cap="none">
              <a:solidFill>
                <a:srgbClr val="000000"/>
              </a:solidFill>
              <a:latin typeface="Arial"/>
              <a:ea typeface="Arial"/>
              <a:cs typeface="Arial"/>
              <a:sym typeface="Arial"/>
            </a:endParaRPr>
          </a:p>
        </p:txBody>
      </p:sp>
      <p:pic>
        <p:nvPicPr>
          <p:cNvPr id="897" name="Google Shape;897;p102"/>
          <p:cNvPicPr preferRelativeResize="0"/>
          <p:nvPr/>
        </p:nvPicPr>
        <p:blipFill rotWithShape="1">
          <a:blip r:embed="rId4">
            <a:alphaModFix/>
          </a:blip>
          <a:srcRect/>
          <a:stretch/>
        </p:blipFill>
        <p:spPr>
          <a:xfrm>
            <a:off x="585638" y="1832265"/>
            <a:ext cx="3291124" cy="2599511"/>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03"/>
          <p:cNvSpPr txBox="1">
            <a:spLocks noGrp="1"/>
          </p:cNvSpPr>
          <p:nvPr>
            <p:ph type="title"/>
          </p:nvPr>
        </p:nvSpPr>
        <p:spPr>
          <a:xfrm>
            <a:off x="475487" y="512191"/>
            <a:ext cx="1398900" cy="444300"/>
          </a:xfrm>
          <a:prstGeom prst="rect">
            <a:avLst/>
          </a:prstGeom>
          <a:noFill/>
          <a:ln>
            <a:noFill/>
          </a:ln>
        </p:spPr>
        <p:txBody>
          <a:bodyPr spcFirstLastPara="1" wrap="square" lIns="0" tIns="13325" rIns="0" bIns="0" anchor="t" anchorCtr="0">
            <a:spAutoFit/>
          </a:bodyPr>
          <a:lstStyle/>
          <a:p>
            <a:pPr marL="38100" lvl="0" indent="0" algn="l" rtl="0">
              <a:lnSpc>
                <a:spcPct val="100000"/>
              </a:lnSpc>
              <a:spcBef>
                <a:spcPts val="0"/>
              </a:spcBef>
              <a:spcAft>
                <a:spcPts val="0"/>
              </a:spcAft>
              <a:buSzPts val="1400"/>
              <a:buNone/>
            </a:pPr>
            <a:r>
              <a:rPr lang="en-US" sz="2800"/>
              <a:t>F</a:t>
            </a:r>
            <a:r>
              <a:rPr lang="en-US" sz="2775" baseline="-25000"/>
              <a:t>1 </a:t>
            </a:r>
            <a:r>
              <a:rPr lang="en-US" sz="2800"/>
              <a:t>score</a:t>
            </a:r>
            <a:endParaRPr sz="2800"/>
          </a:p>
        </p:txBody>
      </p:sp>
      <p:sp>
        <p:nvSpPr>
          <p:cNvPr id="903" name="Google Shape;903;p103"/>
          <p:cNvSpPr txBox="1"/>
          <p:nvPr/>
        </p:nvSpPr>
        <p:spPr>
          <a:xfrm>
            <a:off x="552094" y="1561845"/>
            <a:ext cx="8152130" cy="1430020"/>
          </a:xfrm>
          <a:prstGeom prst="rect">
            <a:avLst/>
          </a:prstGeom>
          <a:noFill/>
          <a:ln>
            <a:noFill/>
          </a:ln>
        </p:spPr>
        <p:txBody>
          <a:bodyPr spcFirstLastPara="1" wrap="square" lIns="0" tIns="13325" rIns="0" bIns="0" anchor="t" anchorCtr="0">
            <a:spAutoFit/>
          </a:bodyPr>
          <a:lstStyle/>
          <a:p>
            <a:pPr marL="3797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F</a:t>
            </a:r>
            <a:r>
              <a:rPr lang="en-US" sz="1575" b="0" i="0" u="none" strike="noStrike" cap="none" baseline="-25000">
                <a:solidFill>
                  <a:srgbClr val="000000"/>
                </a:solidFill>
                <a:latin typeface="Arial"/>
                <a:ea typeface="Arial"/>
                <a:cs typeface="Arial"/>
                <a:sym typeface="Arial"/>
              </a:rPr>
              <a:t>1 </a:t>
            </a:r>
            <a:r>
              <a:rPr lang="en-US" sz="1600" b="0" i="0" u="none" strike="noStrike" cap="none">
                <a:solidFill>
                  <a:srgbClr val="000000"/>
                </a:solidFill>
                <a:latin typeface="Arial"/>
                <a:ea typeface="Arial"/>
                <a:cs typeface="Arial"/>
                <a:sym typeface="Arial"/>
              </a:rPr>
              <a:t>score is the harmonic mean of precision and recall values for a classification model</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2150"/>
              <a:buFont typeface="Arial"/>
              <a:buNone/>
            </a:pPr>
            <a:endParaRPr sz="2150" b="0" i="0" u="none" strike="noStrike" cap="none">
              <a:solidFill>
                <a:srgbClr val="000000"/>
              </a:solidFill>
              <a:latin typeface="Arial"/>
              <a:ea typeface="Arial"/>
              <a:cs typeface="Arial"/>
              <a:sym typeface="Arial"/>
            </a:endParaRPr>
          </a:p>
          <a:p>
            <a:pPr marL="379730" marR="340360" lvl="0" indent="-329565" algn="just" rtl="0">
              <a:lnSpc>
                <a:spcPct val="1151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It is a good measure if we want to find a balance between precision and recall or if  there is an uneven distribution of classes (either positive or negative class has way  more actual instances than the other)</a:t>
            </a:r>
            <a:endParaRPr sz="1600" b="0" i="0" u="none" strike="noStrike" cap="none">
              <a:solidFill>
                <a:srgbClr val="000000"/>
              </a:solidFill>
              <a:latin typeface="Arial"/>
              <a:ea typeface="Arial"/>
              <a:cs typeface="Arial"/>
              <a:sym typeface="Arial"/>
            </a:endParaRPr>
          </a:p>
        </p:txBody>
      </p:sp>
      <p:sp>
        <p:nvSpPr>
          <p:cNvPr id="904" name="Google Shape;904;p103"/>
          <p:cNvSpPr/>
          <p:nvPr/>
        </p:nvSpPr>
        <p:spPr>
          <a:xfrm>
            <a:off x="1261872" y="3166453"/>
            <a:ext cx="6595430" cy="79463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5" name="Google Shape;905;p103"/>
          <p:cNvSpPr txBox="1"/>
          <p:nvPr/>
        </p:nvSpPr>
        <p:spPr>
          <a:xfrm>
            <a:off x="564794" y="4262424"/>
            <a:ext cx="3703320" cy="270510"/>
          </a:xfrm>
          <a:prstGeom prst="rect">
            <a:avLst/>
          </a:prstGeom>
          <a:noFill/>
          <a:ln>
            <a:noFill/>
          </a:ln>
        </p:spPr>
        <p:txBody>
          <a:bodyPr spcFirstLastPara="1" wrap="square" lIns="0" tIns="13325" rIns="0" bIns="0" anchor="t" anchorCtr="0">
            <a:spAutoFit/>
          </a:bodyPr>
          <a:lstStyle/>
          <a:p>
            <a:pPr marL="3670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Higher the F</a:t>
            </a:r>
            <a:r>
              <a:rPr lang="en-US" sz="1575" b="0" i="0" u="none" strike="noStrike" cap="none" baseline="-25000">
                <a:solidFill>
                  <a:srgbClr val="000000"/>
                </a:solidFill>
                <a:latin typeface="Arial"/>
                <a:ea typeface="Arial"/>
                <a:cs typeface="Arial"/>
                <a:sym typeface="Arial"/>
              </a:rPr>
              <a:t>1 </a:t>
            </a:r>
            <a:r>
              <a:rPr lang="en-US" sz="1600" b="0" i="0" u="none" strike="noStrike" cap="none">
                <a:solidFill>
                  <a:srgbClr val="000000"/>
                </a:solidFill>
                <a:latin typeface="Arial"/>
                <a:ea typeface="Arial"/>
                <a:cs typeface="Arial"/>
                <a:sym typeface="Arial"/>
              </a:rPr>
              <a:t>score better the model</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113"/>
          <p:cNvSpPr txBox="1">
            <a:spLocks noGrp="1"/>
          </p:cNvSpPr>
          <p:nvPr>
            <p:ph type="title"/>
          </p:nvPr>
        </p:nvSpPr>
        <p:spPr>
          <a:xfrm>
            <a:off x="500887" y="512191"/>
            <a:ext cx="3314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Performance metrics</a:t>
            </a:r>
            <a:endParaRPr sz="2800"/>
          </a:p>
        </p:txBody>
      </p:sp>
      <p:sp>
        <p:nvSpPr>
          <p:cNvPr id="989" name="Google Shape;989;p113"/>
          <p:cNvSpPr txBox="1"/>
          <p:nvPr/>
        </p:nvSpPr>
        <p:spPr>
          <a:xfrm>
            <a:off x="462178" y="1813305"/>
            <a:ext cx="7888605" cy="15455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following metrics can be used to evaluate the performance of classification models: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1450"/>
              <a:buFont typeface="Arial"/>
              <a:buNone/>
            </a:pPr>
            <a:endParaRPr sz="1450" b="0" i="0" u="none" strike="noStrike" cap="none">
              <a:solidFill>
                <a:srgbClr val="000000"/>
              </a:solidFill>
              <a:latin typeface="Arial"/>
              <a:ea typeface="Arial"/>
              <a:cs typeface="Arial"/>
              <a:sym typeface="Arial"/>
            </a:endParaRPr>
          </a:p>
          <a:p>
            <a:pPr marL="469900" marR="0" lvl="0" indent="-329565" algn="l" rtl="0">
              <a:lnSpc>
                <a:spcPct val="100000"/>
              </a:lnSpc>
              <a:spcBef>
                <a:spcPts val="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Confusion matrix</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75"/>
              </a:spcBef>
              <a:spcAft>
                <a:spcPts val="0"/>
              </a:spcAft>
              <a:buClr>
                <a:srgbClr val="24AAE1"/>
              </a:buClr>
              <a:buSzPts val="1600"/>
              <a:buFont typeface="Arial"/>
              <a:buChar char="●"/>
            </a:pPr>
            <a:r>
              <a:rPr lang="en-US" sz="1600" b="0" i="0" u="none" strike="noStrike" cap="none">
                <a:solidFill>
                  <a:srgbClr val="24AAE1"/>
                </a:solidFill>
                <a:latin typeface="Arial"/>
                <a:ea typeface="Arial"/>
                <a:cs typeface="Arial"/>
                <a:sym typeface="Arial"/>
              </a:rPr>
              <a:t>Cross entropy</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9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ROC</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14"/>
          <p:cNvSpPr txBox="1">
            <a:spLocks noGrp="1"/>
          </p:cNvSpPr>
          <p:nvPr>
            <p:ph type="title"/>
          </p:nvPr>
        </p:nvSpPr>
        <p:spPr>
          <a:xfrm>
            <a:off x="500887" y="512191"/>
            <a:ext cx="22848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Cross Entropy</a:t>
            </a:r>
            <a:endParaRPr sz="2800"/>
          </a:p>
        </p:txBody>
      </p:sp>
      <p:sp>
        <p:nvSpPr>
          <p:cNvPr id="995" name="Google Shape;995;p114"/>
          <p:cNvSpPr txBox="1"/>
          <p:nvPr/>
        </p:nvSpPr>
        <p:spPr>
          <a:xfrm>
            <a:off x="658774" y="1883155"/>
            <a:ext cx="7142480" cy="950594"/>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Cross entropy is the loss function commonly used in classification problems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341630" marR="0" lvl="0" indent="-329565" algn="l" rtl="0">
              <a:lnSpc>
                <a:spcPct val="100000"/>
              </a:lnSpc>
              <a:spcBef>
                <a:spcPts val="136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As the prediction goes closer to actual value the cross entropy decreases</a:t>
            </a:r>
            <a:endParaRPr sz="1600" b="0" i="0" u="none" strike="noStrike" cap="none">
              <a:solidFill>
                <a:srgbClr val="000000"/>
              </a:solidFill>
              <a:latin typeface="Arial"/>
              <a:ea typeface="Arial"/>
              <a:cs typeface="Arial"/>
              <a:sym typeface="Arial"/>
            </a:endParaRPr>
          </a:p>
        </p:txBody>
      </p:sp>
      <p:sp>
        <p:nvSpPr>
          <p:cNvPr id="996" name="Google Shape;996;p114"/>
          <p:cNvSpPr/>
          <p:nvPr/>
        </p:nvSpPr>
        <p:spPr>
          <a:xfrm>
            <a:off x="2499360" y="2810255"/>
            <a:ext cx="4294632" cy="46024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7" name="Google Shape;997;p114"/>
          <p:cNvSpPr txBox="1"/>
          <p:nvPr/>
        </p:nvSpPr>
        <p:spPr>
          <a:xfrm>
            <a:off x="505358" y="3436901"/>
            <a:ext cx="3530600" cy="1351915"/>
          </a:xfrm>
          <a:prstGeom prst="rect">
            <a:avLst/>
          </a:prstGeom>
          <a:noFill/>
          <a:ln>
            <a:noFill/>
          </a:ln>
        </p:spPr>
        <p:txBody>
          <a:bodyPr spcFirstLastPara="1" wrap="square" lIns="0" tIns="100325" rIns="0" bIns="0" anchor="t" anchorCtr="0">
            <a:spAutoFit/>
          </a:bodyPr>
          <a:lstStyle/>
          <a:p>
            <a:pPr marL="381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 = class (0 or 1)</a:t>
            </a:r>
            <a:endParaRPr sz="1600" b="0" i="0" u="none" strike="noStrike" cap="none">
              <a:solidFill>
                <a:srgbClr val="000000"/>
              </a:solidFill>
              <a:latin typeface="Arial"/>
              <a:ea typeface="Arial"/>
              <a:cs typeface="Arial"/>
              <a:sym typeface="Arial"/>
            </a:endParaRPr>
          </a:p>
          <a:p>
            <a:pPr marL="38100" marR="0" lvl="0" indent="0" algn="l" rtl="0">
              <a:lnSpc>
                <a:spcPct val="100000"/>
              </a:lnSpc>
              <a:spcBef>
                <a:spcPts val="695"/>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H(y) = cross entropy</a:t>
            </a:r>
            <a:endParaRPr sz="1600" b="0" i="0" u="none" strike="noStrike" cap="none">
              <a:solidFill>
                <a:srgbClr val="000000"/>
              </a:solidFill>
              <a:latin typeface="Arial"/>
              <a:ea typeface="Arial"/>
              <a:cs typeface="Arial"/>
              <a:sym typeface="Arial"/>
            </a:endParaRPr>
          </a:p>
          <a:p>
            <a:pPr marL="38100" marR="0" lvl="0" indent="0" algn="l" rtl="0">
              <a:lnSpc>
                <a:spcPct val="100000"/>
              </a:lnSpc>
              <a:spcBef>
                <a:spcPts val="675"/>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y</a:t>
            </a:r>
            <a:r>
              <a:rPr lang="en-US" sz="1575" b="0" i="0" u="none" strike="noStrike" cap="none" baseline="-25000">
                <a:solidFill>
                  <a:srgbClr val="000000"/>
                </a:solidFill>
                <a:latin typeface="Arial"/>
                <a:ea typeface="Arial"/>
                <a:cs typeface="Arial"/>
                <a:sym typeface="Arial"/>
              </a:rPr>
              <a:t>act(i) </a:t>
            </a:r>
            <a:r>
              <a:rPr lang="en-US" sz="1600" b="0" i="0" u="none" strike="noStrike" cap="none">
                <a:solidFill>
                  <a:srgbClr val="000000"/>
                </a:solidFill>
                <a:latin typeface="Arial"/>
                <a:ea typeface="Arial"/>
                <a:cs typeface="Arial"/>
                <a:sym typeface="Arial"/>
              </a:rPr>
              <a:t>= actual probability for class i</a:t>
            </a:r>
            <a:endParaRPr sz="1600" b="0" i="0" u="none" strike="noStrike" cap="none">
              <a:solidFill>
                <a:srgbClr val="000000"/>
              </a:solidFill>
              <a:latin typeface="Arial"/>
              <a:ea typeface="Arial"/>
              <a:cs typeface="Arial"/>
              <a:sym typeface="Arial"/>
            </a:endParaRPr>
          </a:p>
          <a:p>
            <a:pPr marL="38100" marR="0" lvl="0" indent="0" algn="l" rtl="0">
              <a:lnSpc>
                <a:spcPct val="100000"/>
              </a:lnSpc>
              <a:spcBef>
                <a:spcPts val="70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y</a:t>
            </a:r>
            <a:r>
              <a:rPr lang="en-US" sz="1575" b="0" i="0" u="none" strike="noStrike" cap="none" baseline="-25000">
                <a:solidFill>
                  <a:srgbClr val="000000"/>
                </a:solidFill>
                <a:latin typeface="Arial"/>
                <a:ea typeface="Arial"/>
                <a:cs typeface="Arial"/>
                <a:sym typeface="Arial"/>
              </a:rPr>
              <a:t>pred(i) </a:t>
            </a:r>
            <a:r>
              <a:rPr lang="en-US" sz="1600" b="0" i="0" u="none" strike="noStrike" cap="none">
                <a:solidFill>
                  <a:srgbClr val="000000"/>
                </a:solidFill>
                <a:latin typeface="Arial"/>
                <a:ea typeface="Arial"/>
                <a:cs typeface="Arial"/>
                <a:sym typeface="Arial"/>
              </a:rPr>
              <a:t>= predicted probability for class i</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15"/>
          <p:cNvSpPr txBox="1">
            <a:spLocks noGrp="1"/>
          </p:cNvSpPr>
          <p:nvPr>
            <p:ph type="title"/>
          </p:nvPr>
        </p:nvSpPr>
        <p:spPr>
          <a:xfrm>
            <a:off x="500887" y="512191"/>
            <a:ext cx="44202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Calculation of cross entropy</a:t>
            </a:r>
            <a:endParaRPr sz="2800"/>
          </a:p>
        </p:txBody>
      </p:sp>
      <p:sp>
        <p:nvSpPr>
          <p:cNvPr id="1003" name="Google Shape;1003;p115"/>
          <p:cNvSpPr txBox="1"/>
          <p:nvPr/>
        </p:nvSpPr>
        <p:spPr>
          <a:xfrm>
            <a:off x="462178" y="1626235"/>
            <a:ext cx="5650865" cy="2705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Let us consider one observation from our considered example:</a:t>
            </a:r>
            <a:endParaRPr sz="1600" b="0" i="0" u="none" strike="noStrike" cap="none">
              <a:solidFill>
                <a:srgbClr val="000000"/>
              </a:solidFill>
              <a:latin typeface="Arial"/>
              <a:ea typeface="Arial"/>
              <a:cs typeface="Arial"/>
              <a:sym typeface="Arial"/>
            </a:endParaRPr>
          </a:p>
        </p:txBody>
      </p:sp>
      <p:graphicFrame>
        <p:nvGraphicFramePr>
          <p:cNvPr id="1004" name="Google Shape;1004;p115"/>
          <p:cNvGraphicFramePr/>
          <p:nvPr/>
        </p:nvGraphicFramePr>
        <p:xfrm>
          <a:off x="193992" y="2051240"/>
          <a:ext cx="3601725" cy="2430775"/>
        </p:xfrm>
        <a:graphic>
          <a:graphicData uri="http://schemas.openxmlformats.org/drawingml/2006/table">
            <a:tbl>
              <a:tblPr firstRow="1" bandRow="1">
                <a:noFill/>
                <a:tableStyleId>{054B9F56-7B7F-47FA-B4B8-2D57FE789870}</a:tableStyleId>
              </a:tblPr>
              <a:tblGrid>
                <a:gridCol w="1137925">
                  <a:extLst>
                    <a:ext uri="{9D8B030D-6E8A-4147-A177-3AD203B41FA5}">
                      <a16:colId xmlns:a16="http://schemas.microsoft.com/office/drawing/2014/main" val="20000"/>
                    </a:ext>
                  </a:extLst>
                </a:gridCol>
                <a:gridCol w="1217925">
                  <a:extLst>
                    <a:ext uri="{9D8B030D-6E8A-4147-A177-3AD203B41FA5}">
                      <a16:colId xmlns:a16="http://schemas.microsoft.com/office/drawing/2014/main" val="20001"/>
                    </a:ext>
                  </a:extLst>
                </a:gridCol>
                <a:gridCol w="1245875">
                  <a:extLst>
                    <a:ext uri="{9D8B030D-6E8A-4147-A177-3AD203B41FA5}">
                      <a16:colId xmlns:a16="http://schemas.microsoft.com/office/drawing/2014/main" val="20002"/>
                    </a:ext>
                  </a:extLst>
                </a:gridCol>
              </a:tblGrid>
              <a:tr h="7987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Actual</a:t>
                      </a:r>
                      <a:endParaRPr sz="1600" u="none" strike="noStrike" cap="none">
                        <a:latin typeface="Arial"/>
                        <a:ea typeface="Arial"/>
                        <a:cs typeface="Arial"/>
                        <a:sym typeface="Arial"/>
                      </a:endParaRPr>
                    </a:p>
                    <a:p>
                      <a:pPr marL="3175"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probability</a:t>
                      </a:r>
                      <a:endParaRPr sz="1600" u="none" strike="noStrike" cap="none">
                        <a:latin typeface="Arial"/>
                        <a:ea typeface="Arial"/>
                        <a:cs typeface="Arial"/>
                        <a:sym typeface="Arial"/>
                      </a:endParaRPr>
                    </a:p>
                  </a:txBody>
                  <a:tcPr marL="0" marR="0" marT="1517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tc>
                  <a:txBody>
                    <a:bodyPr/>
                    <a:lstStyle/>
                    <a:p>
                      <a:pPr marL="19050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Predicted</a:t>
                      </a:r>
                      <a:endParaRPr sz="1600" u="none" strike="noStrike" cap="none">
                        <a:latin typeface="Arial"/>
                        <a:ea typeface="Arial"/>
                        <a:cs typeface="Arial"/>
                        <a:sym typeface="Arial"/>
                      </a:endParaRPr>
                    </a:p>
                    <a:p>
                      <a:pPr marL="160020" marR="0" lvl="0" indent="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probability</a:t>
                      </a:r>
                      <a:endParaRPr sz="1600" u="none" strike="noStrike" cap="none">
                        <a:latin typeface="Arial"/>
                        <a:ea typeface="Arial"/>
                        <a:cs typeface="Arial"/>
                        <a:sym typeface="Arial"/>
                      </a:endParaRPr>
                    </a:p>
                  </a:txBody>
                  <a:tcPr marL="0" marR="0" marT="1517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813950">
                <a:tc>
                  <a:txBody>
                    <a:bodyPr/>
                    <a:lstStyle/>
                    <a:p>
                      <a:pPr marL="228600" marR="222884" lvl="0" indent="14605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Fish  present</a:t>
                      </a:r>
                      <a:endParaRPr sz="1600" u="none" strike="noStrike" cap="none">
                        <a:latin typeface="Arial"/>
                        <a:ea typeface="Arial"/>
                        <a:cs typeface="Arial"/>
                        <a:sym typeface="Arial"/>
                      </a:endParaRPr>
                    </a:p>
                  </a:txBody>
                  <a:tcPr marL="0" marR="0" marT="1600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tc>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44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p>
                      <a:pPr marL="127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0.72</a:t>
                      </a:r>
                      <a:endParaRPr sz="1600" u="none" strike="noStrike" cap="none">
                        <a:latin typeface="Arial"/>
                        <a:ea typeface="Arial"/>
                        <a:cs typeface="Arial"/>
                        <a:sym typeface="Arial"/>
                      </a:endParaRPr>
                    </a:p>
                  </a:txBody>
                  <a:tcPr marL="0" marR="0" marT="44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18125">
                <a:tc>
                  <a:txBody>
                    <a:bodyPr/>
                    <a:lstStyle/>
                    <a:p>
                      <a:pPr marL="228600" marR="201295" lvl="0" indent="-21590" algn="l"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Fish not  present</a:t>
                      </a:r>
                      <a:endParaRPr sz="1600" u="none" strike="noStrike" cap="none">
                        <a:latin typeface="Arial"/>
                        <a:ea typeface="Arial"/>
                        <a:cs typeface="Arial"/>
                        <a:sym typeface="Arial"/>
                      </a:endParaRPr>
                    </a:p>
                  </a:txBody>
                  <a:tcPr marL="0" marR="0" marT="1625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D9D9"/>
                    </a:solidFill>
                  </a:tcPr>
                </a:tc>
                <a:tc>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0</a:t>
                      </a:r>
                      <a:endParaRPr sz="1600" u="none" strike="noStrike" cap="none">
                        <a:latin typeface="Arial"/>
                        <a:ea typeface="Arial"/>
                        <a:cs typeface="Arial"/>
                        <a:sym typeface="Arial"/>
                      </a:endParaRPr>
                    </a:p>
                  </a:txBody>
                  <a:tcPr marL="0" marR="0" marT="6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p>
                      <a:pPr marL="1270" marR="0" lvl="0" indent="0" algn="ctr" rtl="0">
                        <a:lnSpc>
                          <a:spcPct val="100000"/>
                        </a:lnSpc>
                        <a:spcBef>
                          <a:spcPts val="0"/>
                        </a:spcBef>
                        <a:spcAft>
                          <a:spcPts val="0"/>
                        </a:spcAft>
                        <a:buClr>
                          <a:srgbClr val="000000"/>
                        </a:buClr>
                        <a:buSzPts val="1600"/>
                        <a:buFont typeface="Arial"/>
                        <a:buNone/>
                      </a:pPr>
                      <a:r>
                        <a:rPr lang="en-US" sz="1600" u="none" strike="noStrike" cap="none">
                          <a:latin typeface="Arial"/>
                          <a:ea typeface="Arial"/>
                          <a:cs typeface="Arial"/>
                          <a:sym typeface="Arial"/>
                        </a:rPr>
                        <a:t>0.28</a:t>
                      </a:r>
                      <a:endParaRPr sz="1600" u="none" strike="noStrike" cap="none">
                        <a:latin typeface="Arial"/>
                        <a:ea typeface="Arial"/>
                        <a:cs typeface="Arial"/>
                        <a:sym typeface="Arial"/>
                      </a:endParaRPr>
                    </a:p>
                  </a:txBody>
                  <a:tcPr marL="0" marR="0" marT="69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05" name="Google Shape;1005;p115"/>
          <p:cNvSpPr/>
          <p:nvPr/>
        </p:nvSpPr>
        <p:spPr>
          <a:xfrm>
            <a:off x="3929763" y="2233404"/>
            <a:ext cx="3120115" cy="30685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6" name="Google Shape;1006;p115"/>
          <p:cNvSpPr/>
          <p:nvPr/>
        </p:nvSpPr>
        <p:spPr>
          <a:xfrm>
            <a:off x="4551334" y="2779921"/>
            <a:ext cx="4187833" cy="306106"/>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7" name="Google Shape;1007;p115"/>
          <p:cNvSpPr/>
          <p:nvPr/>
        </p:nvSpPr>
        <p:spPr>
          <a:xfrm>
            <a:off x="4564311" y="3328077"/>
            <a:ext cx="3473698" cy="27372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8" name="Google Shape;1008;p115"/>
          <p:cNvSpPr/>
          <p:nvPr/>
        </p:nvSpPr>
        <p:spPr>
          <a:xfrm>
            <a:off x="4569119" y="3868768"/>
            <a:ext cx="2858197" cy="2737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116"/>
          <p:cNvSpPr txBox="1">
            <a:spLocks noGrp="1"/>
          </p:cNvSpPr>
          <p:nvPr>
            <p:ph type="title"/>
          </p:nvPr>
        </p:nvSpPr>
        <p:spPr>
          <a:xfrm>
            <a:off x="500887" y="512191"/>
            <a:ext cx="33147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Performance metrics</a:t>
            </a:r>
            <a:endParaRPr sz="2800"/>
          </a:p>
        </p:txBody>
      </p:sp>
      <p:sp>
        <p:nvSpPr>
          <p:cNvPr id="1014" name="Google Shape;1014;p116"/>
          <p:cNvSpPr txBox="1"/>
          <p:nvPr/>
        </p:nvSpPr>
        <p:spPr>
          <a:xfrm>
            <a:off x="462178" y="1813305"/>
            <a:ext cx="7888605" cy="15455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The following metrics can be used to evaluate the performance of classification models: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1450"/>
              <a:buFont typeface="Arial"/>
              <a:buNone/>
            </a:pPr>
            <a:endParaRPr sz="1450" b="0" i="0" u="none" strike="noStrike" cap="none">
              <a:solidFill>
                <a:srgbClr val="000000"/>
              </a:solidFill>
              <a:latin typeface="Arial"/>
              <a:ea typeface="Arial"/>
              <a:cs typeface="Arial"/>
              <a:sym typeface="Arial"/>
            </a:endParaRPr>
          </a:p>
          <a:p>
            <a:pPr marL="469900" marR="0" lvl="0" indent="-329565" algn="l" rtl="0">
              <a:lnSpc>
                <a:spcPct val="100000"/>
              </a:lnSpc>
              <a:spcBef>
                <a:spcPts val="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Confusion matrix</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7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Cross entropy</a:t>
            </a:r>
            <a:endParaRPr sz="1600" b="0" i="0" u="none" strike="noStrike" cap="none">
              <a:solidFill>
                <a:srgbClr val="000000"/>
              </a:solidFill>
              <a:latin typeface="Arial"/>
              <a:ea typeface="Arial"/>
              <a:cs typeface="Arial"/>
              <a:sym typeface="Arial"/>
            </a:endParaRPr>
          </a:p>
          <a:p>
            <a:pPr marL="469900" marR="0" lvl="0" indent="-329565" algn="l" rtl="0">
              <a:lnSpc>
                <a:spcPct val="100000"/>
              </a:lnSpc>
              <a:spcBef>
                <a:spcPts val="1295"/>
              </a:spcBef>
              <a:spcAft>
                <a:spcPts val="0"/>
              </a:spcAft>
              <a:buClr>
                <a:srgbClr val="24AAE1"/>
              </a:buClr>
              <a:buSzPts val="1600"/>
              <a:buFont typeface="Arial"/>
              <a:buChar char="●"/>
            </a:pPr>
            <a:r>
              <a:rPr lang="en-US" sz="1600" b="1" i="0" u="none" strike="noStrike" cap="none">
                <a:solidFill>
                  <a:srgbClr val="24AAE1"/>
                </a:solidFill>
                <a:latin typeface="Arial"/>
                <a:ea typeface="Arial"/>
                <a:cs typeface="Arial"/>
                <a:sym typeface="Arial"/>
              </a:rPr>
              <a:t>ROC</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148"/>
          <p:cNvSpPr txBox="1"/>
          <p:nvPr/>
        </p:nvSpPr>
        <p:spPr>
          <a:xfrm>
            <a:off x="500887" y="512191"/>
            <a:ext cx="816610" cy="4533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Arial"/>
                <a:ea typeface="Arial"/>
                <a:cs typeface="Arial"/>
                <a:sym typeface="Arial"/>
              </a:rPr>
              <a:t>ROC</a:t>
            </a:r>
            <a:endParaRPr sz="2800" b="0" i="0" u="none" strike="noStrike" cap="none">
              <a:solidFill>
                <a:srgbClr val="000000"/>
              </a:solidFill>
              <a:latin typeface="Arial"/>
              <a:ea typeface="Arial"/>
              <a:cs typeface="Arial"/>
              <a:sym typeface="Arial"/>
            </a:endParaRPr>
          </a:p>
        </p:txBody>
      </p:sp>
      <p:sp>
        <p:nvSpPr>
          <p:cNvPr id="1020" name="Google Shape;1020;p148"/>
          <p:cNvSpPr txBox="1"/>
          <p:nvPr/>
        </p:nvSpPr>
        <p:spPr>
          <a:xfrm>
            <a:off x="590194" y="1561845"/>
            <a:ext cx="8145145" cy="1898587"/>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Receiver operating characteristics (ROC) curve </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1225"/>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The TPR and FPR values change with different threshold values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122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ROC curve is the plot of TPR against the FPR values obtained at all possible threshold</a:t>
            </a:r>
            <a:endParaRPr sz="1600" b="0" i="0" u="none" strike="noStrike" cap="none" dirty="0">
              <a:solidFill>
                <a:srgbClr val="000000"/>
              </a:solidFill>
              <a:latin typeface="Arial"/>
              <a:ea typeface="Arial"/>
              <a:cs typeface="Arial"/>
              <a:sym typeface="Arial"/>
            </a:endParaRPr>
          </a:p>
          <a:p>
            <a:pPr marL="341630" marR="0" lvl="0" indent="0" algn="l" rtl="0">
              <a:lnSpc>
                <a:spcPct val="100000"/>
              </a:lnSpc>
              <a:spcBef>
                <a:spcPts val="290"/>
              </a:spcBef>
              <a:spcAft>
                <a:spcPts val="0"/>
              </a:spcAft>
              <a:buClr>
                <a:srgbClr val="000000"/>
              </a:buClr>
              <a:buSzPts val="1600"/>
              <a:buFont typeface="Arial"/>
              <a:buNone/>
            </a:pPr>
            <a:r>
              <a:rPr lang="en-US" sz="1600" b="0" i="0" u="none" strike="noStrike" cap="none" dirty="0">
                <a:solidFill>
                  <a:srgbClr val="000000"/>
                </a:solidFill>
                <a:latin typeface="Arial"/>
                <a:ea typeface="Arial"/>
                <a:cs typeface="Arial"/>
                <a:sym typeface="Arial"/>
              </a:rPr>
              <a:t>values</a:t>
            </a:r>
            <a:endParaRPr sz="1600" b="0" i="0" u="none" strike="noStrike" cap="none" dirty="0">
              <a:solidFill>
                <a:srgbClr val="000000"/>
              </a:solidFill>
              <a:latin typeface="Arial"/>
              <a:ea typeface="Arial"/>
              <a:cs typeface="Arial"/>
              <a:sym typeface="Arial"/>
            </a:endParaRPr>
          </a:p>
        </p:txBody>
      </p:sp>
      <p:pic>
        <p:nvPicPr>
          <p:cNvPr id="1021" name="Google Shape;1021;p148"/>
          <p:cNvPicPr preferRelativeResize="0"/>
          <p:nvPr/>
        </p:nvPicPr>
        <p:blipFill rotWithShape="1">
          <a:blip r:embed="rId3">
            <a:alphaModFix/>
          </a:blip>
          <a:srcRect/>
          <a:stretch/>
        </p:blipFill>
        <p:spPr>
          <a:xfrm>
            <a:off x="7840600" y="62275"/>
            <a:ext cx="1212401" cy="58382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118"/>
          <p:cNvSpPr txBox="1">
            <a:spLocks noGrp="1"/>
          </p:cNvSpPr>
          <p:nvPr>
            <p:ph type="title"/>
          </p:nvPr>
        </p:nvSpPr>
        <p:spPr>
          <a:xfrm>
            <a:off x="500887" y="512191"/>
            <a:ext cx="4353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ROC curve for our example</a:t>
            </a:r>
            <a:endParaRPr sz="2800"/>
          </a:p>
        </p:txBody>
      </p:sp>
      <p:sp>
        <p:nvSpPr>
          <p:cNvPr id="1027" name="Google Shape;1027;p118"/>
          <p:cNvSpPr/>
          <p:nvPr/>
        </p:nvSpPr>
        <p:spPr>
          <a:xfrm>
            <a:off x="240913" y="1667255"/>
            <a:ext cx="5467990" cy="311810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F6AFC1F0-C1D6-40DC-9534-8EF8575631CF}"/>
              </a:ext>
            </a:extLst>
          </p:cNvPr>
          <p:cNvSpPr txBox="1"/>
          <p:nvPr/>
        </p:nvSpPr>
        <p:spPr>
          <a:xfrm>
            <a:off x="5777948" y="3122520"/>
            <a:ext cx="3279913" cy="1600438"/>
          </a:xfrm>
          <a:prstGeom prst="rect">
            <a:avLst/>
          </a:prstGeom>
          <a:noFill/>
        </p:spPr>
        <p:txBody>
          <a:bodyPr wrap="square">
            <a:spAutoFit/>
          </a:bodyPr>
          <a:lstStyle/>
          <a:p>
            <a:r>
              <a:rPr lang="en-US" dirty="0"/>
              <a:t>shows how the model performs at </a:t>
            </a:r>
            <a:r>
              <a:rPr lang="en-US" b="1" dirty="0"/>
              <a:t>different classification thresholds</a:t>
            </a:r>
            <a:r>
              <a:rPr lang="en-US" dirty="0"/>
              <a:t>.</a:t>
            </a:r>
          </a:p>
          <a:p>
            <a:pPr>
              <a:buFont typeface="Arial" panose="020B0604020202020204" pitchFamily="34" charset="0"/>
              <a:buChar char="•"/>
            </a:pPr>
            <a:r>
              <a:rPr lang="en-US" dirty="0"/>
              <a:t>A higher curve = better model</a:t>
            </a:r>
          </a:p>
          <a:p>
            <a:pPr>
              <a:buFont typeface="Arial" panose="020B0604020202020204" pitchFamily="34" charset="0"/>
              <a:buChar char="•"/>
            </a:pPr>
            <a:r>
              <a:rPr lang="en-US" dirty="0"/>
              <a:t>A curve close to diagonal = poor model</a:t>
            </a:r>
          </a:p>
          <a:p>
            <a:pPr>
              <a:buFont typeface="Arial" panose="020B0604020202020204" pitchFamily="34" charset="0"/>
              <a:buChar char="•"/>
            </a:pPr>
            <a:r>
              <a:rPr lang="en-US" dirty="0"/>
              <a:t>A curve close to top-left = excellent model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149"/>
          <p:cNvSpPr txBox="1"/>
          <p:nvPr/>
        </p:nvSpPr>
        <p:spPr>
          <a:xfrm>
            <a:off x="500887" y="512191"/>
            <a:ext cx="777240" cy="45339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Arial"/>
                <a:ea typeface="Arial"/>
                <a:cs typeface="Arial"/>
                <a:sym typeface="Arial"/>
              </a:rPr>
              <a:t>AUC</a:t>
            </a:r>
            <a:endParaRPr sz="2800" b="0" i="0" u="none" strike="noStrike" cap="none">
              <a:solidFill>
                <a:srgbClr val="000000"/>
              </a:solidFill>
              <a:latin typeface="Arial"/>
              <a:ea typeface="Arial"/>
              <a:cs typeface="Arial"/>
              <a:sym typeface="Arial"/>
            </a:endParaRPr>
          </a:p>
        </p:txBody>
      </p:sp>
      <p:sp>
        <p:nvSpPr>
          <p:cNvPr id="1034" name="Google Shape;1034;p149"/>
          <p:cNvSpPr txBox="1"/>
          <p:nvPr/>
        </p:nvSpPr>
        <p:spPr>
          <a:xfrm>
            <a:off x="702838" y="965581"/>
            <a:ext cx="8199120" cy="1782445"/>
          </a:xfrm>
          <a:prstGeom prst="rect">
            <a:avLst/>
          </a:prstGeom>
          <a:noFill/>
          <a:ln>
            <a:noFill/>
          </a:ln>
        </p:spPr>
        <p:txBody>
          <a:bodyPr spcFirstLastPara="1" wrap="square" lIns="0" tIns="12050" rIns="0" bIns="0" anchor="t" anchorCtr="0">
            <a:spAutoFit/>
          </a:bodyPr>
          <a:lstStyle/>
          <a:p>
            <a:pPr marL="341630" marR="5080" lvl="0" indent="-329565" algn="l" rtl="0">
              <a:lnSpc>
                <a:spcPct val="115199"/>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Area under the ROC curve (AUC) is the measure of separability between the classes of  target variables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AUC increases as the separation between the classes increases</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3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dirty="0">
                <a:solidFill>
                  <a:srgbClr val="000000"/>
                </a:solidFill>
                <a:latin typeface="Arial"/>
                <a:ea typeface="Arial"/>
                <a:cs typeface="Arial"/>
                <a:sym typeface="Arial"/>
              </a:rPr>
              <a:t>Higher the AUC better the model</a:t>
            </a:r>
            <a:endParaRPr sz="1600" b="0" i="0" u="none" strike="noStrike" cap="none" dirty="0">
              <a:solidFill>
                <a:srgbClr val="000000"/>
              </a:solidFill>
              <a:latin typeface="Arial"/>
              <a:ea typeface="Arial"/>
              <a:cs typeface="Arial"/>
              <a:sym typeface="Arial"/>
            </a:endParaRPr>
          </a:p>
        </p:txBody>
      </p:sp>
      <p:sp>
        <p:nvSpPr>
          <p:cNvPr id="5" name="TextBox 4">
            <a:extLst>
              <a:ext uri="{FF2B5EF4-FFF2-40B4-BE49-F238E27FC236}">
                <a16:creationId xmlns:a16="http://schemas.microsoft.com/office/drawing/2014/main" id="{01456F4A-DCDB-4494-99D5-03A9477604F0}"/>
              </a:ext>
            </a:extLst>
          </p:cNvPr>
          <p:cNvSpPr txBox="1"/>
          <p:nvPr/>
        </p:nvSpPr>
        <p:spPr>
          <a:xfrm>
            <a:off x="702838" y="2955164"/>
            <a:ext cx="7888167" cy="226324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When AUC is equal to 1, the classifier is able to perfectly distinguish between all Positive and Negative class points. </a:t>
            </a:r>
          </a:p>
          <a:p>
            <a:pPr marL="285750" indent="-285750">
              <a:lnSpc>
                <a:spcPct val="150000"/>
              </a:lnSpc>
              <a:buFont typeface="Arial" panose="020B0604020202020204" pitchFamily="34" charset="0"/>
              <a:buChar char="•"/>
            </a:pPr>
            <a:endParaRPr lang="en-US" sz="1600" dirty="0"/>
          </a:p>
          <a:p>
            <a:pPr marL="285750" indent="-285750">
              <a:lnSpc>
                <a:spcPct val="150000"/>
              </a:lnSpc>
              <a:buFont typeface="Arial" panose="020B0604020202020204" pitchFamily="34" charset="0"/>
              <a:buChar char="•"/>
            </a:pPr>
            <a:r>
              <a:rPr lang="en-US" sz="1600" dirty="0"/>
              <a:t>When AUC is equal to 0, the classifier would be predicting all Negatives as Positives and vice versa. When AUC is 0.5, the classifier is not able to distinguish between the Positive and Negative classes</a:t>
            </a:r>
            <a:r>
              <a:rPr lang="en-US" b="0" i="0" dirty="0">
                <a:solidFill>
                  <a:srgbClr val="383838"/>
                </a:solidFill>
                <a:effectLst/>
                <a:latin typeface="Inter"/>
              </a:rPr>
              <a:t>.</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20"/>
          <p:cNvSpPr txBox="1">
            <a:spLocks noGrp="1"/>
          </p:cNvSpPr>
          <p:nvPr>
            <p:ph type="title"/>
          </p:nvPr>
        </p:nvSpPr>
        <p:spPr>
          <a:xfrm>
            <a:off x="462178" y="463676"/>
            <a:ext cx="72048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Effect of separation between classes on ROC</a:t>
            </a:r>
            <a:endParaRPr sz="2800"/>
          </a:p>
        </p:txBody>
      </p:sp>
      <p:sp>
        <p:nvSpPr>
          <p:cNvPr id="1040" name="Google Shape;1040;p120"/>
          <p:cNvSpPr/>
          <p:nvPr/>
        </p:nvSpPr>
        <p:spPr>
          <a:xfrm>
            <a:off x="741063" y="1267967"/>
            <a:ext cx="7553193" cy="353157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122"/>
          <p:cNvSpPr txBox="1">
            <a:spLocks noGrp="1"/>
          </p:cNvSpPr>
          <p:nvPr>
            <p:ph type="title"/>
          </p:nvPr>
        </p:nvSpPr>
        <p:spPr>
          <a:xfrm>
            <a:off x="390550" y="2240356"/>
            <a:ext cx="3869700" cy="6297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a:t>Imbalanced Data</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123"/>
          <p:cNvSpPr txBox="1">
            <a:spLocks noGrp="1"/>
          </p:cNvSpPr>
          <p:nvPr>
            <p:ph type="title"/>
          </p:nvPr>
        </p:nvSpPr>
        <p:spPr>
          <a:xfrm>
            <a:off x="500887" y="512191"/>
            <a:ext cx="26619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Imbalanced data</a:t>
            </a:r>
            <a:endParaRPr sz="2800"/>
          </a:p>
        </p:txBody>
      </p:sp>
      <p:sp>
        <p:nvSpPr>
          <p:cNvPr id="1051" name="Google Shape;1051;p123"/>
          <p:cNvSpPr txBox="1"/>
          <p:nvPr/>
        </p:nvSpPr>
        <p:spPr>
          <a:xfrm>
            <a:off x="628904" y="1813305"/>
            <a:ext cx="7952105" cy="1756410"/>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Data is imbalanced if there are more records of one class compared to other classes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5"/>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Imbalanced data may lead to the accuracy paradox</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3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341630" marR="0" lvl="0" indent="-329565" algn="l" rtl="0">
              <a:lnSpc>
                <a:spcPct val="100000"/>
              </a:lnSpc>
              <a:spcBef>
                <a:spcPts val="5"/>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In reality datasets always have some degree of imbalance</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24"/>
          <p:cNvSpPr txBox="1">
            <a:spLocks noGrp="1"/>
          </p:cNvSpPr>
          <p:nvPr>
            <p:ph type="title"/>
          </p:nvPr>
        </p:nvSpPr>
        <p:spPr>
          <a:xfrm>
            <a:off x="500887" y="512191"/>
            <a:ext cx="45213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Example of imbalanced data</a:t>
            </a:r>
            <a:endParaRPr sz="2800"/>
          </a:p>
        </p:txBody>
      </p:sp>
      <p:sp>
        <p:nvSpPr>
          <p:cNvPr id="1057" name="Google Shape;1057;p124"/>
          <p:cNvSpPr txBox="1"/>
          <p:nvPr/>
        </p:nvSpPr>
        <p:spPr>
          <a:xfrm>
            <a:off x="528624" y="1709369"/>
            <a:ext cx="5739765"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For example : Consider we have information about 500 patients</a:t>
            </a:r>
            <a:endParaRPr sz="1600" b="0" i="0" u="none" strike="noStrike" cap="none">
              <a:solidFill>
                <a:srgbClr val="000000"/>
              </a:solidFill>
              <a:latin typeface="Arial"/>
              <a:ea typeface="Arial"/>
              <a:cs typeface="Arial"/>
              <a:sym typeface="Arial"/>
            </a:endParaRPr>
          </a:p>
        </p:txBody>
      </p:sp>
      <p:graphicFrame>
        <p:nvGraphicFramePr>
          <p:cNvPr id="1058" name="Google Shape;1058;p124"/>
          <p:cNvGraphicFramePr/>
          <p:nvPr/>
        </p:nvGraphicFramePr>
        <p:xfrm>
          <a:off x="2362644" y="2259393"/>
          <a:ext cx="4228450" cy="1228600"/>
        </p:xfrm>
        <a:graphic>
          <a:graphicData uri="http://schemas.openxmlformats.org/drawingml/2006/table">
            <a:tbl>
              <a:tblPr firstRow="1" bandRow="1">
                <a:noFill/>
                <a:tableStyleId>{054B9F56-7B7F-47FA-B4B8-2D57FE789870}</a:tableStyleId>
              </a:tblPr>
              <a:tblGrid>
                <a:gridCol w="1767200">
                  <a:extLst>
                    <a:ext uri="{9D8B030D-6E8A-4147-A177-3AD203B41FA5}">
                      <a16:colId xmlns:a16="http://schemas.microsoft.com/office/drawing/2014/main" val="20000"/>
                    </a:ext>
                  </a:extLst>
                </a:gridCol>
                <a:gridCol w="1263650">
                  <a:extLst>
                    <a:ext uri="{9D8B030D-6E8A-4147-A177-3AD203B41FA5}">
                      <a16:colId xmlns:a16="http://schemas.microsoft.com/office/drawing/2014/main" val="20001"/>
                    </a:ext>
                  </a:extLst>
                </a:gridCol>
                <a:gridCol w="1197600">
                  <a:extLst>
                    <a:ext uri="{9D8B030D-6E8A-4147-A177-3AD203B41FA5}">
                      <a16:colId xmlns:a16="http://schemas.microsoft.com/office/drawing/2014/main" val="20002"/>
                    </a:ext>
                  </a:extLst>
                </a:gridCol>
              </a:tblGrid>
              <a:tr h="416175">
                <a:tc>
                  <a:txBody>
                    <a:bodyPr/>
                    <a:lstStyle/>
                    <a:p>
                      <a:pPr marL="0" marR="0" lvl="0" indent="0" algn="l" rtl="0">
                        <a:lnSpc>
                          <a:spcPct val="100000"/>
                        </a:lnSpc>
                        <a:spcBef>
                          <a:spcPts val="0"/>
                        </a:spcBef>
                        <a:spcAft>
                          <a:spcPts val="0"/>
                        </a:spcAft>
                        <a:buClr>
                          <a:srgbClr val="000000"/>
                        </a:buClr>
                        <a:buSzPts val="1700"/>
                        <a:buFont typeface="Arial"/>
                        <a:buNone/>
                      </a:pPr>
                      <a:endParaRPr sz="17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Diabetic- Yes</a:t>
                      </a:r>
                      <a:endParaRPr sz="1400" u="none" strike="noStrike" cap="none">
                        <a:latin typeface="Arial"/>
                        <a:ea typeface="Arial"/>
                        <a:cs typeface="Arial"/>
                        <a:sym typeface="Arial"/>
                      </a:endParaRPr>
                    </a:p>
                  </a:txBody>
                  <a:tcPr marL="0" marR="0" marT="882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Diabetic-No</a:t>
                      </a:r>
                      <a:endParaRPr sz="1400" u="none" strike="noStrike" cap="none">
                        <a:latin typeface="Arial"/>
                        <a:ea typeface="Arial"/>
                        <a:cs typeface="Arial"/>
                        <a:sym typeface="Arial"/>
                      </a:endParaRPr>
                    </a:p>
                  </a:txBody>
                  <a:tcPr marL="0" marR="0" marT="882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16175">
                <a:tc>
                  <a:txBody>
                    <a:bodyPr/>
                    <a:lstStyle/>
                    <a:p>
                      <a:pPr marL="92075"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Number of records</a:t>
                      </a:r>
                      <a:endParaRPr sz="14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79</a:t>
                      </a:r>
                      <a:endParaRPr sz="14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421</a:t>
                      </a:r>
                      <a:endParaRPr sz="1400" u="none" strike="noStrike" cap="none">
                        <a:latin typeface="Arial"/>
                        <a:ea typeface="Arial"/>
                        <a:cs typeface="Arial"/>
                        <a:sym typeface="Arial"/>
                      </a:endParaRPr>
                    </a:p>
                  </a:txBody>
                  <a:tcPr marL="0" marR="0" marT="8890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96250">
                <a:tc>
                  <a:txBody>
                    <a:bodyPr/>
                    <a:lstStyle/>
                    <a:p>
                      <a:pPr marL="92075"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 of records</a:t>
                      </a:r>
                      <a:endParaRPr sz="1400" u="none" strike="noStrike" cap="none">
                        <a:latin typeface="Arial"/>
                        <a:ea typeface="Arial"/>
                        <a:cs typeface="Arial"/>
                        <a:sym typeface="Arial"/>
                      </a:endParaRPr>
                    </a:p>
                  </a:txBody>
                  <a:tcPr marL="0" marR="0" marT="895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15.8</a:t>
                      </a:r>
                      <a:endParaRPr sz="1400" u="none" strike="noStrike" cap="none">
                        <a:latin typeface="Arial"/>
                        <a:ea typeface="Arial"/>
                        <a:cs typeface="Arial"/>
                        <a:sym typeface="Arial"/>
                      </a:endParaRPr>
                    </a:p>
                  </a:txBody>
                  <a:tcPr marL="0" marR="0" marT="895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92710" marR="0" lvl="0" indent="0" algn="l" rtl="0">
                        <a:lnSpc>
                          <a:spcPct val="100000"/>
                        </a:lnSpc>
                        <a:spcBef>
                          <a:spcPts val="0"/>
                        </a:spcBef>
                        <a:spcAft>
                          <a:spcPts val="0"/>
                        </a:spcAft>
                        <a:buClr>
                          <a:srgbClr val="000000"/>
                        </a:buClr>
                        <a:buSzPts val="1400"/>
                        <a:buFont typeface="Arial"/>
                        <a:buNone/>
                      </a:pPr>
                      <a:r>
                        <a:rPr lang="en-US" sz="1400" u="none" strike="noStrike" cap="none">
                          <a:latin typeface="Arial"/>
                          <a:ea typeface="Arial"/>
                          <a:cs typeface="Arial"/>
                          <a:sym typeface="Arial"/>
                        </a:rPr>
                        <a:t>84.2</a:t>
                      </a:r>
                      <a:endParaRPr sz="1400" u="none" strike="noStrike" cap="none">
                        <a:latin typeface="Arial"/>
                        <a:ea typeface="Arial"/>
                        <a:cs typeface="Arial"/>
                        <a:sym typeface="Arial"/>
                      </a:endParaRPr>
                    </a:p>
                  </a:txBody>
                  <a:tcPr marL="0" marR="0" marT="8952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125"/>
          <p:cNvSpPr txBox="1">
            <a:spLocks noGrp="1"/>
          </p:cNvSpPr>
          <p:nvPr>
            <p:ph type="title"/>
          </p:nvPr>
        </p:nvSpPr>
        <p:spPr>
          <a:xfrm>
            <a:off x="500887" y="512191"/>
            <a:ext cx="4149000" cy="4443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2800"/>
              <a:t>Handling imbalanced data</a:t>
            </a:r>
            <a:endParaRPr sz="2800"/>
          </a:p>
        </p:txBody>
      </p:sp>
      <p:sp>
        <p:nvSpPr>
          <p:cNvPr id="1064" name="Google Shape;1064;p125"/>
          <p:cNvSpPr txBox="1"/>
          <p:nvPr/>
        </p:nvSpPr>
        <p:spPr>
          <a:xfrm>
            <a:off x="570687" y="1813305"/>
            <a:ext cx="3288665" cy="2222500"/>
          </a:xfrm>
          <a:prstGeom prst="rect">
            <a:avLst/>
          </a:prstGeom>
          <a:noFill/>
          <a:ln>
            <a:noFill/>
          </a:ln>
        </p:spPr>
        <p:txBody>
          <a:bodyPr spcFirstLastPara="1" wrap="square" lIns="0" tIns="13325" rIns="0" bIns="0" anchor="t" anchorCtr="0">
            <a:spAutoFit/>
          </a:bodyPr>
          <a:lstStyle/>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Up sample minority class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Down sample majority class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Change the performance metric</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Try synthetic sampling approach</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25"/>
              </a:spcBef>
              <a:spcAft>
                <a:spcPts val="0"/>
              </a:spcAft>
              <a:buClr>
                <a:srgbClr val="000000"/>
              </a:buClr>
              <a:buSzPts val="1650"/>
              <a:buFont typeface="Arial"/>
              <a:buNone/>
            </a:pPr>
            <a:endParaRPr sz="1650" b="0" i="0" u="none" strike="noStrike" cap="none">
              <a:solidFill>
                <a:srgbClr val="000000"/>
              </a:solidFill>
              <a:latin typeface="Arial"/>
              <a:ea typeface="Arial"/>
              <a:cs typeface="Arial"/>
              <a:sym typeface="Arial"/>
            </a:endParaRPr>
          </a:p>
          <a:p>
            <a:pPr marL="341630" marR="0" lvl="0" indent="-329565" algn="l" rtl="0">
              <a:lnSpc>
                <a:spcPct val="10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Use different algorithm</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126"/>
          <p:cNvSpPr/>
          <p:nvPr/>
        </p:nvSpPr>
        <p:spPr>
          <a:xfrm>
            <a:off x="420623" y="161543"/>
            <a:ext cx="944880" cy="81381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126"/>
          <p:cNvSpPr txBox="1"/>
          <p:nvPr/>
        </p:nvSpPr>
        <p:spPr>
          <a:xfrm>
            <a:off x="597814" y="1874977"/>
            <a:ext cx="7935595" cy="1925955"/>
          </a:xfrm>
          <a:prstGeom prst="rect">
            <a:avLst/>
          </a:prstGeom>
          <a:noFill/>
          <a:ln>
            <a:noFill/>
          </a:ln>
        </p:spPr>
        <p:txBody>
          <a:bodyPr spcFirstLastPara="1" wrap="square" lIns="0" tIns="12700" rIns="0" bIns="0" anchor="t" anchorCtr="0">
            <a:spAutoFit/>
          </a:bodyPr>
          <a:lstStyle/>
          <a:p>
            <a:pPr marL="353695" marR="0" lvl="0" indent="-34163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SMOTE (Synthetic Minority Oversampling Technique) is one of the most</a:t>
            </a:r>
            <a:endParaRPr sz="1800" b="0" i="0" u="none" strike="noStrike" cap="none">
              <a:solidFill>
                <a:srgbClr val="000000"/>
              </a:solidFill>
              <a:latin typeface="Arial"/>
              <a:ea typeface="Arial"/>
              <a:cs typeface="Arial"/>
              <a:sym typeface="Arial"/>
            </a:endParaRPr>
          </a:p>
          <a:p>
            <a:pPr marL="353695" marR="0" lvl="0" indent="0" algn="l"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used techniques to deal with an imbalanced data</a:t>
            </a:r>
            <a:endParaRPr sz="1800" b="0" i="0" u="none" strike="noStrike" cap="none">
              <a:solidFill>
                <a:srgbClr val="000000"/>
              </a:solidFill>
              <a:latin typeface="Arial"/>
              <a:ea typeface="Arial"/>
              <a:cs typeface="Arial"/>
              <a:sym typeface="Arial"/>
            </a:endParaRPr>
          </a:p>
          <a:p>
            <a:pPr marL="353695" marR="0" lvl="0" indent="-341630" algn="l" rtl="0">
              <a:lnSpc>
                <a:spcPct val="100000"/>
              </a:lnSpc>
              <a:spcBef>
                <a:spcPts val="101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It generates the synthetic samples for the minority class (a class with fewer</a:t>
            </a:r>
            <a:endParaRPr sz="1800" b="0" i="0" u="none" strike="noStrike" cap="none">
              <a:solidFill>
                <a:srgbClr val="000000"/>
              </a:solidFill>
              <a:latin typeface="Arial"/>
              <a:ea typeface="Arial"/>
              <a:cs typeface="Arial"/>
              <a:sym typeface="Arial"/>
            </a:endParaRPr>
          </a:p>
          <a:p>
            <a:pPr marL="35369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observations)</a:t>
            </a:r>
            <a:endParaRPr sz="1800" b="0" i="0" u="none" strike="noStrike" cap="none">
              <a:solidFill>
                <a:srgbClr val="000000"/>
              </a:solidFill>
              <a:latin typeface="Arial"/>
              <a:ea typeface="Arial"/>
              <a:cs typeface="Arial"/>
              <a:sym typeface="Arial"/>
            </a:endParaRPr>
          </a:p>
          <a:p>
            <a:pPr marL="353695" marR="0" lvl="0" indent="-341630" algn="l" rtl="0">
              <a:lnSpc>
                <a:spcPct val="100000"/>
              </a:lnSpc>
              <a:spcBef>
                <a:spcPts val="985"/>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Python provides a library that provides different techniques to deal with an</a:t>
            </a:r>
            <a:endParaRPr sz="1800" b="0" i="0" u="none" strike="noStrike" cap="none">
              <a:solidFill>
                <a:srgbClr val="000000"/>
              </a:solidFill>
              <a:latin typeface="Arial"/>
              <a:ea typeface="Arial"/>
              <a:cs typeface="Arial"/>
              <a:sym typeface="Arial"/>
            </a:endParaRPr>
          </a:p>
          <a:p>
            <a:pPr marL="35369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imbalanced dataset</a:t>
            </a:r>
            <a:endParaRPr sz="1800" b="0" i="0" u="none" strike="noStrike" cap="none">
              <a:solidFill>
                <a:srgbClr val="000000"/>
              </a:solidFill>
              <a:latin typeface="Arial"/>
              <a:ea typeface="Arial"/>
              <a:cs typeface="Arial"/>
              <a:sym typeface="Arial"/>
            </a:endParaRPr>
          </a:p>
        </p:txBody>
      </p:sp>
      <p:sp>
        <p:nvSpPr>
          <p:cNvPr id="1071" name="Google Shape;1071;p126"/>
          <p:cNvSpPr txBox="1">
            <a:spLocks noGrp="1"/>
          </p:cNvSpPr>
          <p:nvPr>
            <p:ph type="title"/>
          </p:nvPr>
        </p:nvSpPr>
        <p:spPr>
          <a:xfrm>
            <a:off x="542340" y="1147013"/>
            <a:ext cx="1292100" cy="4452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SzPts val="1400"/>
              <a:buNone/>
            </a:pPr>
            <a:r>
              <a:rPr lang="en-US" sz="2800"/>
              <a:t>SMOTE</a:t>
            </a:r>
            <a:endParaRPr sz="2800"/>
          </a:p>
        </p:txBody>
      </p:sp>
      <p:grpSp>
        <p:nvGrpSpPr>
          <p:cNvPr id="1072" name="Google Shape;1072;p126"/>
          <p:cNvGrpSpPr/>
          <p:nvPr/>
        </p:nvGrpSpPr>
        <p:grpSpPr>
          <a:xfrm>
            <a:off x="2528316" y="3963924"/>
            <a:ext cx="3606165" cy="927100"/>
            <a:chOff x="2528316" y="3963924"/>
            <a:chExt cx="3606165" cy="927100"/>
          </a:xfrm>
        </p:grpSpPr>
        <p:sp>
          <p:nvSpPr>
            <p:cNvPr id="1073" name="Google Shape;1073;p126"/>
            <p:cNvSpPr/>
            <p:nvPr/>
          </p:nvSpPr>
          <p:spPr>
            <a:xfrm>
              <a:off x="2532888" y="3968496"/>
              <a:ext cx="3596640" cy="91039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126"/>
            <p:cNvSpPr/>
            <p:nvPr/>
          </p:nvSpPr>
          <p:spPr>
            <a:xfrm>
              <a:off x="2528316" y="3963924"/>
              <a:ext cx="3606165" cy="927100"/>
            </a:xfrm>
            <a:custGeom>
              <a:avLst/>
              <a:gdLst/>
              <a:ahLst/>
              <a:cxnLst/>
              <a:rect l="l" t="t" r="r" b="b"/>
              <a:pathLst>
                <a:path w="3606165" h="927100" extrusionOk="0">
                  <a:moveTo>
                    <a:pt x="0" y="926592"/>
                  </a:moveTo>
                  <a:lnTo>
                    <a:pt x="3605783" y="926592"/>
                  </a:lnTo>
                  <a:lnTo>
                    <a:pt x="3605783" y="0"/>
                  </a:lnTo>
                  <a:lnTo>
                    <a:pt x="0" y="0"/>
                  </a:lnTo>
                  <a:lnTo>
                    <a:pt x="0" y="926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TotalTime>
  <Words>3000</Words>
  <Application>Microsoft Office PowerPoint</Application>
  <PresentationFormat>Custom</PresentationFormat>
  <Paragraphs>584</Paragraphs>
  <Slides>73</Slides>
  <Notes>73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Arial</vt:lpstr>
      <vt:lpstr>Google Sans</vt:lpstr>
      <vt:lpstr>Inter</vt:lpstr>
      <vt:lpstr>Times New Roman</vt:lpstr>
      <vt:lpstr>Verdana</vt:lpstr>
      <vt:lpstr>Simple Light</vt:lpstr>
      <vt:lpstr>Logistic Regression</vt:lpstr>
      <vt:lpstr>Agenda</vt:lpstr>
      <vt:lpstr>Agenda</vt:lpstr>
      <vt:lpstr>In this session, we shall cover classification</vt:lpstr>
      <vt:lpstr>Supervised learning</vt:lpstr>
      <vt:lpstr>Supervised learning problems</vt:lpstr>
      <vt:lpstr>Regression vs classification</vt:lpstr>
      <vt:lpstr>Classification</vt:lpstr>
      <vt:lpstr>Class label</vt:lpstr>
      <vt:lpstr>Classification</vt:lpstr>
      <vt:lpstr>Types of classification</vt:lpstr>
      <vt:lpstr>CRISP-DM</vt:lpstr>
      <vt:lpstr>CRISP-DM phases</vt:lpstr>
      <vt:lpstr>Odds vs probability</vt:lpstr>
      <vt:lpstr>Odds vs probability</vt:lpstr>
      <vt:lpstr>Log of odds</vt:lpstr>
      <vt:lpstr>PowerPoint Presentation</vt:lpstr>
      <vt:lpstr>Odds ratio</vt:lpstr>
      <vt:lpstr>PowerPoint Presentation</vt:lpstr>
      <vt:lpstr>Solution:</vt:lpstr>
      <vt:lpstr>Solution continued:</vt:lpstr>
      <vt:lpstr>Binomial Logistic Regression</vt:lpstr>
      <vt:lpstr>PowerPoint Presentation</vt:lpstr>
      <vt:lpstr>PowerPoint Presentation</vt:lpstr>
      <vt:lpstr>Logistic regression</vt:lpstr>
      <vt:lpstr>Logistic regression</vt:lpstr>
      <vt:lpstr>Logistic regression</vt:lpstr>
      <vt:lpstr>What is a sigmoid function?</vt:lpstr>
      <vt:lpstr>Logistic regression</vt:lpstr>
      <vt:lpstr>Main steps in logistic regression</vt:lpstr>
      <vt:lpstr>Logistic regression</vt:lpstr>
      <vt:lpstr>Probability as output of logistic regression</vt:lpstr>
      <vt:lpstr>Logistic regression</vt:lpstr>
      <vt:lpstr>Usage</vt:lpstr>
      <vt:lpstr>PowerPoint Presentation</vt:lpstr>
      <vt:lpstr>Assumptions of Logistic Regression</vt:lpstr>
      <vt:lpstr>Assumptions</vt:lpstr>
      <vt:lpstr>Significance of Coefficients</vt:lpstr>
      <vt:lpstr>Significance of coefficients</vt:lpstr>
      <vt:lpstr>Significance of coefficients - Wald test</vt:lpstr>
      <vt:lpstr>Significance of coefficients - Wald test</vt:lpstr>
      <vt:lpstr>Significance of coefficients - LRT</vt:lpstr>
      <vt:lpstr>Significance of coefficients - LRT</vt:lpstr>
      <vt:lpstr>Significance of model - LRT</vt:lpstr>
      <vt:lpstr>Significance of model - LRT</vt:lpstr>
      <vt:lpstr>Model Evaluation Metrics</vt:lpstr>
      <vt:lpstr>Model Performance Measures</vt:lpstr>
      <vt:lpstr>Performance metrics</vt:lpstr>
      <vt:lpstr>Performance metrics</vt:lpstr>
      <vt:lpstr>Performance metrics</vt:lpstr>
      <vt:lpstr>Confusion matrix</vt:lpstr>
      <vt:lpstr>PowerPoint Presentation</vt:lpstr>
      <vt:lpstr>Performance evaluation metrics</vt:lpstr>
      <vt:lpstr>Accuracy</vt:lpstr>
      <vt:lpstr>Accuracy is not always a reliable metric</vt:lpstr>
      <vt:lpstr>Precision</vt:lpstr>
      <vt:lpstr>Recall</vt:lpstr>
      <vt:lpstr>False positive rate</vt:lpstr>
      <vt:lpstr>Specificity</vt:lpstr>
      <vt:lpstr>F1 score</vt:lpstr>
      <vt:lpstr>Performance metrics</vt:lpstr>
      <vt:lpstr>Cross Entropy</vt:lpstr>
      <vt:lpstr>Calculation of cross entropy</vt:lpstr>
      <vt:lpstr>Performance metrics</vt:lpstr>
      <vt:lpstr>PowerPoint Presentation</vt:lpstr>
      <vt:lpstr>ROC curve for our example</vt:lpstr>
      <vt:lpstr>PowerPoint Presentation</vt:lpstr>
      <vt:lpstr>Effect of separation between classes on ROC</vt:lpstr>
      <vt:lpstr>Imbalanced Data</vt:lpstr>
      <vt:lpstr>Imbalanced data</vt:lpstr>
      <vt:lpstr>Example of imbalanced data</vt:lpstr>
      <vt:lpstr>Handling imbalanced data</vt:lpstr>
      <vt:lpstr>SMOTE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Regression</dc:title>
  <dc:creator>Vishnu Murali</dc:creator>
  <cp:lastModifiedBy>Jaya R</cp:lastModifiedBy>
  <cp:revision>6</cp:revision>
  <dcterms:created xsi:type="dcterms:W3CDTF">2021-12-27T02:13:22Z</dcterms:created>
  <dcterms:modified xsi:type="dcterms:W3CDTF">2025-12-10T02:30:03Z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2021-02-12T00:00:00Z</vt:filetime>
  </property>
  <property fmtid="{D5CDD505-2E9C-101B-9397-08002B2CF9AE}" pid="3" name="Creator">
    <vt:lpwstr>Microsoft® PowerPoint® 2016</vt:lpwstr>
  </property>
  <property fmtid="{D5CDD505-2E9C-101B-9397-08002B2CF9AE}" pid="4" name="LastSaved">
    <vt:filetime>2021-12-27T00:00:00Z</vt:filetime>
  </property>
</Properties>
</file>